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UTTEC 홍광선입니다. 본 영상은 한국기계 임직원을 위한 AI 도입 교육 7주 커리큘럼 제안입니다. 한국기계가 가장 우려하시는 회사 고유 기술 외부 노출 0%를 보장하는 보안 4중 방어 구조로 설계했습니다.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한국기계가 가장 우려하시는 점을 알고 있습니다. AI를 쓰다 보면 회사의 도면, 고객 정보, 공정 비법, 재료 배합 같은 고유 기술이 외부로 새 나가지 않을까 하는 점이지요. 본 교육은 이 우려에 대해 네 가지 방어층으로 답합니다. 입력 단계의 마스킹 SOP, 외부 호출이 전혀 없는 온디바이스 AI, 사내 저장소 격리, 그리고 API zero-retention 옵션입니다. 첫 강의 시간부터 마지막 강의 시간까지 이 네 가지 방어가 일관되게 작동합니다.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교육 목적은 사용자께서 명시하신 세 가지입니다. 첫째, 임직원 업무 효율성. 둘째, 회사 보유 기술의 확보와 단일 지식 베이스화. 셋째, AI 기반 향후 회사 비전 구축입니다. 이 세 가지 지향을 7주 3 Phase로 단계화했습니다. Phase 1 2주, AI 기초와 업무 효율화. Phase 2 2주, 국책과제 보고서 실무 적용. Phase 3 3주, 온디바이스 AI로 제품 개발 적용입니다. 한 주 2일 4시간, 총 14 강의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1은 AI를 도구로 인식하게 만드는 단계입니다. 첫날부터 마스킹 SOP를 가르칩니다. 회사 문서를 AI에 입력하기 전에 도면번호, 고객명, 공정 비법을 placeholder로 치환하는 표준 절차입니다. 실제 위험 시연으로 마스킹 안 된 문서가 외부로 어떻게 전송되는지 보여드리고, 마스킹된 문서로 같은 결과를 얻을 수 있다는 점도 비교 시연합니다. 2주차는 Obsidian으로 사내에 분산된 노하우를 단일 지식 베이스로 묶고, 반복 업무를 슬래시 명령으로 자동화하는 Skill을 익힙니다.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2는 한국기계가 자주 진행하는 국책과제 보고서를 AI로 자동화합니다. RFP 분석부터 사업계획서, 중간보고서, 결과보고서, 그리고 발표 자료까지 한 흐름으로 처리합니다. 정량 효과를 보여드립니다. RFP 분석은 1~2일이 30분으로, 사업계획서 초안은 1주가 1~2일로, 중간보고서는 3일이 4시간으로 단축됩니다. 국책과제 한 건당 약 2주의 시간이 절감됩니다. 이 과정 내내 회사 고유 기술은 마스킹과 검토 게이트로 보호됩니다.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3가 본 교육의 결정타입니다. 온디바이스 AI라는 기술로, 외부 LLM 호출이 전혀 없이 회사 노트북 안에서 모든 AI 처리를 완결합니다. 5주차에 Ollama 또는 LM Studio를 설치하고, Llama 또는 Mistral 같은 로컬 모델을 노트북에 다운로드합니다. 그리고 외부 망을 완전히 차단한 상태에서 작동하는지 직접 시연으로 확인합니다. 회사 비공개 도면, 고객 데이터, 공정 비법 모두 사내 노트북 밖으로 한 비트도 나가지 않습니다. 이것이 한국기계 우려에 대한 가장 강한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후반은 한국기계 제품에 AI를 직접 넣는 단계입니다. 임베디드 AI 또는 TinyML이라는 기술로, sensor가 달린 제품 안에서 직접 AI 추론이 돌아갑니다. UTTEC가 50회 라운드로 검증한 14개 보드 매트릭스와 12개 sensor 라이브러리를 그대로 활용합니다. 한국기계 제품에 어떤 응용이 가능한지 brainstorm으로 시작합니다. 예측 정비, 품질 검사, 이상 감지 같은 영역입니다. 6주차에 PoC 1건을 선정하고 7주차에 실제 데이터로 시연합니다.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보안 4중 방어를 다시 한번 정리해 드립니다. 첫째, 입력 단계 마스킹 SOP — Phase 1부터. 둘째, 온디바이스 AI로 외부 호출 0% — Phase 3 결정타. 셋째, 사내 저장소 격리 — 전 기간. 넷째, 부득이한 외부 API 사용 시 zero-retention enterprise 옵션. 네 가지 방어가 일관되게 작동합니다. 한국기계 1순위 우려에 대한 우리의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효과와 비용을 정리해드립니다. 정량 효과는 국책과제 1건당 약 2주 시간 절감, 일상 보고서 50% 단축입니다. 정성 효과는 회사 고유 기술 외부 노출 0%, 사내 노하우 단일 지식 베이스화, 그리고 신제품 PoC 한 건의 양산 차별화입니다. 비용은 강사료 1,400만 원, TinyML 보드 200~300만 원, 합계 약 1,600~1,700만 원입니다. 중기부 디지털 인재 양성 사업을 활용하시면 70~80% 환급이 가능합니다. 신청 후 6개월 lead가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단계는 세 가지입니다. 첫째, 본 영상과 커리큘럼을 한국기계 측에서 검토하십시오. 둘째, 사전 미팅에서 수강생 명단, 일정, 노트북 사양을 정합니다. 셋째, 교육 시작 2주 전 사전 환경 점검을 진행합니다. 한국기계의 AI 도입을 보안, 효율, 비전 세 가지 축으로 함께 만들어 가겠습니다.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4572000" cy="457200"/>
          </a:xfrm>
          <a:prstGeom prst="rect">
            <a:avLst/>
          </a:prstGeom>
          <a:noFill/>
        </p:spPr>
        <p:txBody>
          <a:bodyPr wrap="square" lIns="45720" rIns="45720" tIns="18288" bIns="18288" anchor="t">
            <a:spAutoFit/>
          </a:bodyPr>
          <a:lstStyle/>
          <a:p>
            <a:pPr algn="l"/>
            <a:r>
              <a:rPr sz="1800" b="1">
                <a:solidFill>
                  <a:srgbClr val="F17A21"/>
                </a:solidFill>
                <a:latin typeface="맑은 고딕"/>
              </a:rPr>
              <a:t>UTTEC × 한국기계</a:t>
            </a:r>
          </a:p>
        </p:txBody>
      </p:sp>
      <p:sp>
        <p:nvSpPr>
          <p:cNvPr id="5" name="TextBox 4"/>
          <p:cNvSpPr txBox="1"/>
          <p:nvPr/>
        </p:nvSpPr>
        <p:spPr>
          <a:xfrm>
            <a:off x="548640" y="868680"/>
            <a:ext cx="6400800" cy="365760"/>
          </a:xfrm>
          <a:prstGeom prst="rect">
            <a:avLst/>
          </a:prstGeom>
          <a:noFill/>
        </p:spPr>
        <p:txBody>
          <a:bodyPr wrap="square" lIns="45720" rIns="45720" tIns="18288" bIns="18288" anchor="t">
            <a:spAutoFit/>
          </a:bodyPr>
          <a:lstStyle/>
          <a:p>
            <a:pPr algn="l"/>
            <a:r>
              <a:rPr sz="1400" b="0">
                <a:solidFill>
                  <a:srgbClr val="FFFFFF"/>
                </a:solidFill>
                <a:latin typeface="맑은 고딕"/>
              </a:rPr>
              <a:t>AI 도입 제안 — 임직원 교육 7주 커리큘럼</a:t>
            </a:r>
          </a:p>
        </p:txBody>
      </p:sp>
      <p:sp>
        <p:nvSpPr>
          <p:cNvPr id="6" name="TextBox 5"/>
          <p:cNvSpPr txBox="1"/>
          <p:nvPr/>
        </p:nvSpPr>
        <p:spPr>
          <a:xfrm>
            <a:off x="548640" y="2286000"/>
            <a:ext cx="11887200" cy="1280160"/>
          </a:xfrm>
          <a:prstGeom prst="rect">
            <a:avLst/>
          </a:prstGeom>
          <a:noFill/>
        </p:spPr>
        <p:txBody>
          <a:bodyPr wrap="square" lIns="45720" rIns="45720" tIns="18288" bIns="18288" anchor="t">
            <a:spAutoFit/>
          </a:bodyPr>
          <a:lstStyle/>
          <a:p>
            <a:pPr algn="l"/>
            <a:r>
              <a:rPr sz="7200" b="1">
                <a:solidFill>
                  <a:srgbClr val="FFFFFF"/>
                </a:solidFill>
                <a:latin typeface="맑은 고딕"/>
              </a:rPr>
              <a:t>한국기계 귀하</a:t>
            </a:r>
          </a:p>
        </p:txBody>
      </p:sp>
      <p:sp>
        <p:nvSpPr>
          <p:cNvPr id="7" name="TextBox 6"/>
          <p:cNvSpPr txBox="1"/>
          <p:nvPr/>
        </p:nvSpPr>
        <p:spPr>
          <a:xfrm>
            <a:off x="548640" y="3566160"/>
            <a:ext cx="11887200" cy="731520"/>
          </a:xfrm>
          <a:prstGeom prst="rect">
            <a:avLst/>
          </a:prstGeom>
          <a:noFill/>
        </p:spPr>
        <p:txBody>
          <a:bodyPr wrap="square" lIns="45720" rIns="45720" tIns="18288" bIns="18288" anchor="t">
            <a:spAutoFit/>
          </a:bodyPr>
          <a:lstStyle/>
          <a:p>
            <a:pPr algn="l"/>
            <a:r>
              <a:rPr sz="3600" b="0">
                <a:solidFill>
                  <a:srgbClr val="F17A21"/>
                </a:solidFill>
                <a:latin typeface="맑은 고딕"/>
              </a:rPr>
              <a:t>AI 임직원 교육 7주 커리큘럼</a:t>
            </a:r>
          </a:p>
        </p:txBody>
      </p:sp>
      <p:sp>
        <p:nvSpPr>
          <p:cNvPr id="8" name="TextBox 7"/>
          <p:cNvSpPr txBox="1"/>
          <p:nvPr/>
        </p:nvSpPr>
        <p:spPr>
          <a:xfrm>
            <a:off x="548640" y="4572000"/>
            <a:ext cx="11887200" cy="457200"/>
          </a:xfrm>
          <a:prstGeom prst="rect">
            <a:avLst/>
          </a:prstGeom>
          <a:noFill/>
        </p:spPr>
        <p:txBody>
          <a:bodyPr wrap="square" lIns="45720" rIns="45720" tIns="18288" bIns="18288" anchor="t">
            <a:spAutoFit/>
          </a:bodyPr>
          <a:lstStyle/>
          <a:p>
            <a:pPr algn="l"/>
            <a:r>
              <a:rPr sz="2200" b="0">
                <a:solidFill>
                  <a:srgbClr val="FFFFFF"/>
                </a:solidFill>
                <a:latin typeface="맑은 고딕"/>
              </a:rPr>
              <a:t>보안 4중 방어  ·  업무효율화 → 국책과제 → 제품 개발</a:t>
            </a:r>
          </a:p>
        </p:txBody>
      </p:sp>
      <p:sp>
        <p:nvSpPr>
          <p:cNvPr id="9" name="Rectangle 8"/>
          <p:cNvSpPr/>
          <p:nvPr/>
        </p:nvSpPr>
        <p:spPr>
          <a:xfrm>
            <a:off x="548640" y="5669280"/>
            <a:ext cx="1097280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733288"/>
            <a:ext cx="10972800" cy="502920"/>
          </a:xfrm>
          <a:prstGeom prst="rect">
            <a:avLst/>
          </a:prstGeom>
          <a:noFill/>
        </p:spPr>
        <p:txBody>
          <a:bodyPr wrap="square" lIns="45720" rIns="45720" tIns="18288" bIns="18288" anchor="ctr">
            <a:spAutoFit/>
          </a:bodyPr>
          <a:lstStyle/>
          <a:p>
            <a:pPr algn="ctr"/>
            <a:r>
              <a:rPr sz="1800" b="1">
                <a:solidFill>
                  <a:srgbClr val="FFFFFF"/>
                </a:solidFill>
                <a:latin typeface="맑은 고딕"/>
              </a:rPr>
              <a:t>🔒  회사 고유 기술 · 외부 노출 0% 보장 — 한국기계 1순위 우려에 대한 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  02 / 10  ·  한국기계 1순위 우려</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TextBox 8"/>
          <p:cNvSpPr txBox="1"/>
          <p:nvPr/>
        </p:nvSpPr>
        <p:spPr>
          <a:xfrm>
            <a:off x="548640" y="914400"/>
            <a:ext cx="10972800" cy="548640"/>
          </a:xfrm>
          <a:prstGeom prst="rect">
            <a:avLst/>
          </a:prstGeom>
          <a:noFill/>
        </p:spPr>
        <p:txBody>
          <a:bodyPr wrap="square" lIns="45720" rIns="45720" tIns="18288" bIns="18288" anchor="t">
            <a:spAutoFit/>
          </a:bodyPr>
          <a:lstStyle/>
          <a:p>
            <a:pPr algn="l"/>
            <a:r>
              <a:rPr sz="3000" b="1">
                <a:solidFill>
                  <a:srgbClr val="102A4C"/>
                </a:solidFill>
                <a:latin typeface="맑은 고딕"/>
              </a:rPr>
              <a:t>⭐ 한국기계 1순위 우려에 대한 답</a:t>
            </a:r>
          </a:p>
        </p:txBody>
      </p:sp>
      <p:sp>
        <p:nvSpPr>
          <p:cNvPr id="10" name="Rectangle 9"/>
          <p:cNvSpPr/>
          <p:nvPr/>
        </p:nvSpPr>
        <p:spPr>
          <a:xfrm>
            <a:off x="548640" y="1737360"/>
            <a:ext cx="5212080" cy="4389120"/>
          </a:xfrm>
          <a:prstGeom prst="rect">
            <a:avLst/>
          </a:prstGeom>
          <a:solidFill>
            <a:srgbClr val="FBE2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37360"/>
            <a:ext cx="5212080" cy="5486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83080"/>
            <a:ext cx="5212080" cy="457200"/>
          </a:xfrm>
          <a:prstGeom prst="rect">
            <a:avLst/>
          </a:prstGeom>
          <a:noFill/>
        </p:spPr>
        <p:txBody>
          <a:bodyPr wrap="square" lIns="45720" rIns="45720" tIns="18288" bIns="18288" anchor="ctr">
            <a:spAutoFit/>
          </a:bodyPr>
          <a:lstStyle/>
          <a:p>
            <a:pPr algn="ctr"/>
            <a:r>
              <a:rPr sz="2000" b="1">
                <a:solidFill>
                  <a:srgbClr val="FFFFFF"/>
                </a:solidFill>
                <a:latin typeface="맑은 고딕"/>
              </a:rPr>
              <a:t>한국기계의 우려</a:t>
            </a:r>
          </a:p>
        </p:txBody>
      </p:sp>
      <p:sp>
        <p:nvSpPr>
          <p:cNvPr id="13" name="TextBox 12"/>
          <p:cNvSpPr txBox="1"/>
          <p:nvPr/>
        </p:nvSpPr>
        <p:spPr>
          <a:xfrm>
            <a:off x="731520" y="2468880"/>
            <a:ext cx="4846320" cy="1280160"/>
          </a:xfrm>
          <a:prstGeom prst="rect">
            <a:avLst/>
          </a:prstGeom>
          <a:noFill/>
        </p:spPr>
        <p:txBody>
          <a:bodyPr wrap="square" lIns="45720" rIns="45720" tIns="18288" bIns="18288" anchor="t">
            <a:spAutoFit/>
          </a:bodyPr>
          <a:lstStyle/>
          <a:p>
            <a:pPr algn="l"/>
            <a:r>
              <a:rPr sz="1800" b="1">
                <a:solidFill>
                  <a:srgbClr val="C0392B"/>
                </a:solidFill>
                <a:latin typeface="맑은 고딕"/>
              </a:rPr>
              <a:t>"AI 사용하다 보면 우리 회사 고유 기술이</a:t>
            </a:r>
          </a:p>
          <a:p>
            <a:pPr algn="l"/>
            <a:r>
              <a:rPr sz="1800" b="1">
                <a:solidFill>
                  <a:srgbClr val="C0392B"/>
                </a:solidFill>
                <a:latin typeface="맑은 고딕"/>
              </a:rPr>
              <a:t>외부로 노출되지 않을까?"</a:t>
            </a:r>
          </a:p>
        </p:txBody>
      </p:sp>
      <p:sp>
        <p:nvSpPr>
          <p:cNvPr id="14" name="TextBox 13"/>
          <p:cNvSpPr txBox="1"/>
          <p:nvPr/>
        </p:nvSpPr>
        <p:spPr>
          <a:xfrm>
            <a:off x="731520" y="3931920"/>
            <a:ext cx="4846320" cy="2103120"/>
          </a:xfrm>
          <a:prstGeom prst="rect">
            <a:avLst/>
          </a:prstGeom>
          <a:noFill/>
        </p:spPr>
        <p:txBody>
          <a:bodyPr wrap="square" lIns="45720" rIns="45720" tIns="18288" bIns="18288" anchor="t">
            <a:spAutoFit/>
          </a:bodyPr>
          <a:lstStyle/>
          <a:p>
            <a:pPr algn="l"/>
            <a:r>
              <a:rPr sz="1500" b="0">
                <a:solidFill>
                  <a:srgbClr val="333333"/>
                </a:solidFill>
                <a:latin typeface="맑은 고딕"/>
              </a:rPr>
              <a:t>•  도면번호  ·  공정 비법</a:t>
            </a:r>
          </a:p>
          <a:p>
            <a:pPr algn="l"/>
            <a:r>
              <a:rPr sz="1500" b="0">
                <a:solidFill>
                  <a:srgbClr val="333333"/>
                </a:solidFill>
                <a:latin typeface="맑은 고딕"/>
              </a:rPr>
              <a:t>•  고객 정보  ·  재료 배합</a:t>
            </a:r>
          </a:p>
          <a:p>
            <a:pPr algn="l"/>
            <a:r>
              <a:rPr sz="1500" b="0">
                <a:solidFill>
                  <a:srgbClr val="333333"/>
                </a:solidFill>
                <a:latin typeface="맑은 고딕"/>
              </a:rPr>
              <a:t>•  특허·노하우  ·  견적·원가</a:t>
            </a:r>
          </a:p>
          <a:p>
            <a:pPr algn="l"/>
            <a:r>
              <a:rPr sz="1500" b="0">
                <a:solidFill>
                  <a:srgbClr val="333333"/>
                </a:solidFill>
                <a:latin typeface="맑은 고딕"/>
              </a:rPr>
              <a:t>•  설계·검사 자료</a:t>
            </a:r>
          </a:p>
          <a:p>
            <a:pPr algn="l"/>
            <a:r>
              <a:rPr sz="1500" b="0">
                <a:solidFill>
                  <a:srgbClr val="333333"/>
                </a:solidFill>
                <a:latin typeface="맑은 고딕"/>
              </a:rPr>
              <a:t/>
            </a:r>
          </a:p>
          <a:p>
            <a:pPr algn="l"/>
            <a:r>
              <a:rPr sz="1500" b="0">
                <a:solidFill>
                  <a:srgbClr val="333333"/>
                </a:solidFill>
                <a:latin typeface="맑은 고딕"/>
              </a:rPr>
              <a:t>→ AI에 입력 시 외부 LLM 서버로 전송</a:t>
            </a:r>
          </a:p>
        </p:txBody>
      </p:sp>
      <p:sp>
        <p:nvSpPr>
          <p:cNvPr id="15" name="TextBox 14"/>
          <p:cNvSpPr txBox="1"/>
          <p:nvPr/>
        </p:nvSpPr>
        <p:spPr>
          <a:xfrm>
            <a:off x="5760720" y="3657600"/>
            <a:ext cx="640080" cy="640080"/>
          </a:xfrm>
          <a:prstGeom prst="rect">
            <a:avLst/>
          </a:prstGeom>
          <a:noFill/>
        </p:spPr>
        <p:txBody>
          <a:bodyPr wrap="square" lIns="45720" rIns="45720" tIns="18288" bIns="18288" anchor="ctr">
            <a:spAutoFit/>
          </a:bodyPr>
          <a:lstStyle/>
          <a:p>
            <a:pPr algn="ctr"/>
            <a:r>
              <a:rPr sz="4400" b="1">
                <a:solidFill>
                  <a:srgbClr val="F17A21"/>
                </a:solidFill>
                <a:latin typeface="맑은 고딕"/>
              </a:rPr>
              <a:t>→</a:t>
            </a:r>
          </a:p>
        </p:txBody>
      </p:sp>
      <p:sp>
        <p:nvSpPr>
          <p:cNvPr id="16" name="Rectangle 15"/>
          <p:cNvSpPr/>
          <p:nvPr/>
        </p:nvSpPr>
        <p:spPr>
          <a:xfrm>
            <a:off x="6446520" y="1737360"/>
            <a:ext cx="5212080" cy="438912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1737360"/>
            <a:ext cx="5212080" cy="54864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783080"/>
            <a:ext cx="5212080" cy="457200"/>
          </a:xfrm>
          <a:prstGeom prst="rect">
            <a:avLst/>
          </a:prstGeom>
          <a:noFill/>
        </p:spPr>
        <p:txBody>
          <a:bodyPr wrap="square" lIns="45720" rIns="45720" tIns="18288" bIns="18288" anchor="ctr">
            <a:spAutoFit/>
          </a:bodyPr>
          <a:lstStyle/>
          <a:p>
            <a:pPr algn="ctr"/>
            <a:r>
              <a:rPr sz="2000" b="1">
                <a:solidFill>
                  <a:srgbClr val="FFFFFF"/>
                </a:solidFill>
                <a:latin typeface="맑은 고딕"/>
              </a:rPr>
              <a:t>UTTEC의 답 — 보안 4중 방어</a:t>
            </a:r>
          </a:p>
        </p:txBody>
      </p:sp>
      <p:sp>
        <p:nvSpPr>
          <p:cNvPr id="19" name="TextBox 18"/>
          <p:cNvSpPr txBox="1"/>
          <p:nvPr/>
        </p:nvSpPr>
        <p:spPr>
          <a:xfrm>
            <a:off x="6629400" y="2514600"/>
            <a:ext cx="4937760" cy="3566160"/>
          </a:xfrm>
          <a:prstGeom prst="rect">
            <a:avLst/>
          </a:prstGeom>
          <a:noFill/>
        </p:spPr>
        <p:txBody>
          <a:bodyPr wrap="square" lIns="45720" rIns="45720" tIns="18288" bIns="18288" anchor="t">
            <a:spAutoFit/>
          </a:bodyPr>
          <a:lstStyle/>
          <a:p>
            <a:pPr algn="l"/>
            <a:r>
              <a:rPr sz="1500" b="1">
                <a:solidFill>
                  <a:srgbClr val="102A4C"/>
                </a:solidFill>
                <a:latin typeface="맑은 고딕"/>
              </a:rPr>
              <a:t>✅  마스킹 SOP (입력 단계)</a:t>
            </a:r>
          </a:p>
          <a:p>
            <a:pPr algn="l"/>
            <a:r>
              <a:rPr sz="1500" b="1">
                <a:solidFill>
                  <a:srgbClr val="102A4C"/>
                </a:solidFill>
                <a:latin typeface="맑은 고딕"/>
              </a:rPr>
              <a:t>     — Phase 1부터</a:t>
            </a:r>
          </a:p>
          <a:p>
            <a:pPr algn="l"/>
            <a:r>
              <a:rPr sz="1500" b="1">
                <a:solidFill>
                  <a:srgbClr val="102A4C"/>
                </a:solidFill>
                <a:latin typeface="맑은 고딕"/>
              </a:rPr>
              <a:t/>
            </a:r>
          </a:p>
          <a:p>
            <a:pPr algn="l"/>
            <a:r>
              <a:rPr sz="1500" b="1">
                <a:solidFill>
                  <a:srgbClr val="102A4C"/>
                </a:solidFill>
                <a:latin typeface="맑은 고딕"/>
              </a:rPr>
              <a:t>✅  On-Device AI (Ollama 로컬)</a:t>
            </a:r>
          </a:p>
          <a:p>
            <a:pPr algn="l"/>
            <a:r>
              <a:rPr sz="1500" b="1">
                <a:solidFill>
                  <a:srgbClr val="102A4C"/>
                </a:solidFill>
                <a:latin typeface="맑은 고딕"/>
              </a:rPr>
              <a:t>     — 외부 호출 0%  ⭐ Phase 3</a:t>
            </a:r>
          </a:p>
          <a:p>
            <a:pPr algn="l"/>
            <a:r>
              <a:rPr sz="1500" b="1">
                <a:solidFill>
                  <a:srgbClr val="102A4C"/>
                </a:solidFill>
                <a:latin typeface="맑은 고딕"/>
              </a:rPr>
              <a:t/>
            </a:r>
          </a:p>
          <a:p>
            <a:pPr algn="l"/>
            <a:r>
              <a:rPr sz="1500" b="1">
                <a:solidFill>
                  <a:srgbClr val="102A4C"/>
                </a:solidFill>
                <a:latin typeface="맑은 고딕"/>
              </a:rPr>
              <a:t>✅  사내 저장소 격리</a:t>
            </a:r>
          </a:p>
          <a:p>
            <a:pPr algn="l"/>
            <a:r>
              <a:rPr sz="1500" b="1">
                <a:solidFill>
                  <a:srgbClr val="102A4C"/>
                </a:solidFill>
                <a:latin typeface="맑은 고딕"/>
              </a:rPr>
              <a:t>     — 전 기간 일관</a:t>
            </a:r>
          </a:p>
          <a:p>
            <a:pPr algn="l"/>
            <a:r>
              <a:rPr sz="1500" b="1">
                <a:solidFill>
                  <a:srgbClr val="102A4C"/>
                </a:solidFill>
                <a:latin typeface="맑은 고딕"/>
              </a:rPr>
              <a:t/>
            </a:r>
          </a:p>
          <a:p>
            <a:pPr algn="l"/>
            <a:r>
              <a:rPr sz="1500" b="1">
                <a:solidFill>
                  <a:srgbClr val="102A4C"/>
                </a:solidFill>
                <a:latin typeface="맑은 고딕"/>
              </a:rPr>
              <a:t>✅  API zero-retention</a:t>
            </a:r>
          </a:p>
          <a:p>
            <a:pPr algn="l"/>
            <a:r>
              <a:rPr sz="1500" b="1">
                <a:solidFill>
                  <a:srgbClr val="102A4C"/>
                </a:solidFill>
                <a:latin typeface="맑은 고딕"/>
              </a:rPr>
              <a:t>     — enterprise 옵션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03 / 10  ·  전체 그림</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TextBox 8"/>
          <p:cNvSpPr txBox="1"/>
          <p:nvPr/>
        </p:nvSpPr>
        <p:spPr>
          <a:xfrm>
            <a:off x="548640" y="914400"/>
            <a:ext cx="10972800" cy="548640"/>
          </a:xfrm>
          <a:prstGeom prst="rect">
            <a:avLst/>
          </a:prstGeom>
          <a:noFill/>
        </p:spPr>
        <p:txBody>
          <a:bodyPr wrap="square" lIns="45720" rIns="45720" tIns="18288" bIns="18288" anchor="t">
            <a:spAutoFit/>
          </a:bodyPr>
          <a:lstStyle/>
          <a:p>
            <a:pPr algn="l"/>
            <a:r>
              <a:rPr sz="3000" b="1">
                <a:solidFill>
                  <a:srgbClr val="102A4C"/>
                </a:solidFill>
                <a:latin typeface="맑은 고딕"/>
              </a:rPr>
              <a:t>3대 지향 ↔ 7주 3 Phase</a:t>
            </a:r>
          </a:p>
        </p:txBody>
      </p:sp>
      <p:sp>
        <p:nvSpPr>
          <p:cNvPr id="10" name="Rectangle 9"/>
          <p:cNvSpPr/>
          <p:nvPr/>
        </p:nvSpPr>
        <p:spPr>
          <a:xfrm>
            <a:off x="548640" y="1737360"/>
            <a:ext cx="3520440" cy="137160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83080"/>
            <a:ext cx="3520440" cy="457200"/>
          </a:xfrm>
          <a:prstGeom prst="rect">
            <a:avLst/>
          </a:prstGeom>
          <a:noFill/>
        </p:spPr>
        <p:txBody>
          <a:bodyPr wrap="square" lIns="45720" rIns="45720" tIns="18288" bIns="18288" anchor="ctr">
            <a:spAutoFit/>
          </a:bodyPr>
          <a:lstStyle/>
          <a:p>
            <a:pPr algn="ctr"/>
            <a:r>
              <a:rPr sz="1800" b="1">
                <a:solidFill>
                  <a:srgbClr val="FFFFFF"/>
                </a:solidFill>
                <a:latin typeface="맑은 고딕"/>
              </a:rPr>
              <a:t>🎯  업무 효율성</a:t>
            </a:r>
          </a:p>
        </p:txBody>
      </p:sp>
      <p:sp>
        <p:nvSpPr>
          <p:cNvPr id="12" name="TextBox 11"/>
          <p:cNvSpPr txBox="1"/>
          <p:nvPr/>
        </p:nvSpPr>
        <p:spPr>
          <a:xfrm>
            <a:off x="548640" y="2331720"/>
            <a:ext cx="3520440" cy="822960"/>
          </a:xfrm>
          <a:prstGeom prst="rect">
            <a:avLst/>
          </a:prstGeom>
          <a:noFill/>
        </p:spPr>
        <p:txBody>
          <a:bodyPr wrap="square" lIns="45720" rIns="45720" tIns="18288" bIns="18288" anchor="ctr">
            <a:spAutoFit/>
          </a:bodyPr>
          <a:lstStyle/>
          <a:p>
            <a:pPr algn="ctr"/>
            <a:r>
              <a:rPr sz="1300" b="0">
                <a:solidFill>
                  <a:srgbClr val="FFFFFF"/>
                </a:solidFill>
                <a:latin typeface="맑은 고딕"/>
              </a:rPr>
              <a:t>반복 업무 자동화</a:t>
            </a:r>
          </a:p>
          <a:p>
            <a:pPr algn="ctr"/>
            <a:r>
              <a:rPr sz="1300" b="0">
                <a:solidFill>
                  <a:srgbClr val="FFFFFF"/>
                </a:solidFill>
                <a:latin typeface="맑은 고딕"/>
              </a:rPr>
              <a:t>문서·보고서 시간 절감</a:t>
            </a:r>
          </a:p>
        </p:txBody>
      </p:sp>
      <p:sp>
        <p:nvSpPr>
          <p:cNvPr id="13" name="Rectangle 12"/>
          <p:cNvSpPr/>
          <p:nvPr/>
        </p:nvSpPr>
        <p:spPr>
          <a:xfrm>
            <a:off x="4343400" y="1737360"/>
            <a:ext cx="3520440" cy="13716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43400" y="1783080"/>
            <a:ext cx="3520440" cy="457200"/>
          </a:xfrm>
          <a:prstGeom prst="rect">
            <a:avLst/>
          </a:prstGeom>
          <a:noFill/>
        </p:spPr>
        <p:txBody>
          <a:bodyPr wrap="square" lIns="45720" rIns="45720" tIns="18288" bIns="18288" anchor="ctr">
            <a:spAutoFit/>
          </a:bodyPr>
          <a:lstStyle/>
          <a:p>
            <a:pPr algn="ctr"/>
            <a:r>
              <a:rPr sz="1800" b="1">
                <a:solidFill>
                  <a:srgbClr val="FFFFFF"/>
                </a:solidFill>
                <a:latin typeface="맑은 고딕"/>
              </a:rPr>
              <a:t>📚  기술 확보·정리</a:t>
            </a:r>
          </a:p>
        </p:txBody>
      </p:sp>
      <p:sp>
        <p:nvSpPr>
          <p:cNvPr id="15" name="TextBox 14"/>
          <p:cNvSpPr txBox="1"/>
          <p:nvPr/>
        </p:nvSpPr>
        <p:spPr>
          <a:xfrm>
            <a:off x="4343400" y="2331720"/>
            <a:ext cx="3520440" cy="822960"/>
          </a:xfrm>
          <a:prstGeom prst="rect">
            <a:avLst/>
          </a:prstGeom>
          <a:noFill/>
        </p:spPr>
        <p:txBody>
          <a:bodyPr wrap="square" lIns="45720" rIns="45720" tIns="18288" bIns="18288" anchor="ctr">
            <a:spAutoFit/>
          </a:bodyPr>
          <a:lstStyle/>
          <a:p>
            <a:pPr algn="ctr"/>
            <a:r>
              <a:rPr sz="1300" b="0">
                <a:solidFill>
                  <a:srgbClr val="FFFFFF"/>
                </a:solidFill>
                <a:latin typeface="맑은 고딕"/>
              </a:rPr>
              <a:t>사내 분산 노하우</a:t>
            </a:r>
          </a:p>
          <a:p>
            <a:pPr algn="ctr"/>
            <a:r>
              <a:rPr sz="1300" b="0">
                <a:solidFill>
                  <a:srgbClr val="FFFFFF"/>
                </a:solidFill>
                <a:latin typeface="맑은 고딕"/>
              </a:rPr>
              <a:t>→ 단일 지식 베이스</a:t>
            </a:r>
          </a:p>
        </p:txBody>
      </p:sp>
      <p:sp>
        <p:nvSpPr>
          <p:cNvPr id="16" name="Rectangle 15"/>
          <p:cNvSpPr/>
          <p:nvPr/>
        </p:nvSpPr>
        <p:spPr>
          <a:xfrm>
            <a:off x="8138160" y="1737360"/>
            <a:ext cx="3520440" cy="13716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0" y="1783080"/>
            <a:ext cx="3520440" cy="457200"/>
          </a:xfrm>
          <a:prstGeom prst="rect">
            <a:avLst/>
          </a:prstGeom>
          <a:noFill/>
        </p:spPr>
        <p:txBody>
          <a:bodyPr wrap="square" lIns="45720" rIns="45720" tIns="18288" bIns="18288" anchor="ctr">
            <a:spAutoFit/>
          </a:bodyPr>
          <a:lstStyle/>
          <a:p>
            <a:pPr algn="ctr"/>
            <a:r>
              <a:rPr sz="1800" b="1">
                <a:solidFill>
                  <a:srgbClr val="FFFFFF"/>
                </a:solidFill>
                <a:latin typeface="맑은 고딕"/>
              </a:rPr>
              <a:t>🚀  비전 구축</a:t>
            </a:r>
          </a:p>
        </p:txBody>
      </p:sp>
      <p:sp>
        <p:nvSpPr>
          <p:cNvPr id="18" name="TextBox 17"/>
          <p:cNvSpPr txBox="1"/>
          <p:nvPr/>
        </p:nvSpPr>
        <p:spPr>
          <a:xfrm>
            <a:off x="8138160" y="2331720"/>
            <a:ext cx="3520440" cy="822960"/>
          </a:xfrm>
          <a:prstGeom prst="rect">
            <a:avLst/>
          </a:prstGeom>
          <a:noFill/>
        </p:spPr>
        <p:txBody>
          <a:bodyPr wrap="square" lIns="45720" rIns="45720" tIns="18288" bIns="18288" anchor="ctr">
            <a:spAutoFit/>
          </a:bodyPr>
          <a:lstStyle/>
          <a:p>
            <a:pPr algn="ctr"/>
            <a:r>
              <a:rPr sz="1300" b="0">
                <a:solidFill>
                  <a:srgbClr val="FFFFFF"/>
                </a:solidFill>
                <a:latin typeface="맑은 고딕"/>
              </a:rPr>
              <a:t>AI 기반 신제품·서비스</a:t>
            </a:r>
          </a:p>
          <a:p>
            <a:pPr algn="ctr"/>
            <a:r>
              <a:rPr sz="1300" b="0">
                <a:solidFill>
                  <a:srgbClr val="FFFFFF"/>
                </a:solidFill>
                <a:latin typeface="맑은 고딕"/>
              </a:rPr>
              <a:t>12개월 로드맵</a:t>
            </a:r>
          </a:p>
        </p:txBody>
      </p:sp>
      <p:sp>
        <p:nvSpPr>
          <p:cNvPr id="19" name="TextBox 18"/>
          <p:cNvSpPr txBox="1"/>
          <p:nvPr/>
        </p:nvSpPr>
        <p:spPr>
          <a:xfrm>
            <a:off x="548640" y="3383280"/>
            <a:ext cx="10972800" cy="457200"/>
          </a:xfrm>
          <a:prstGeom prst="rect">
            <a:avLst/>
          </a:prstGeom>
          <a:noFill/>
        </p:spPr>
        <p:txBody>
          <a:bodyPr wrap="square" lIns="45720" rIns="45720" tIns="18288" bIns="18288" anchor="t">
            <a:spAutoFit/>
          </a:bodyPr>
          <a:lstStyle/>
          <a:p>
            <a:pPr algn="l"/>
            <a:r>
              <a:rPr sz="2000" b="1">
                <a:solidFill>
                  <a:srgbClr val="102A4C"/>
                </a:solidFill>
                <a:latin typeface="맑은 고딕"/>
              </a:rPr>
              <a:t>7주 3 Phase 단계 진행</a:t>
            </a:r>
          </a:p>
        </p:txBody>
      </p:sp>
      <p:sp>
        <p:nvSpPr>
          <p:cNvPr id="20" name="Rectangle 19"/>
          <p:cNvSpPr/>
          <p:nvPr/>
        </p:nvSpPr>
        <p:spPr>
          <a:xfrm>
            <a:off x="548640" y="3931920"/>
            <a:ext cx="3520440" cy="64008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950208"/>
            <a:ext cx="3520440" cy="594360"/>
          </a:xfrm>
          <a:prstGeom prst="rect">
            <a:avLst/>
          </a:prstGeom>
          <a:noFill/>
        </p:spPr>
        <p:txBody>
          <a:bodyPr wrap="square" lIns="45720" rIns="45720" tIns="18288" bIns="18288" anchor="ctr">
            <a:spAutoFit/>
          </a:bodyPr>
          <a:lstStyle/>
          <a:p>
            <a:pPr algn="ctr"/>
            <a:r>
              <a:rPr sz="1700" b="1">
                <a:solidFill>
                  <a:srgbClr val="FFFFFF"/>
                </a:solidFill>
                <a:latin typeface="맑은 고딕"/>
              </a:rPr>
              <a:t>Phase 1  ·  2주</a:t>
            </a:r>
          </a:p>
        </p:txBody>
      </p:sp>
      <p:sp>
        <p:nvSpPr>
          <p:cNvPr id="22" name="Rectangle 21"/>
          <p:cNvSpPr/>
          <p:nvPr/>
        </p:nvSpPr>
        <p:spPr>
          <a:xfrm>
            <a:off x="548640" y="4572000"/>
            <a:ext cx="3520440" cy="50292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617720"/>
            <a:ext cx="3520440" cy="457200"/>
          </a:xfrm>
          <a:prstGeom prst="rect">
            <a:avLst/>
          </a:prstGeom>
          <a:noFill/>
        </p:spPr>
        <p:txBody>
          <a:bodyPr wrap="square" lIns="45720" rIns="45720" tIns="18288" bIns="18288" anchor="ctr">
            <a:spAutoFit/>
          </a:bodyPr>
          <a:lstStyle/>
          <a:p>
            <a:pPr algn="ctr"/>
            <a:r>
              <a:rPr sz="1400" b="1">
                <a:solidFill>
                  <a:srgbClr val="102A4C"/>
                </a:solidFill>
                <a:latin typeface="맑은 고딕"/>
              </a:rPr>
              <a:t>AI 기초 + 업무효율화</a:t>
            </a:r>
          </a:p>
        </p:txBody>
      </p:sp>
      <p:sp>
        <p:nvSpPr>
          <p:cNvPr id="24" name="Rectangle 23"/>
          <p:cNvSpPr/>
          <p:nvPr/>
        </p:nvSpPr>
        <p:spPr>
          <a:xfrm>
            <a:off x="548640" y="5074920"/>
            <a:ext cx="3520440" cy="1371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120640"/>
            <a:ext cx="3246120" cy="1280160"/>
          </a:xfrm>
          <a:prstGeom prst="rect">
            <a:avLst/>
          </a:prstGeom>
          <a:noFill/>
        </p:spPr>
        <p:txBody>
          <a:bodyPr wrap="square" lIns="45720" rIns="45720" tIns="18288" bIns="18288" anchor="t">
            <a:spAutoFit/>
          </a:bodyPr>
          <a:lstStyle/>
          <a:p>
            <a:pPr algn="l"/>
            <a:r>
              <a:rPr sz="1200" b="0">
                <a:solidFill>
                  <a:srgbClr val="333333"/>
                </a:solidFill>
                <a:latin typeface="맑은 고딕"/>
              </a:rPr>
              <a:t>Claude Code 설치</a:t>
            </a:r>
          </a:p>
          <a:p>
            <a:pPr algn="l"/>
            <a:r>
              <a:rPr sz="1200" b="0">
                <a:solidFill>
                  <a:srgbClr val="333333"/>
                </a:solidFill>
                <a:latin typeface="맑은 고딕"/>
              </a:rPr>
              <a:t>마스킹 SOP</a:t>
            </a:r>
          </a:p>
          <a:p>
            <a:pPr algn="l"/>
            <a:r>
              <a:rPr sz="1200" b="0">
                <a:solidFill>
                  <a:srgbClr val="333333"/>
                </a:solidFill>
                <a:latin typeface="맑은 고딕"/>
              </a:rPr>
              <a:t>Obsidian + Skill</a:t>
            </a:r>
          </a:p>
        </p:txBody>
      </p:sp>
      <p:sp>
        <p:nvSpPr>
          <p:cNvPr id="26" name="Rectangle 25"/>
          <p:cNvSpPr/>
          <p:nvPr/>
        </p:nvSpPr>
        <p:spPr>
          <a:xfrm>
            <a:off x="4343400" y="3931920"/>
            <a:ext cx="352044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950208"/>
            <a:ext cx="3520440" cy="594360"/>
          </a:xfrm>
          <a:prstGeom prst="rect">
            <a:avLst/>
          </a:prstGeom>
          <a:noFill/>
        </p:spPr>
        <p:txBody>
          <a:bodyPr wrap="square" lIns="45720" rIns="45720" tIns="18288" bIns="18288" anchor="ctr">
            <a:spAutoFit/>
          </a:bodyPr>
          <a:lstStyle/>
          <a:p>
            <a:pPr algn="ctr"/>
            <a:r>
              <a:rPr sz="1700" b="1">
                <a:solidFill>
                  <a:srgbClr val="FFFFFF"/>
                </a:solidFill>
                <a:latin typeface="맑은 고딕"/>
              </a:rPr>
              <a:t>Phase 2  ·  2주</a:t>
            </a:r>
          </a:p>
        </p:txBody>
      </p:sp>
      <p:sp>
        <p:nvSpPr>
          <p:cNvPr id="28" name="Rectangle 27"/>
          <p:cNvSpPr/>
          <p:nvPr/>
        </p:nvSpPr>
        <p:spPr>
          <a:xfrm>
            <a:off x="4343400" y="4572000"/>
            <a:ext cx="3520440" cy="50292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3400" y="4617720"/>
            <a:ext cx="3520440" cy="457200"/>
          </a:xfrm>
          <a:prstGeom prst="rect">
            <a:avLst/>
          </a:prstGeom>
          <a:noFill/>
        </p:spPr>
        <p:txBody>
          <a:bodyPr wrap="square" lIns="45720" rIns="45720" tIns="18288" bIns="18288" anchor="ctr">
            <a:spAutoFit/>
          </a:bodyPr>
          <a:lstStyle/>
          <a:p>
            <a:pPr algn="ctr"/>
            <a:r>
              <a:rPr sz="1400" b="1">
                <a:solidFill>
                  <a:srgbClr val="102A4C"/>
                </a:solidFill>
                <a:latin typeface="맑은 고딕"/>
              </a:rPr>
              <a:t>국책과제 보고서 자동화</a:t>
            </a:r>
          </a:p>
        </p:txBody>
      </p:sp>
      <p:sp>
        <p:nvSpPr>
          <p:cNvPr id="30" name="Rectangle 29"/>
          <p:cNvSpPr/>
          <p:nvPr/>
        </p:nvSpPr>
        <p:spPr>
          <a:xfrm>
            <a:off x="4343400" y="5074920"/>
            <a:ext cx="3520440" cy="1371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5120640"/>
            <a:ext cx="3246120" cy="1280160"/>
          </a:xfrm>
          <a:prstGeom prst="rect">
            <a:avLst/>
          </a:prstGeom>
          <a:noFill/>
        </p:spPr>
        <p:txBody>
          <a:bodyPr wrap="square" lIns="45720" rIns="45720" tIns="18288" bIns="18288" anchor="t">
            <a:spAutoFit/>
          </a:bodyPr>
          <a:lstStyle/>
          <a:p>
            <a:pPr algn="l"/>
            <a:r>
              <a:rPr sz="1200" b="0">
                <a:solidFill>
                  <a:srgbClr val="333333"/>
                </a:solidFill>
                <a:latin typeface="맑은 고딕"/>
              </a:rPr>
              <a:t>RFP 분석</a:t>
            </a:r>
          </a:p>
          <a:p>
            <a:pPr algn="l"/>
            <a:r>
              <a:rPr sz="1200" b="0">
                <a:solidFill>
                  <a:srgbClr val="333333"/>
                </a:solidFill>
                <a:latin typeface="맑은 고딕"/>
              </a:rPr>
              <a:t>사업계획서·중간·결과보고서</a:t>
            </a:r>
          </a:p>
          <a:p>
            <a:pPr algn="l"/>
            <a:r>
              <a:rPr sz="1200" b="0">
                <a:solidFill>
                  <a:srgbClr val="333333"/>
                </a:solidFill>
                <a:latin typeface="맑은 고딕"/>
              </a:rPr>
              <a:t>발표자료 일관 워크플로우</a:t>
            </a:r>
          </a:p>
        </p:txBody>
      </p:sp>
      <p:sp>
        <p:nvSpPr>
          <p:cNvPr id="32" name="Rectangle 31"/>
          <p:cNvSpPr/>
          <p:nvPr/>
        </p:nvSpPr>
        <p:spPr>
          <a:xfrm>
            <a:off x="8138160" y="3931920"/>
            <a:ext cx="3520440" cy="64008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38160" y="3950208"/>
            <a:ext cx="3520440" cy="594360"/>
          </a:xfrm>
          <a:prstGeom prst="rect">
            <a:avLst/>
          </a:prstGeom>
          <a:noFill/>
        </p:spPr>
        <p:txBody>
          <a:bodyPr wrap="square" lIns="45720" rIns="45720" tIns="18288" bIns="18288" anchor="ctr">
            <a:spAutoFit/>
          </a:bodyPr>
          <a:lstStyle/>
          <a:p>
            <a:pPr algn="ctr"/>
            <a:r>
              <a:rPr sz="1700" b="1">
                <a:solidFill>
                  <a:srgbClr val="FFFFFF"/>
                </a:solidFill>
                <a:latin typeface="맑은 고딕"/>
              </a:rPr>
              <a:t>Phase 3  ·  3주</a:t>
            </a:r>
          </a:p>
        </p:txBody>
      </p:sp>
      <p:sp>
        <p:nvSpPr>
          <p:cNvPr id="34" name="Rectangle 33"/>
          <p:cNvSpPr/>
          <p:nvPr/>
        </p:nvSpPr>
        <p:spPr>
          <a:xfrm>
            <a:off x="8138160" y="4572000"/>
            <a:ext cx="3520440" cy="50292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38160" y="4617720"/>
            <a:ext cx="3520440" cy="457200"/>
          </a:xfrm>
          <a:prstGeom prst="rect">
            <a:avLst/>
          </a:prstGeom>
          <a:noFill/>
        </p:spPr>
        <p:txBody>
          <a:bodyPr wrap="square" lIns="45720" rIns="45720" tIns="18288" bIns="18288" anchor="ctr">
            <a:spAutoFit/>
          </a:bodyPr>
          <a:lstStyle/>
          <a:p>
            <a:pPr algn="ctr"/>
            <a:r>
              <a:rPr sz="1400" b="1">
                <a:solidFill>
                  <a:srgbClr val="102A4C"/>
                </a:solidFill>
                <a:latin typeface="맑은 고딕"/>
              </a:rPr>
              <a:t>제품 개발 적용</a:t>
            </a:r>
          </a:p>
        </p:txBody>
      </p:sp>
      <p:sp>
        <p:nvSpPr>
          <p:cNvPr id="36" name="Rectangle 35"/>
          <p:cNvSpPr/>
          <p:nvPr/>
        </p:nvSpPr>
        <p:spPr>
          <a:xfrm>
            <a:off x="8138160" y="5074920"/>
            <a:ext cx="3520440" cy="1371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5120640"/>
            <a:ext cx="3246120" cy="1280160"/>
          </a:xfrm>
          <a:prstGeom prst="rect">
            <a:avLst/>
          </a:prstGeom>
          <a:noFill/>
        </p:spPr>
        <p:txBody>
          <a:bodyPr wrap="square" lIns="45720" rIns="45720" tIns="18288" bIns="18288" anchor="t">
            <a:spAutoFit/>
          </a:bodyPr>
          <a:lstStyle/>
          <a:p>
            <a:pPr algn="l"/>
            <a:r>
              <a:rPr sz="1200" b="0">
                <a:solidFill>
                  <a:srgbClr val="333333"/>
                </a:solidFill>
                <a:latin typeface="맑은 고딕"/>
              </a:rPr>
              <a:t>On-Device AI (Ollama)</a:t>
            </a:r>
          </a:p>
          <a:p>
            <a:pPr algn="l"/>
            <a:r>
              <a:rPr sz="1200" b="0">
                <a:solidFill>
                  <a:srgbClr val="333333"/>
                </a:solidFill>
                <a:latin typeface="맑은 고딕"/>
              </a:rPr>
              <a:t>임베디드 AI (TinyML)</a:t>
            </a:r>
          </a:p>
          <a:p>
            <a:pPr algn="l"/>
            <a:r>
              <a:rPr sz="1200" b="0">
                <a:solidFill>
                  <a:srgbClr val="333333"/>
                </a:solidFill>
                <a:latin typeface="맑은 고딕"/>
              </a:rPr>
              <a:t>신제품 PoC + 비전</a:t>
            </a:r>
          </a:p>
        </p:txBody>
      </p:sp>
      <p:sp>
        <p:nvSpPr>
          <p:cNvPr id="38" name="TextBox 37"/>
          <p:cNvSpPr txBox="1"/>
          <p:nvPr/>
        </p:nvSpPr>
        <p:spPr>
          <a:xfrm>
            <a:off x="548640" y="6492240"/>
            <a:ext cx="10972800" cy="228600"/>
          </a:xfrm>
          <a:prstGeom prst="rect">
            <a:avLst/>
          </a:prstGeom>
          <a:noFill/>
        </p:spPr>
        <p:txBody>
          <a:bodyPr wrap="square" lIns="45720" rIns="45720" tIns="18288" bIns="18288" anchor="t">
            <a:spAutoFit/>
          </a:bodyPr>
          <a:lstStyle/>
          <a:p>
            <a:pPr algn="ctr"/>
            <a:r>
              <a:rPr sz="1200" b="0">
                <a:solidFill>
                  <a:srgbClr val="888888"/>
                </a:solidFill>
                <a:latin typeface="맑은 고딕"/>
              </a:rPr>
              <a:t>총 7주 = 14 강의 일 (한 주 2일 4시간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04 / 10  ·  Phase 1 — 기초</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5029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502920"/>
          </a:xfrm>
          <a:prstGeom prst="rect">
            <a:avLst/>
          </a:prstGeom>
          <a:noFill/>
        </p:spPr>
        <p:txBody>
          <a:bodyPr wrap="square" lIns="45720" rIns="45720" tIns="18288" bIns="18288" anchor="ctr">
            <a:spAutoFit/>
          </a:bodyPr>
          <a:lstStyle/>
          <a:p>
            <a:pPr algn="ctr"/>
            <a:r>
              <a:rPr sz="2000" b="1">
                <a:solidFill>
                  <a:srgbClr val="FFFFFF"/>
                </a:solidFill>
                <a:latin typeface="맑은 고딕"/>
              </a:rPr>
              <a:t>Phase 1 — AI 기초 + 업무 효율화 (2주)  ⭐ 보안 첫날부터</a:t>
            </a:r>
          </a:p>
        </p:txBody>
      </p:sp>
      <p:sp>
        <p:nvSpPr>
          <p:cNvPr id="11" name="Rectangle 10"/>
          <p:cNvSpPr/>
          <p:nvPr/>
        </p:nvSpPr>
        <p:spPr>
          <a:xfrm>
            <a:off x="548640" y="1645920"/>
            <a:ext cx="5440680" cy="402336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645920"/>
            <a:ext cx="5440680" cy="5029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73352"/>
            <a:ext cx="5440680" cy="457200"/>
          </a:xfrm>
          <a:prstGeom prst="rect">
            <a:avLst/>
          </a:prstGeom>
          <a:noFill/>
        </p:spPr>
        <p:txBody>
          <a:bodyPr wrap="square" lIns="45720" rIns="45720" tIns="18288" bIns="18288" anchor="ctr">
            <a:spAutoFit/>
          </a:bodyPr>
          <a:lstStyle/>
          <a:p>
            <a:pPr algn="ctr"/>
            <a:r>
              <a:rPr sz="1600" b="1">
                <a:solidFill>
                  <a:srgbClr val="FFFFFF"/>
                </a:solidFill>
                <a:latin typeface="맑은 고딕"/>
              </a:rPr>
              <a:t>W1 — AI 첫 만남 + 마스킹 SOP</a:t>
            </a:r>
          </a:p>
        </p:txBody>
      </p:sp>
      <p:sp>
        <p:nvSpPr>
          <p:cNvPr id="14" name="TextBox 13"/>
          <p:cNvSpPr txBox="1"/>
          <p:nvPr/>
        </p:nvSpPr>
        <p:spPr>
          <a:xfrm>
            <a:off x="731520" y="2286000"/>
            <a:ext cx="5074920" cy="3291840"/>
          </a:xfrm>
          <a:prstGeom prst="rect">
            <a:avLst/>
          </a:prstGeom>
          <a:noFill/>
        </p:spPr>
        <p:txBody>
          <a:bodyPr wrap="square" lIns="45720" rIns="45720" tIns="18288" bIns="18288" anchor="t">
            <a:spAutoFit/>
          </a:bodyPr>
          <a:lstStyle/>
          <a:p>
            <a:pPr algn="l"/>
            <a:r>
              <a:rPr sz="1300" b="0">
                <a:solidFill>
                  <a:srgbClr val="333333"/>
                </a:solidFill>
                <a:latin typeface="맑은 고딕"/>
              </a:rPr>
              <a:t>Day 1 (4h)</a:t>
            </a:r>
          </a:p>
          <a:p>
            <a:pPr algn="l"/>
            <a:r>
              <a:rPr sz="1300" b="0">
                <a:solidFill>
                  <a:srgbClr val="333333"/>
                </a:solidFill>
                <a:latin typeface="맑은 고딕"/>
              </a:rPr>
              <a:t>  •  AI 시대 개요 + 한국 도입 사례</a:t>
            </a:r>
          </a:p>
          <a:p>
            <a:pPr algn="l"/>
            <a:r>
              <a:rPr sz="1300" b="0">
                <a:solidFill>
                  <a:srgbClr val="333333"/>
                </a:solidFill>
                <a:latin typeface="맑은 고딕"/>
              </a:rPr>
              <a:t>  •  ⭐ 마스킹 SOP — 도면·고객·공정</a:t>
            </a:r>
          </a:p>
          <a:p>
            <a:pPr algn="l"/>
            <a:r>
              <a:rPr sz="1300" b="0">
                <a:solidFill>
                  <a:srgbClr val="333333"/>
                </a:solidFill>
                <a:latin typeface="맑은 고딕"/>
              </a:rPr>
              <a:t>  •  마스킹 실습 ([CUST-A] [PROC-001])</a:t>
            </a:r>
          </a:p>
          <a:p>
            <a:pPr algn="l"/>
            <a:r>
              <a:rPr sz="1300" b="0">
                <a:solidFill>
                  <a:srgbClr val="333333"/>
                </a:solidFill>
                <a:latin typeface="맑은 고딕"/>
              </a:rPr>
              <a:t>  •  Claude Code 설치</a:t>
            </a:r>
          </a:p>
          <a:p>
            <a:pPr algn="l"/>
            <a:r>
              <a:rPr sz="1300" b="0">
                <a:solidFill>
                  <a:srgbClr val="333333"/>
                </a:solidFill>
                <a:latin typeface="맑은 고딕"/>
              </a:rPr>
              <a:t/>
            </a:r>
          </a:p>
          <a:p>
            <a:pPr algn="l"/>
            <a:r>
              <a:rPr sz="1300" b="0">
                <a:solidFill>
                  <a:srgbClr val="333333"/>
                </a:solidFill>
                <a:latin typeface="맑은 고딕"/>
              </a:rPr>
              <a:t>Day 2 (4h)</a:t>
            </a:r>
          </a:p>
          <a:p>
            <a:pPr algn="l"/>
            <a:r>
              <a:rPr sz="1300" b="0">
                <a:solidFill>
                  <a:srgbClr val="333333"/>
                </a:solidFill>
                <a:latin typeface="맑은 고딕"/>
              </a:rPr>
              <a:t>  •  Claude Code 첫 대화</a:t>
            </a:r>
          </a:p>
          <a:p>
            <a:pPr algn="l"/>
            <a:r>
              <a:rPr sz="1300" b="0">
                <a:solidFill>
                  <a:srgbClr val="333333"/>
                </a:solidFill>
                <a:latin typeface="맑은 고딕"/>
              </a:rPr>
              <a:t>  •  위험 시연 (마스킹 안 된 입력)</a:t>
            </a:r>
          </a:p>
          <a:p>
            <a:pPr algn="l"/>
            <a:r>
              <a:rPr sz="1300" b="0">
                <a:solidFill>
                  <a:srgbClr val="333333"/>
                </a:solidFill>
                <a:latin typeface="맑은 고딕"/>
              </a:rPr>
              <a:t>  •  안전 시연 (마스킹 입력 = 동일 결과)</a:t>
            </a:r>
          </a:p>
          <a:p>
            <a:pPr algn="l"/>
            <a:r>
              <a:rPr sz="1300" b="0">
                <a:solidFill>
                  <a:srgbClr val="333333"/>
                </a:solidFill>
                <a:latin typeface="맑은 고딕"/>
              </a:rPr>
              <a:t>  •  사내 마스킹 정책 초안 작성</a:t>
            </a:r>
          </a:p>
        </p:txBody>
      </p:sp>
      <p:sp>
        <p:nvSpPr>
          <p:cNvPr id="15" name="Rectangle 14"/>
          <p:cNvSpPr/>
          <p:nvPr/>
        </p:nvSpPr>
        <p:spPr>
          <a:xfrm>
            <a:off x="6199632" y="1645920"/>
            <a:ext cx="5440680" cy="402336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1645920"/>
            <a:ext cx="544068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9632" y="1673352"/>
            <a:ext cx="5440680" cy="457200"/>
          </a:xfrm>
          <a:prstGeom prst="rect">
            <a:avLst/>
          </a:prstGeom>
          <a:noFill/>
        </p:spPr>
        <p:txBody>
          <a:bodyPr wrap="square" lIns="45720" rIns="45720" tIns="18288" bIns="18288" anchor="ctr">
            <a:spAutoFit/>
          </a:bodyPr>
          <a:lstStyle/>
          <a:p>
            <a:pPr algn="ctr"/>
            <a:r>
              <a:rPr sz="1600" b="1">
                <a:solidFill>
                  <a:srgbClr val="FFFFFF"/>
                </a:solidFill>
                <a:latin typeface="맑은 고딕"/>
              </a:rPr>
              <a:t>W2 — Obsidian + Skill 자동화</a:t>
            </a:r>
          </a:p>
        </p:txBody>
      </p:sp>
      <p:sp>
        <p:nvSpPr>
          <p:cNvPr id="18" name="TextBox 17"/>
          <p:cNvSpPr txBox="1"/>
          <p:nvPr/>
        </p:nvSpPr>
        <p:spPr>
          <a:xfrm>
            <a:off x="6382512" y="2286000"/>
            <a:ext cx="5074920" cy="3291840"/>
          </a:xfrm>
          <a:prstGeom prst="rect">
            <a:avLst/>
          </a:prstGeom>
          <a:noFill/>
        </p:spPr>
        <p:txBody>
          <a:bodyPr wrap="square" lIns="45720" rIns="45720" tIns="18288" bIns="18288" anchor="t">
            <a:spAutoFit/>
          </a:bodyPr>
          <a:lstStyle/>
          <a:p>
            <a:pPr algn="l"/>
            <a:r>
              <a:rPr sz="1300" b="0">
                <a:solidFill>
                  <a:srgbClr val="333333"/>
                </a:solidFill>
                <a:latin typeface="맑은 고딕"/>
              </a:rPr>
              <a:t>Day 1 (4h)</a:t>
            </a:r>
          </a:p>
          <a:p>
            <a:pPr algn="l"/>
            <a:r>
              <a:rPr sz="1300" b="0">
                <a:solidFill>
                  <a:srgbClr val="333333"/>
                </a:solidFill>
                <a:latin typeface="맑은 고딕"/>
              </a:rPr>
              <a:t>  •  Obsidian 설치 + 한국기계_지식베이스 Vault</a:t>
            </a:r>
          </a:p>
          <a:p>
            <a:pPr algn="l"/>
            <a:r>
              <a:rPr sz="1300" b="0">
                <a:solidFill>
                  <a:srgbClr val="333333"/>
                </a:solidFill>
                <a:latin typeface="맑은 고딕"/>
              </a:rPr>
              <a:t>  •  마크다운 + 양방향 링크 [[페이지명]]</a:t>
            </a:r>
          </a:p>
          <a:p>
            <a:pPr algn="l"/>
            <a:r>
              <a:rPr sz="1300" b="0">
                <a:solidFill>
                  <a:srgbClr val="333333"/>
                </a:solidFill>
                <a:latin typeface="맑은 고딕"/>
              </a:rPr>
              <a:t>  •  사내 카테고리 (장비·공정·고객·gotcha)</a:t>
            </a:r>
          </a:p>
          <a:p>
            <a:pPr algn="l"/>
            <a:r>
              <a:rPr sz="1300" b="0">
                <a:solidFill>
                  <a:srgbClr val="333333"/>
                </a:solidFill>
                <a:latin typeface="맑은 고딕"/>
              </a:rPr>
              <a:t>  •  Claude + Obsidian 연계</a:t>
            </a:r>
          </a:p>
          <a:p>
            <a:pPr algn="l"/>
            <a:r>
              <a:rPr sz="1300" b="0">
                <a:solidFill>
                  <a:srgbClr val="333333"/>
                </a:solidFill>
                <a:latin typeface="맑은 고딕"/>
              </a:rPr>
              <a:t/>
            </a:r>
          </a:p>
          <a:p>
            <a:pPr algn="l"/>
            <a:r>
              <a:rPr sz="1300" b="0">
                <a:solidFill>
                  <a:srgbClr val="333333"/>
                </a:solidFill>
                <a:latin typeface="맑은 고딕"/>
              </a:rPr>
              <a:t>Day 2 (4h)</a:t>
            </a:r>
          </a:p>
          <a:p>
            <a:pPr algn="l"/>
            <a:r>
              <a:rPr sz="1300" b="0">
                <a:solidFill>
                  <a:srgbClr val="333333"/>
                </a:solidFill>
                <a:latin typeface="맑은 고딕"/>
              </a:rPr>
              <a:t>  •  Skill 개념 (반복 업무 → 슬래시 명령)</a:t>
            </a:r>
          </a:p>
          <a:p>
            <a:pPr algn="l"/>
            <a:r>
              <a:rPr sz="1300" b="0">
                <a:solidFill>
                  <a:srgbClr val="333333"/>
                </a:solidFill>
                <a:latin typeface="맑은 고딕"/>
              </a:rPr>
              <a:t>  •  /work-start / /work-end 설치</a:t>
            </a:r>
          </a:p>
          <a:p>
            <a:pPr algn="l"/>
            <a:r>
              <a:rPr sz="1300" b="0">
                <a:solidFill>
                  <a:srgbClr val="333333"/>
                </a:solidFill>
                <a:latin typeface="맑은 고딕"/>
              </a:rPr>
              <a:t>  •  /일일보고서 (사내 결재 양식)</a:t>
            </a:r>
          </a:p>
          <a:p>
            <a:pPr algn="l"/>
            <a:r>
              <a:rPr sz="1300" b="0">
                <a:solidFill>
                  <a:srgbClr val="333333"/>
                </a:solidFill>
                <a:latin typeface="맑은 고딕"/>
              </a:rPr>
              <a:t>  •  MCP — 사내 Notion 연결</a:t>
            </a:r>
          </a:p>
        </p:txBody>
      </p:sp>
      <p:sp>
        <p:nvSpPr>
          <p:cNvPr id="19" name="Rectangle 18"/>
          <p:cNvSpPr/>
          <p:nvPr/>
        </p:nvSpPr>
        <p:spPr>
          <a:xfrm>
            <a:off x="548640" y="5806440"/>
            <a:ext cx="11109960" cy="64008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852160"/>
            <a:ext cx="11109960" cy="548640"/>
          </a:xfrm>
          <a:prstGeom prst="rect">
            <a:avLst/>
          </a:prstGeom>
          <a:noFill/>
        </p:spPr>
        <p:txBody>
          <a:bodyPr wrap="square" lIns="45720" rIns="45720" tIns="18288" bIns="18288" anchor="ctr">
            <a:spAutoFit/>
          </a:bodyPr>
          <a:lstStyle/>
          <a:p>
            <a:pPr algn="ctr"/>
            <a:r>
              <a:rPr sz="1500" b="1">
                <a:solidFill>
                  <a:srgbClr val="102A4C"/>
                </a:solidFill>
                <a:latin typeface="맑은 고딕"/>
              </a:rPr>
              <a:t>산출물:  📄 마스킹 정책 v1.0    📚 지식베이스 100 페이지    ⚙️ 사내 Skill 3종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05 / 10  ·  Phase 2 — 보고서</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502920"/>
          </a:xfrm>
          <a:prstGeom prst="rect">
            <a:avLst/>
          </a:prstGeom>
          <a:noFill/>
        </p:spPr>
        <p:txBody>
          <a:bodyPr wrap="square" lIns="45720" rIns="45720" tIns="18288" bIns="18288" anchor="ctr">
            <a:spAutoFit/>
          </a:bodyPr>
          <a:lstStyle/>
          <a:p>
            <a:pPr algn="ctr"/>
            <a:r>
              <a:rPr sz="2000" b="1">
                <a:solidFill>
                  <a:srgbClr val="FFFFFF"/>
                </a:solidFill>
                <a:latin typeface="맑은 고딕"/>
              </a:rPr>
              <a:t>Phase 2 — 국책과제 보고서 자동화 (2주)</a:t>
            </a:r>
          </a:p>
        </p:txBody>
      </p:sp>
      <p:sp>
        <p:nvSpPr>
          <p:cNvPr id="11" name="Rectangle 10"/>
          <p:cNvSpPr/>
          <p:nvPr/>
        </p:nvSpPr>
        <p:spPr>
          <a:xfrm>
            <a:off x="548640" y="1645920"/>
            <a:ext cx="5440680" cy="402336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28800"/>
            <a:ext cx="5074920" cy="457200"/>
          </a:xfrm>
          <a:prstGeom prst="rect">
            <a:avLst/>
          </a:prstGeom>
          <a:noFill/>
        </p:spPr>
        <p:txBody>
          <a:bodyPr wrap="square" lIns="45720" rIns="45720" tIns="18288" bIns="18288" anchor="t">
            <a:spAutoFit/>
          </a:bodyPr>
          <a:lstStyle/>
          <a:p>
            <a:pPr algn="l"/>
            <a:r>
              <a:rPr sz="1800" b="1">
                <a:solidFill>
                  <a:srgbClr val="102A4C"/>
                </a:solidFill>
                <a:latin typeface="맑은 고딕"/>
              </a:rPr>
              <a:t>4 step 흐름</a:t>
            </a:r>
          </a:p>
        </p:txBody>
      </p:sp>
      <p:sp>
        <p:nvSpPr>
          <p:cNvPr id="13" name="Rectangle 12"/>
          <p:cNvSpPr/>
          <p:nvPr/>
        </p:nvSpPr>
        <p:spPr>
          <a:xfrm>
            <a:off x="731520" y="2423160"/>
            <a:ext cx="36576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423160"/>
            <a:ext cx="365760" cy="640080"/>
          </a:xfrm>
          <a:prstGeom prst="rect">
            <a:avLst/>
          </a:prstGeom>
          <a:noFill/>
        </p:spPr>
        <p:txBody>
          <a:bodyPr wrap="square" lIns="45720" rIns="45720" tIns="18288" bIns="18288" anchor="ctr">
            <a:spAutoFit/>
          </a:bodyPr>
          <a:lstStyle/>
          <a:p>
            <a:pPr algn="ctr"/>
            <a:r>
              <a:rPr sz="1800" b="1">
                <a:solidFill>
                  <a:srgbClr val="FFFFFF"/>
                </a:solidFill>
                <a:latin typeface="맑은 고딕"/>
              </a:rPr>
              <a:t>1</a:t>
            </a:r>
          </a:p>
        </p:txBody>
      </p:sp>
      <p:sp>
        <p:nvSpPr>
          <p:cNvPr id="15" name="TextBox 14"/>
          <p:cNvSpPr txBox="1"/>
          <p:nvPr/>
        </p:nvSpPr>
        <p:spPr>
          <a:xfrm>
            <a:off x="1188720" y="2423160"/>
            <a:ext cx="4572000" cy="320040"/>
          </a:xfrm>
          <a:prstGeom prst="rect">
            <a:avLst/>
          </a:prstGeom>
          <a:noFill/>
        </p:spPr>
        <p:txBody>
          <a:bodyPr wrap="square" lIns="45720" rIns="45720" tIns="18288" bIns="18288" anchor="t">
            <a:spAutoFit/>
          </a:bodyPr>
          <a:lstStyle/>
          <a:p>
            <a:pPr algn="l"/>
            <a:r>
              <a:rPr sz="1500" b="1">
                <a:solidFill>
                  <a:srgbClr val="102A4C"/>
                </a:solidFill>
                <a:latin typeface="맑은 고딕"/>
              </a:rPr>
              <a:t>① RFP 흡수</a:t>
            </a:r>
          </a:p>
        </p:txBody>
      </p:sp>
      <p:sp>
        <p:nvSpPr>
          <p:cNvPr id="16" name="TextBox 15"/>
          <p:cNvSpPr txBox="1"/>
          <p:nvPr/>
        </p:nvSpPr>
        <p:spPr>
          <a:xfrm>
            <a:off x="1188720" y="2743200"/>
            <a:ext cx="4572000" cy="320040"/>
          </a:xfrm>
          <a:prstGeom prst="rect">
            <a:avLst/>
          </a:prstGeom>
          <a:noFill/>
        </p:spPr>
        <p:txBody>
          <a:bodyPr wrap="square" lIns="45720" rIns="45720" tIns="18288" bIns="18288" anchor="t">
            <a:spAutoFit/>
          </a:bodyPr>
          <a:lstStyle/>
          <a:p>
            <a:pPr algn="l"/>
            <a:r>
              <a:rPr sz="1100" b="0">
                <a:solidFill>
                  <a:srgbClr val="333333"/>
                </a:solidFill>
                <a:latin typeface="맑은 고딕"/>
              </a:rPr>
              <a:t>RFP 자동 분석 — 핵심 요구사항·평가·예산·기간</a:t>
            </a:r>
          </a:p>
        </p:txBody>
      </p:sp>
      <p:sp>
        <p:nvSpPr>
          <p:cNvPr id="17" name="Rectangle 16"/>
          <p:cNvSpPr/>
          <p:nvPr/>
        </p:nvSpPr>
        <p:spPr>
          <a:xfrm>
            <a:off x="731520" y="3200400"/>
            <a:ext cx="36576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200400"/>
            <a:ext cx="365760" cy="640080"/>
          </a:xfrm>
          <a:prstGeom prst="rect">
            <a:avLst/>
          </a:prstGeom>
          <a:noFill/>
        </p:spPr>
        <p:txBody>
          <a:bodyPr wrap="square" lIns="45720" rIns="45720" tIns="18288" bIns="18288" anchor="ctr">
            <a:spAutoFit/>
          </a:bodyPr>
          <a:lstStyle/>
          <a:p>
            <a:pPr algn="ctr"/>
            <a:r>
              <a:rPr sz="1800" b="1">
                <a:solidFill>
                  <a:srgbClr val="FFFFFF"/>
                </a:solidFill>
                <a:latin typeface="맑은 고딕"/>
              </a:rPr>
              <a:t>2</a:t>
            </a:r>
          </a:p>
        </p:txBody>
      </p:sp>
      <p:sp>
        <p:nvSpPr>
          <p:cNvPr id="19" name="TextBox 18"/>
          <p:cNvSpPr txBox="1"/>
          <p:nvPr/>
        </p:nvSpPr>
        <p:spPr>
          <a:xfrm>
            <a:off x="1188720" y="3200400"/>
            <a:ext cx="4572000" cy="320040"/>
          </a:xfrm>
          <a:prstGeom prst="rect">
            <a:avLst/>
          </a:prstGeom>
          <a:noFill/>
        </p:spPr>
        <p:txBody>
          <a:bodyPr wrap="square" lIns="45720" rIns="45720" tIns="18288" bIns="18288" anchor="t">
            <a:spAutoFit/>
          </a:bodyPr>
          <a:lstStyle/>
          <a:p>
            <a:pPr algn="l"/>
            <a:r>
              <a:rPr sz="1500" b="1">
                <a:solidFill>
                  <a:srgbClr val="102A4C"/>
                </a:solidFill>
                <a:latin typeface="맑은 고딕"/>
              </a:rPr>
              <a:t>② 매칭 분석</a:t>
            </a:r>
          </a:p>
        </p:txBody>
      </p:sp>
      <p:sp>
        <p:nvSpPr>
          <p:cNvPr id="20" name="TextBox 19"/>
          <p:cNvSpPr txBox="1"/>
          <p:nvPr/>
        </p:nvSpPr>
        <p:spPr>
          <a:xfrm>
            <a:off x="1188720" y="3520440"/>
            <a:ext cx="4572000" cy="320040"/>
          </a:xfrm>
          <a:prstGeom prst="rect">
            <a:avLst/>
          </a:prstGeom>
          <a:noFill/>
        </p:spPr>
        <p:txBody>
          <a:bodyPr wrap="square" lIns="45720" rIns="45720" tIns="18288" bIns="18288" anchor="t">
            <a:spAutoFit/>
          </a:bodyPr>
          <a:lstStyle/>
          <a:p>
            <a:pPr algn="l"/>
            <a:r>
              <a:rPr sz="1100" b="0">
                <a:solidFill>
                  <a:srgbClr val="333333"/>
                </a:solidFill>
                <a:latin typeface="맑은 고딕"/>
              </a:rPr>
              <a:t>자사 자산 ↔ RFP 요구사항 매트릭스 자동</a:t>
            </a:r>
          </a:p>
        </p:txBody>
      </p:sp>
      <p:sp>
        <p:nvSpPr>
          <p:cNvPr id="21" name="Rectangle 20"/>
          <p:cNvSpPr/>
          <p:nvPr/>
        </p:nvSpPr>
        <p:spPr>
          <a:xfrm>
            <a:off x="731520" y="3977639"/>
            <a:ext cx="36576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977639"/>
            <a:ext cx="365760" cy="640080"/>
          </a:xfrm>
          <a:prstGeom prst="rect">
            <a:avLst/>
          </a:prstGeom>
          <a:noFill/>
        </p:spPr>
        <p:txBody>
          <a:bodyPr wrap="square" lIns="45720" rIns="45720" tIns="18288" bIns="18288" anchor="ctr">
            <a:spAutoFit/>
          </a:bodyPr>
          <a:lstStyle/>
          <a:p>
            <a:pPr algn="ctr"/>
            <a:r>
              <a:rPr sz="1800" b="1">
                <a:solidFill>
                  <a:srgbClr val="FFFFFF"/>
                </a:solidFill>
                <a:latin typeface="맑은 고딕"/>
              </a:rPr>
              <a:t>3</a:t>
            </a:r>
          </a:p>
        </p:txBody>
      </p:sp>
      <p:sp>
        <p:nvSpPr>
          <p:cNvPr id="23" name="TextBox 22"/>
          <p:cNvSpPr txBox="1"/>
          <p:nvPr/>
        </p:nvSpPr>
        <p:spPr>
          <a:xfrm>
            <a:off x="1188720" y="3977639"/>
            <a:ext cx="4572000" cy="320040"/>
          </a:xfrm>
          <a:prstGeom prst="rect">
            <a:avLst/>
          </a:prstGeom>
          <a:noFill/>
        </p:spPr>
        <p:txBody>
          <a:bodyPr wrap="square" lIns="45720" rIns="45720" tIns="18288" bIns="18288" anchor="t">
            <a:spAutoFit/>
          </a:bodyPr>
          <a:lstStyle/>
          <a:p>
            <a:pPr algn="l"/>
            <a:r>
              <a:rPr sz="1500" b="1">
                <a:solidFill>
                  <a:srgbClr val="102A4C"/>
                </a:solidFill>
                <a:latin typeface="맑은 고딕"/>
              </a:rPr>
              <a:t>③ 사업계획서</a:t>
            </a:r>
          </a:p>
        </p:txBody>
      </p:sp>
      <p:sp>
        <p:nvSpPr>
          <p:cNvPr id="24" name="TextBox 23"/>
          <p:cNvSpPr txBox="1"/>
          <p:nvPr/>
        </p:nvSpPr>
        <p:spPr>
          <a:xfrm>
            <a:off x="1188720" y="4297679"/>
            <a:ext cx="4572000" cy="320040"/>
          </a:xfrm>
          <a:prstGeom prst="rect">
            <a:avLst/>
          </a:prstGeom>
          <a:noFill/>
        </p:spPr>
        <p:txBody>
          <a:bodyPr wrap="square" lIns="45720" rIns="45720" tIns="18288" bIns="18288" anchor="t">
            <a:spAutoFit/>
          </a:bodyPr>
          <a:lstStyle/>
          <a:p>
            <a:pPr algn="l"/>
            <a:r>
              <a:rPr sz="1100" b="0">
                <a:solidFill>
                  <a:srgbClr val="333333"/>
                </a:solidFill>
                <a:latin typeface="맑은 고딕"/>
              </a:rPr>
              <a:t>15장 standard /사업계획서_초안 Skill</a:t>
            </a:r>
          </a:p>
        </p:txBody>
      </p:sp>
      <p:sp>
        <p:nvSpPr>
          <p:cNvPr id="25" name="Rectangle 24"/>
          <p:cNvSpPr/>
          <p:nvPr/>
        </p:nvSpPr>
        <p:spPr>
          <a:xfrm>
            <a:off x="731520" y="4754879"/>
            <a:ext cx="36576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754879"/>
            <a:ext cx="365760" cy="640080"/>
          </a:xfrm>
          <a:prstGeom prst="rect">
            <a:avLst/>
          </a:prstGeom>
          <a:noFill/>
        </p:spPr>
        <p:txBody>
          <a:bodyPr wrap="square" lIns="45720" rIns="45720" tIns="18288" bIns="18288" anchor="ctr">
            <a:spAutoFit/>
          </a:bodyPr>
          <a:lstStyle/>
          <a:p>
            <a:pPr algn="ctr"/>
            <a:r>
              <a:rPr sz="1800" b="1">
                <a:solidFill>
                  <a:srgbClr val="FFFFFF"/>
                </a:solidFill>
                <a:latin typeface="맑은 고딕"/>
              </a:rPr>
              <a:t>4</a:t>
            </a:r>
          </a:p>
        </p:txBody>
      </p:sp>
      <p:sp>
        <p:nvSpPr>
          <p:cNvPr id="27" name="TextBox 26"/>
          <p:cNvSpPr txBox="1"/>
          <p:nvPr/>
        </p:nvSpPr>
        <p:spPr>
          <a:xfrm>
            <a:off x="1188720" y="4754879"/>
            <a:ext cx="4572000" cy="320040"/>
          </a:xfrm>
          <a:prstGeom prst="rect">
            <a:avLst/>
          </a:prstGeom>
          <a:noFill/>
        </p:spPr>
        <p:txBody>
          <a:bodyPr wrap="square" lIns="45720" rIns="45720" tIns="18288" bIns="18288" anchor="t">
            <a:spAutoFit/>
          </a:bodyPr>
          <a:lstStyle/>
          <a:p>
            <a:pPr algn="l"/>
            <a:r>
              <a:rPr sz="1500" b="1">
                <a:solidFill>
                  <a:srgbClr val="102A4C"/>
                </a:solidFill>
                <a:latin typeface="맑은 고딕"/>
              </a:rPr>
              <a:t>④ 중간/결과</a:t>
            </a:r>
          </a:p>
        </p:txBody>
      </p:sp>
      <p:sp>
        <p:nvSpPr>
          <p:cNvPr id="28" name="TextBox 27"/>
          <p:cNvSpPr txBox="1"/>
          <p:nvPr/>
        </p:nvSpPr>
        <p:spPr>
          <a:xfrm>
            <a:off x="1188720" y="5074919"/>
            <a:ext cx="4572000" cy="320040"/>
          </a:xfrm>
          <a:prstGeom prst="rect">
            <a:avLst/>
          </a:prstGeom>
          <a:noFill/>
        </p:spPr>
        <p:txBody>
          <a:bodyPr wrap="square" lIns="45720" rIns="45720" tIns="18288" bIns="18288" anchor="t">
            <a:spAutoFit/>
          </a:bodyPr>
          <a:lstStyle/>
          <a:p>
            <a:pPr algn="l"/>
            <a:r>
              <a:rPr sz="1100" b="0">
                <a:solidFill>
                  <a:srgbClr val="333333"/>
                </a:solidFill>
                <a:latin typeface="맑은 고딕"/>
              </a:rPr>
              <a:t>실험노트·미팅 메모 → 보고서 초안 + 마스킹</a:t>
            </a:r>
          </a:p>
        </p:txBody>
      </p:sp>
      <p:sp>
        <p:nvSpPr>
          <p:cNvPr id="29" name="Rectangle 28"/>
          <p:cNvSpPr/>
          <p:nvPr/>
        </p:nvSpPr>
        <p:spPr>
          <a:xfrm>
            <a:off x="6199632" y="1645920"/>
            <a:ext cx="5440680" cy="40233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82512" y="1828800"/>
            <a:ext cx="5074920" cy="457200"/>
          </a:xfrm>
          <a:prstGeom prst="rect">
            <a:avLst/>
          </a:prstGeom>
          <a:noFill/>
        </p:spPr>
        <p:txBody>
          <a:bodyPr wrap="square" lIns="45720" rIns="45720" tIns="18288" bIns="18288" anchor="t">
            <a:spAutoFit/>
          </a:bodyPr>
          <a:lstStyle/>
          <a:p>
            <a:pPr algn="l"/>
            <a:r>
              <a:rPr sz="1800" b="1">
                <a:solidFill>
                  <a:srgbClr val="102A4C"/>
                </a:solidFill>
                <a:latin typeface="맑은 고딕"/>
              </a:rPr>
              <a:t>정량 효과 매트릭스</a:t>
            </a:r>
          </a:p>
        </p:txBody>
      </p:sp>
      <p:sp>
        <p:nvSpPr>
          <p:cNvPr id="31" name="Rectangle 30"/>
          <p:cNvSpPr/>
          <p:nvPr/>
        </p:nvSpPr>
        <p:spPr>
          <a:xfrm>
            <a:off x="6382512" y="2423160"/>
            <a:ext cx="2377440" cy="411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759952" y="2423160"/>
            <a:ext cx="1280160" cy="411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040112" y="2423160"/>
            <a:ext cx="1417320" cy="4114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2423160"/>
            <a:ext cx="2377440" cy="411480"/>
          </a:xfrm>
          <a:prstGeom prst="rect">
            <a:avLst/>
          </a:prstGeom>
          <a:noFill/>
        </p:spPr>
        <p:txBody>
          <a:bodyPr wrap="square" lIns="45720" rIns="45720" tIns="18288" bIns="18288" anchor="ctr">
            <a:spAutoFit/>
          </a:bodyPr>
          <a:lstStyle/>
          <a:p>
            <a:pPr algn="ctr"/>
            <a:r>
              <a:rPr sz="1300" b="1">
                <a:solidFill>
                  <a:srgbClr val="FFFFFF"/>
                </a:solidFill>
                <a:latin typeface="맑은 고딕"/>
              </a:rPr>
              <a:t>항목</a:t>
            </a:r>
          </a:p>
        </p:txBody>
      </p:sp>
      <p:sp>
        <p:nvSpPr>
          <p:cNvPr id="35" name="TextBox 34"/>
          <p:cNvSpPr txBox="1"/>
          <p:nvPr/>
        </p:nvSpPr>
        <p:spPr>
          <a:xfrm>
            <a:off x="8759952" y="2423160"/>
            <a:ext cx="1280160" cy="411480"/>
          </a:xfrm>
          <a:prstGeom prst="rect">
            <a:avLst/>
          </a:prstGeom>
          <a:noFill/>
        </p:spPr>
        <p:txBody>
          <a:bodyPr wrap="square" lIns="45720" rIns="45720" tIns="18288" bIns="18288" anchor="ctr">
            <a:spAutoFit/>
          </a:bodyPr>
          <a:lstStyle/>
          <a:p>
            <a:pPr algn="ctr"/>
            <a:r>
              <a:rPr sz="1300" b="1">
                <a:solidFill>
                  <a:srgbClr val="FFFFFF"/>
                </a:solidFill>
                <a:latin typeface="맑은 고딕"/>
              </a:rPr>
              <a:t>기존</a:t>
            </a:r>
          </a:p>
        </p:txBody>
      </p:sp>
      <p:sp>
        <p:nvSpPr>
          <p:cNvPr id="36" name="TextBox 35"/>
          <p:cNvSpPr txBox="1"/>
          <p:nvPr/>
        </p:nvSpPr>
        <p:spPr>
          <a:xfrm>
            <a:off x="10040112" y="2423160"/>
            <a:ext cx="1417320" cy="411480"/>
          </a:xfrm>
          <a:prstGeom prst="rect">
            <a:avLst/>
          </a:prstGeom>
          <a:noFill/>
        </p:spPr>
        <p:txBody>
          <a:bodyPr wrap="square" lIns="45720" rIns="45720" tIns="18288" bIns="18288" anchor="ctr">
            <a:spAutoFit/>
          </a:bodyPr>
          <a:lstStyle/>
          <a:p>
            <a:pPr algn="ctr"/>
            <a:r>
              <a:rPr sz="1300" b="1">
                <a:solidFill>
                  <a:srgbClr val="FFFFFF"/>
                </a:solidFill>
                <a:latin typeface="맑은 고딕"/>
              </a:rPr>
              <a:t>AI 적용</a:t>
            </a:r>
          </a:p>
        </p:txBody>
      </p:sp>
      <p:sp>
        <p:nvSpPr>
          <p:cNvPr id="37" name="Rectangle 36"/>
          <p:cNvSpPr/>
          <p:nvPr/>
        </p:nvSpPr>
        <p:spPr>
          <a:xfrm>
            <a:off x="6382512" y="283464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759952" y="2834640"/>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40112" y="2834640"/>
            <a:ext cx="14173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0" y="2834640"/>
            <a:ext cx="2286000" cy="365760"/>
          </a:xfrm>
          <a:prstGeom prst="rect">
            <a:avLst/>
          </a:prstGeom>
          <a:noFill/>
        </p:spPr>
        <p:txBody>
          <a:bodyPr wrap="square" lIns="45720" rIns="45720" tIns="18288" bIns="18288" anchor="ctr">
            <a:spAutoFit/>
          </a:bodyPr>
          <a:lstStyle/>
          <a:p>
            <a:pPr algn="l"/>
            <a:r>
              <a:rPr sz="1200" b="0">
                <a:solidFill>
                  <a:srgbClr val="333333"/>
                </a:solidFill>
                <a:latin typeface="맑은 고딕"/>
              </a:rPr>
              <a:t>RFP 분석</a:t>
            </a:r>
          </a:p>
        </p:txBody>
      </p:sp>
      <p:sp>
        <p:nvSpPr>
          <p:cNvPr id="41" name="TextBox 40"/>
          <p:cNvSpPr txBox="1"/>
          <p:nvPr/>
        </p:nvSpPr>
        <p:spPr>
          <a:xfrm>
            <a:off x="8759952" y="2834640"/>
            <a:ext cx="1280160" cy="365760"/>
          </a:xfrm>
          <a:prstGeom prst="rect">
            <a:avLst/>
          </a:prstGeom>
          <a:noFill/>
        </p:spPr>
        <p:txBody>
          <a:bodyPr wrap="square" lIns="45720" rIns="45720" tIns="18288" bIns="18288" anchor="ctr">
            <a:spAutoFit/>
          </a:bodyPr>
          <a:lstStyle/>
          <a:p>
            <a:pPr algn="ctr"/>
            <a:r>
              <a:rPr sz="1200" b="0">
                <a:solidFill>
                  <a:srgbClr val="333333"/>
                </a:solidFill>
                <a:latin typeface="맑은 고딕"/>
              </a:rPr>
              <a:t>1~2일</a:t>
            </a:r>
          </a:p>
        </p:txBody>
      </p:sp>
      <p:sp>
        <p:nvSpPr>
          <p:cNvPr id="42" name="TextBox 41"/>
          <p:cNvSpPr txBox="1"/>
          <p:nvPr/>
        </p:nvSpPr>
        <p:spPr>
          <a:xfrm>
            <a:off x="10040112" y="2834640"/>
            <a:ext cx="1417320" cy="365760"/>
          </a:xfrm>
          <a:prstGeom prst="rect">
            <a:avLst/>
          </a:prstGeom>
          <a:noFill/>
        </p:spPr>
        <p:txBody>
          <a:bodyPr wrap="square" lIns="45720" rIns="45720" tIns="18288" bIns="18288" anchor="ctr">
            <a:spAutoFit/>
          </a:bodyPr>
          <a:lstStyle/>
          <a:p>
            <a:pPr algn="ctr"/>
            <a:r>
              <a:rPr sz="1200" b="1">
                <a:solidFill>
                  <a:srgbClr val="2E8B57"/>
                </a:solidFill>
                <a:latin typeface="맑은 고딕"/>
              </a:rPr>
              <a:t>30분</a:t>
            </a:r>
          </a:p>
        </p:txBody>
      </p:sp>
      <p:sp>
        <p:nvSpPr>
          <p:cNvPr id="43" name="Rectangle 42"/>
          <p:cNvSpPr/>
          <p:nvPr/>
        </p:nvSpPr>
        <p:spPr>
          <a:xfrm>
            <a:off x="6382512" y="3200400"/>
            <a:ext cx="237744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759952" y="3200400"/>
            <a:ext cx="128016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040112" y="3200400"/>
            <a:ext cx="141732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00400"/>
            <a:ext cx="2286000" cy="365760"/>
          </a:xfrm>
          <a:prstGeom prst="rect">
            <a:avLst/>
          </a:prstGeom>
          <a:noFill/>
        </p:spPr>
        <p:txBody>
          <a:bodyPr wrap="square" lIns="45720" rIns="45720" tIns="18288" bIns="18288" anchor="ctr">
            <a:spAutoFit/>
          </a:bodyPr>
          <a:lstStyle/>
          <a:p>
            <a:pPr algn="l"/>
            <a:r>
              <a:rPr sz="1200" b="0">
                <a:solidFill>
                  <a:srgbClr val="333333"/>
                </a:solidFill>
                <a:latin typeface="맑은 고딕"/>
              </a:rPr>
              <a:t>사업계획서</a:t>
            </a:r>
          </a:p>
        </p:txBody>
      </p:sp>
      <p:sp>
        <p:nvSpPr>
          <p:cNvPr id="47" name="TextBox 46"/>
          <p:cNvSpPr txBox="1"/>
          <p:nvPr/>
        </p:nvSpPr>
        <p:spPr>
          <a:xfrm>
            <a:off x="8759952" y="3200400"/>
            <a:ext cx="1280160" cy="365760"/>
          </a:xfrm>
          <a:prstGeom prst="rect">
            <a:avLst/>
          </a:prstGeom>
          <a:noFill/>
        </p:spPr>
        <p:txBody>
          <a:bodyPr wrap="square" lIns="45720" rIns="45720" tIns="18288" bIns="18288" anchor="ctr">
            <a:spAutoFit/>
          </a:bodyPr>
          <a:lstStyle/>
          <a:p>
            <a:pPr algn="ctr"/>
            <a:r>
              <a:rPr sz="1200" b="0">
                <a:solidFill>
                  <a:srgbClr val="333333"/>
                </a:solidFill>
                <a:latin typeface="맑은 고딕"/>
              </a:rPr>
              <a:t>1주</a:t>
            </a:r>
          </a:p>
        </p:txBody>
      </p:sp>
      <p:sp>
        <p:nvSpPr>
          <p:cNvPr id="48" name="TextBox 47"/>
          <p:cNvSpPr txBox="1"/>
          <p:nvPr/>
        </p:nvSpPr>
        <p:spPr>
          <a:xfrm>
            <a:off x="10040112" y="3200400"/>
            <a:ext cx="1417320" cy="365760"/>
          </a:xfrm>
          <a:prstGeom prst="rect">
            <a:avLst/>
          </a:prstGeom>
          <a:noFill/>
        </p:spPr>
        <p:txBody>
          <a:bodyPr wrap="square" lIns="45720" rIns="45720" tIns="18288" bIns="18288" anchor="ctr">
            <a:spAutoFit/>
          </a:bodyPr>
          <a:lstStyle/>
          <a:p>
            <a:pPr algn="ctr"/>
            <a:r>
              <a:rPr sz="1200" b="1">
                <a:solidFill>
                  <a:srgbClr val="2E8B57"/>
                </a:solidFill>
                <a:latin typeface="맑은 고딕"/>
              </a:rPr>
              <a:t>1~2일</a:t>
            </a:r>
          </a:p>
        </p:txBody>
      </p:sp>
      <p:sp>
        <p:nvSpPr>
          <p:cNvPr id="49" name="Rectangle 48"/>
          <p:cNvSpPr/>
          <p:nvPr/>
        </p:nvSpPr>
        <p:spPr>
          <a:xfrm>
            <a:off x="6382512" y="356616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759952" y="3566160"/>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0040112" y="3566160"/>
            <a:ext cx="14173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3566160"/>
            <a:ext cx="2286000" cy="365760"/>
          </a:xfrm>
          <a:prstGeom prst="rect">
            <a:avLst/>
          </a:prstGeom>
          <a:noFill/>
        </p:spPr>
        <p:txBody>
          <a:bodyPr wrap="square" lIns="45720" rIns="45720" tIns="18288" bIns="18288" anchor="ctr">
            <a:spAutoFit/>
          </a:bodyPr>
          <a:lstStyle/>
          <a:p>
            <a:pPr algn="l"/>
            <a:r>
              <a:rPr sz="1200" b="0">
                <a:solidFill>
                  <a:srgbClr val="333333"/>
                </a:solidFill>
                <a:latin typeface="맑은 고딕"/>
              </a:rPr>
              <a:t>중간보고서</a:t>
            </a:r>
          </a:p>
        </p:txBody>
      </p:sp>
      <p:sp>
        <p:nvSpPr>
          <p:cNvPr id="53" name="TextBox 52"/>
          <p:cNvSpPr txBox="1"/>
          <p:nvPr/>
        </p:nvSpPr>
        <p:spPr>
          <a:xfrm>
            <a:off x="8759952" y="3566160"/>
            <a:ext cx="1280160" cy="365760"/>
          </a:xfrm>
          <a:prstGeom prst="rect">
            <a:avLst/>
          </a:prstGeom>
          <a:noFill/>
        </p:spPr>
        <p:txBody>
          <a:bodyPr wrap="square" lIns="45720" rIns="45720" tIns="18288" bIns="18288" anchor="ctr">
            <a:spAutoFit/>
          </a:bodyPr>
          <a:lstStyle/>
          <a:p>
            <a:pPr algn="ctr"/>
            <a:r>
              <a:rPr sz="1200" b="0">
                <a:solidFill>
                  <a:srgbClr val="333333"/>
                </a:solidFill>
                <a:latin typeface="맑은 고딕"/>
              </a:rPr>
              <a:t>3일</a:t>
            </a:r>
          </a:p>
        </p:txBody>
      </p:sp>
      <p:sp>
        <p:nvSpPr>
          <p:cNvPr id="54" name="TextBox 53"/>
          <p:cNvSpPr txBox="1"/>
          <p:nvPr/>
        </p:nvSpPr>
        <p:spPr>
          <a:xfrm>
            <a:off x="10040112" y="3566160"/>
            <a:ext cx="1417320" cy="365760"/>
          </a:xfrm>
          <a:prstGeom prst="rect">
            <a:avLst/>
          </a:prstGeom>
          <a:noFill/>
        </p:spPr>
        <p:txBody>
          <a:bodyPr wrap="square" lIns="45720" rIns="45720" tIns="18288" bIns="18288" anchor="ctr">
            <a:spAutoFit/>
          </a:bodyPr>
          <a:lstStyle/>
          <a:p>
            <a:pPr algn="ctr"/>
            <a:r>
              <a:rPr sz="1200" b="1">
                <a:solidFill>
                  <a:srgbClr val="2E8B57"/>
                </a:solidFill>
                <a:latin typeface="맑은 고딕"/>
              </a:rPr>
              <a:t>4시간</a:t>
            </a:r>
          </a:p>
        </p:txBody>
      </p:sp>
      <p:sp>
        <p:nvSpPr>
          <p:cNvPr id="55" name="Rectangle 54"/>
          <p:cNvSpPr/>
          <p:nvPr/>
        </p:nvSpPr>
        <p:spPr>
          <a:xfrm>
            <a:off x="6382512" y="3931920"/>
            <a:ext cx="237744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759952" y="3931920"/>
            <a:ext cx="128016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0040112" y="3931920"/>
            <a:ext cx="1417320" cy="36576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92240" y="3931920"/>
            <a:ext cx="2286000" cy="365760"/>
          </a:xfrm>
          <a:prstGeom prst="rect">
            <a:avLst/>
          </a:prstGeom>
          <a:noFill/>
        </p:spPr>
        <p:txBody>
          <a:bodyPr wrap="square" lIns="45720" rIns="45720" tIns="18288" bIns="18288" anchor="ctr">
            <a:spAutoFit/>
          </a:bodyPr>
          <a:lstStyle/>
          <a:p>
            <a:pPr algn="l"/>
            <a:r>
              <a:rPr sz="1200" b="0">
                <a:solidFill>
                  <a:srgbClr val="333333"/>
                </a:solidFill>
                <a:latin typeface="맑은 고딕"/>
              </a:rPr>
              <a:t>결과보고서</a:t>
            </a:r>
          </a:p>
        </p:txBody>
      </p:sp>
      <p:sp>
        <p:nvSpPr>
          <p:cNvPr id="59" name="TextBox 58"/>
          <p:cNvSpPr txBox="1"/>
          <p:nvPr/>
        </p:nvSpPr>
        <p:spPr>
          <a:xfrm>
            <a:off x="8759952" y="3931920"/>
            <a:ext cx="1280160" cy="365760"/>
          </a:xfrm>
          <a:prstGeom prst="rect">
            <a:avLst/>
          </a:prstGeom>
          <a:noFill/>
        </p:spPr>
        <p:txBody>
          <a:bodyPr wrap="square" lIns="45720" rIns="45720" tIns="18288" bIns="18288" anchor="ctr">
            <a:spAutoFit/>
          </a:bodyPr>
          <a:lstStyle/>
          <a:p>
            <a:pPr algn="ctr"/>
            <a:r>
              <a:rPr sz="1200" b="0">
                <a:solidFill>
                  <a:srgbClr val="333333"/>
                </a:solidFill>
                <a:latin typeface="맑은 고딕"/>
              </a:rPr>
              <a:t>1주</a:t>
            </a:r>
          </a:p>
        </p:txBody>
      </p:sp>
      <p:sp>
        <p:nvSpPr>
          <p:cNvPr id="60" name="TextBox 59"/>
          <p:cNvSpPr txBox="1"/>
          <p:nvPr/>
        </p:nvSpPr>
        <p:spPr>
          <a:xfrm>
            <a:off x="10040112" y="3931920"/>
            <a:ext cx="1417320" cy="365760"/>
          </a:xfrm>
          <a:prstGeom prst="rect">
            <a:avLst/>
          </a:prstGeom>
          <a:noFill/>
        </p:spPr>
        <p:txBody>
          <a:bodyPr wrap="square" lIns="45720" rIns="45720" tIns="18288" bIns="18288" anchor="ctr">
            <a:spAutoFit/>
          </a:bodyPr>
          <a:lstStyle/>
          <a:p>
            <a:pPr algn="ctr"/>
            <a:r>
              <a:rPr sz="1200" b="1">
                <a:solidFill>
                  <a:srgbClr val="2E8B57"/>
                </a:solidFill>
                <a:latin typeface="맑은 고딕"/>
              </a:rPr>
              <a:t>2일</a:t>
            </a:r>
          </a:p>
        </p:txBody>
      </p:sp>
      <p:sp>
        <p:nvSpPr>
          <p:cNvPr id="61" name="Rectangle 60"/>
          <p:cNvSpPr/>
          <p:nvPr/>
        </p:nvSpPr>
        <p:spPr>
          <a:xfrm>
            <a:off x="6382512" y="4297680"/>
            <a:ext cx="237744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759952" y="4297680"/>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10040112" y="4297680"/>
            <a:ext cx="141732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492240" y="4297680"/>
            <a:ext cx="2286000" cy="365760"/>
          </a:xfrm>
          <a:prstGeom prst="rect">
            <a:avLst/>
          </a:prstGeom>
          <a:noFill/>
        </p:spPr>
        <p:txBody>
          <a:bodyPr wrap="square" lIns="45720" rIns="45720" tIns="18288" bIns="18288" anchor="ctr">
            <a:spAutoFit/>
          </a:bodyPr>
          <a:lstStyle/>
          <a:p>
            <a:pPr algn="l"/>
            <a:r>
              <a:rPr sz="1200" b="0">
                <a:solidFill>
                  <a:srgbClr val="333333"/>
                </a:solidFill>
                <a:latin typeface="맑은 고딕"/>
              </a:rPr>
              <a:t>발표자료</a:t>
            </a:r>
          </a:p>
        </p:txBody>
      </p:sp>
      <p:sp>
        <p:nvSpPr>
          <p:cNvPr id="65" name="TextBox 64"/>
          <p:cNvSpPr txBox="1"/>
          <p:nvPr/>
        </p:nvSpPr>
        <p:spPr>
          <a:xfrm>
            <a:off x="8759952" y="4297680"/>
            <a:ext cx="1280160" cy="365760"/>
          </a:xfrm>
          <a:prstGeom prst="rect">
            <a:avLst/>
          </a:prstGeom>
          <a:noFill/>
        </p:spPr>
        <p:txBody>
          <a:bodyPr wrap="square" lIns="45720" rIns="45720" tIns="18288" bIns="18288" anchor="ctr">
            <a:spAutoFit/>
          </a:bodyPr>
          <a:lstStyle/>
          <a:p>
            <a:pPr algn="ctr"/>
            <a:r>
              <a:rPr sz="1200" b="0">
                <a:solidFill>
                  <a:srgbClr val="333333"/>
                </a:solidFill>
                <a:latin typeface="맑은 고딕"/>
              </a:rPr>
              <a:t>3일</a:t>
            </a:r>
          </a:p>
        </p:txBody>
      </p:sp>
      <p:sp>
        <p:nvSpPr>
          <p:cNvPr id="66" name="TextBox 65"/>
          <p:cNvSpPr txBox="1"/>
          <p:nvPr/>
        </p:nvSpPr>
        <p:spPr>
          <a:xfrm>
            <a:off x="10040112" y="4297680"/>
            <a:ext cx="1417320" cy="365760"/>
          </a:xfrm>
          <a:prstGeom prst="rect">
            <a:avLst/>
          </a:prstGeom>
          <a:noFill/>
        </p:spPr>
        <p:txBody>
          <a:bodyPr wrap="square" lIns="45720" rIns="45720" tIns="18288" bIns="18288" anchor="ctr">
            <a:spAutoFit/>
          </a:bodyPr>
          <a:lstStyle/>
          <a:p>
            <a:pPr algn="ctr"/>
            <a:r>
              <a:rPr sz="1200" b="1">
                <a:solidFill>
                  <a:srgbClr val="2E8B57"/>
                </a:solidFill>
                <a:latin typeface="맑은 고딕"/>
              </a:rPr>
              <a:t>4시간</a:t>
            </a:r>
          </a:p>
        </p:txBody>
      </p:sp>
      <p:sp>
        <p:nvSpPr>
          <p:cNvPr id="67" name="Rectangle 66"/>
          <p:cNvSpPr/>
          <p:nvPr/>
        </p:nvSpPr>
        <p:spPr>
          <a:xfrm>
            <a:off x="548640" y="5806440"/>
            <a:ext cx="11109960" cy="64008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5852160"/>
            <a:ext cx="11109960" cy="548640"/>
          </a:xfrm>
          <a:prstGeom prst="rect">
            <a:avLst/>
          </a:prstGeom>
          <a:noFill/>
        </p:spPr>
        <p:txBody>
          <a:bodyPr wrap="square" lIns="45720" rIns="45720" tIns="18288" bIns="18288" anchor="ctr">
            <a:spAutoFit/>
          </a:bodyPr>
          <a:lstStyle/>
          <a:p>
            <a:pPr algn="ctr"/>
            <a:r>
              <a:rPr sz="1800" b="1">
                <a:solidFill>
                  <a:srgbClr val="FFFFFF"/>
                </a:solidFill>
                <a:latin typeface="맑은 고딕"/>
              </a:rPr>
              <a:t>⭐  국책과제 1건당 약 2주 시간 절감 → 연간 수주 가능 건수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  06 / 10  ·  Phase 3 — On-Device</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5029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502920"/>
          </a:xfrm>
          <a:prstGeom prst="rect">
            <a:avLst/>
          </a:prstGeom>
          <a:noFill/>
        </p:spPr>
        <p:txBody>
          <a:bodyPr wrap="square" lIns="45720" rIns="45720" tIns="18288" bIns="18288" anchor="ctr">
            <a:spAutoFit/>
          </a:bodyPr>
          <a:lstStyle/>
          <a:p>
            <a:pPr algn="ctr"/>
            <a:r>
              <a:rPr sz="2000" b="1">
                <a:solidFill>
                  <a:srgbClr val="FFFFFF"/>
                </a:solidFill>
                <a:latin typeface="맑은 고딕"/>
              </a:rPr>
              <a:t>⭐⭐⭐ Phase 3 — On-Device AI (외부 노출 0%)  ·  한국기계 결정타</a:t>
            </a:r>
          </a:p>
        </p:txBody>
      </p:sp>
      <p:sp>
        <p:nvSpPr>
          <p:cNvPr id="11" name="Rectangle 10"/>
          <p:cNvSpPr/>
          <p:nvPr/>
        </p:nvSpPr>
        <p:spPr>
          <a:xfrm>
            <a:off x="548640" y="1645920"/>
            <a:ext cx="5212080" cy="320040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737360"/>
            <a:ext cx="5212080" cy="457200"/>
          </a:xfrm>
          <a:prstGeom prst="rect">
            <a:avLst/>
          </a:prstGeom>
          <a:noFill/>
        </p:spPr>
        <p:txBody>
          <a:bodyPr wrap="square" lIns="45720" rIns="45720" tIns="18288" bIns="18288" anchor="ctr">
            <a:spAutoFit/>
          </a:bodyPr>
          <a:lstStyle/>
          <a:p>
            <a:pPr algn="ctr"/>
            <a:r>
              <a:rPr sz="1800" b="1">
                <a:solidFill>
                  <a:srgbClr val="888888"/>
                </a:solidFill>
                <a:latin typeface="맑은 고딕"/>
              </a:rPr>
              <a:t>Before  ·  외부 LLM 호출</a:t>
            </a:r>
          </a:p>
        </p:txBody>
      </p:sp>
      <p:sp>
        <p:nvSpPr>
          <p:cNvPr id="13" name="TextBox 12"/>
          <p:cNvSpPr txBox="1"/>
          <p:nvPr/>
        </p:nvSpPr>
        <p:spPr>
          <a:xfrm>
            <a:off x="731520" y="2468880"/>
            <a:ext cx="4846320" cy="2286000"/>
          </a:xfrm>
          <a:prstGeom prst="rect">
            <a:avLst/>
          </a:prstGeom>
          <a:noFill/>
        </p:spPr>
        <p:txBody>
          <a:bodyPr wrap="square" lIns="45720" rIns="45720" tIns="18288" bIns="18288" anchor="t">
            <a:spAutoFit/>
          </a:bodyPr>
          <a:lstStyle/>
          <a:p>
            <a:pPr algn="ctr"/>
            <a:r>
              <a:rPr sz="1500" b="0">
                <a:solidFill>
                  <a:srgbClr val="333333"/>
                </a:solidFill>
                <a:latin typeface="맑은 고딕"/>
              </a:rPr>
              <a:t>💻 회사 노트북</a:t>
            </a:r>
          </a:p>
          <a:p>
            <a:pPr algn="ctr"/>
            <a:r>
              <a:rPr sz="1500" b="0">
                <a:solidFill>
                  <a:srgbClr val="333333"/>
                </a:solidFill>
                <a:latin typeface="맑은 고딕"/>
              </a:rPr>
              <a:t>      ↓ (인터넷)</a:t>
            </a:r>
          </a:p>
          <a:p>
            <a:pPr algn="ctr"/>
            <a:r>
              <a:rPr sz="1500" b="0">
                <a:solidFill>
                  <a:srgbClr val="333333"/>
                </a:solidFill>
                <a:latin typeface="맑은 고딕"/>
              </a:rPr>
              <a:t>☁️ Claude / GPT 외부 서버</a:t>
            </a:r>
          </a:p>
          <a:p>
            <a:pPr algn="ctr"/>
            <a:r>
              <a:rPr sz="1500" b="0">
                <a:solidFill>
                  <a:srgbClr val="333333"/>
                </a:solidFill>
                <a:latin typeface="맑은 고딕"/>
              </a:rPr>
              <a:t>      ↓</a:t>
            </a:r>
          </a:p>
          <a:p>
            <a:pPr algn="ctr"/>
            <a:r>
              <a:rPr sz="1500" b="0">
                <a:solidFill>
                  <a:srgbClr val="333333"/>
                </a:solidFill>
                <a:latin typeface="맑은 고딕"/>
              </a:rPr>
              <a:t>📤 회사 데이터 전송</a:t>
            </a:r>
          </a:p>
          <a:p>
            <a:pPr algn="ctr"/>
            <a:r>
              <a:rPr sz="1500" b="0">
                <a:solidFill>
                  <a:srgbClr val="333333"/>
                </a:solidFill>
                <a:latin typeface="맑은 고딕"/>
              </a:rPr>
              <a:t/>
            </a:r>
          </a:p>
          <a:p>
            <a:pPr algn="ctr"/>
            <a:r>
              <a:rPr sz="1500" b="0">
                <a:solidFill>
                  <a:srgbClr val="333333"/>
                </a:solidFill>
                <a:latin typeface="맑은 고딕"/>
              </a:rPr>
              <a:t>→ 마스킹으로 차단 (Phase 1)</a:t>
            </a:r>
          </a:p>
        </p:txBody>
      </p:sp>
      <p:sp>
        <p:nvSpPr>
          <p:cNvPr id="14" name="TextBox 13"/>
          <p:cNvSpPr txBox="1"/>
          <p:nvPr/>
        </p:nvSpPr>
        <p:spPr>
          <a:xfrm>
            <a:off x="5760720" y="3017520"/>
            <a:ext cx="640080" cy="640080"/>
          </a:xfrm>
          <a:prstGeom prst="rect">
            <a:avLst/>
          </a:prstGeom>
          <a:noFill/>
        </p:spPr>
        <p:txBody>
          <a:bodyPr wrap="square" lIns="45720" rIns="45720" tIns="18288" bIns="18288" anchor="ctr">
            <a:spAutoFit/>
          </a:bodyPr>
          <a:lstStyle/>
          <a:p>
            <a:pPr algn="ctr"/>
            <a:r>
              <a:rPr sz="4400" b="1">
                <a:solidFill>
                  <a:srgbClr val="F17A21"/>
                </a:solidFill>
                <a:latin typeface="맑은 고딕"/>
              </a:rPr>
              <a:t>→</a:t>
            </a:r>
          </a:p>
        </p:txBody>
      </p:sp>
      <p:sp>
        <p:nvSpPr>
          <p:cNvPr id="15" name="Rectangle 14"/>
          <p:cNvSpPr/>
          <p:nvPr/>
        </p:nvSpPr>
        <p:spPr>
          <a:xfrm>
            <a:off x="6446520" y="1645920"/>
            <a:ext cx="5212080" cy="320040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46520" y="1645920"/>
            <a:ext cx="521208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673352"/>
            <a:ext cx="5212080" cy="457200"/>
          </a:xfrm>
          <a:prstGeom prst="rect">
            <a:avLst/>
          </a:prstGeom>
          <a:noFill/>
        </p:spPr>
        <p:txBody>
          <a:bodyPr wrap="square" lIns="45720" rIns="45720" tIns="18288" bIns="18288" anchor="ctr">
            <a:spAutoFit/>
          </a:bodyPr>
          <a:lstStyle/>
          <a:p>
            <a:pPr algn="ctr"/>
            <a:r>
              <a:rPr sz="1800" b="1">
                <a:solidFill>
                  <a:srgbClr val="FFFFFF"/>
                </a:solidFill>
                <a:latin typeface="맑은 고딕"/>
              </a:rPr>
              <a:t>After  ·  Ollama 로컬 SLM</a:t>
            </a:r>
          </a:p>
        </p:txBody>
      </p:sp>
      <p:sp>
        <p:nvSpPr>
          <p:cNvPr id="18" name="TextBox 17"/>
          <p:cNvSpPr txBox="1"/>
          <p:nvPr/>
        </p:nvSpPr>
        <p:spPr>
          <a:xfrm>
            <a:off x="6629400" y="2331720"/>
            <a:ext cx="4846320" cy="2468880"/>
          </a:xfrm>
          <a:prstGeom prst="rect">
            <a:avLst/>
          </a:prstGeom>
          <a:noFill/>
        </p:spPr>
        <p:txBody>
          <a:bodyPr wrap="square" lIns="45720" rIns="45720" tIns="18288" bIns="18288" anchor="t">
            <a:spAutoFit/>
          </a:bodyPr>
          <a:lstStyle/>
          <a:p>
            <a:pPr algn="ctr"/>
            <a:r>
              <a:rPr sz="1500" b="1">
                <a:solidFill>
                  <a:srgbClr val="102A4C"/>
                </a:solidFill>
                <a:latin typeface="맑은 고딕"/>
              </a:rPr>
              <a:t>💻 회사 노트북 (단독)</a:t>
            </a:r>
          </a:p>
          <a:p>
            <a:pPr algn="ctr"/>
            <a:r>
              <a:rPr sz="1500" b="1">
                <a:solidFill>
                  <a:srgbClr val="102A4C"/>
                </a:solidFill>
                <a:latin typeface="맑은 고딕"/>
              </a:rPr>
              <a:t>      ↓</a:t>
            </a:r>
          </a:p>
          <a:p>
            <a:pPr algn="ctr"/>
            <a:r>
              <a:rPr sz="1500" b="1">
                <a:solidFill>
                  <a:srgbClr val="102A4C"/>
                </a:solidFill>
                <a:latin typeface="맑은 고딕"/>
              </a:rPr>
              <a:t>🤖 Ollama / Mistral / Llama</a:t>
            </a:r>
          </a:p>
          <a:p>
            <a:pPr algn="ctr"/>
            <a:r>
              <a:rPr sz="1500" b="1">
                <a:solidFill>
                  <a:srgbClr val="102A4C"/>
                </a:solidFill>
                <a:latin typeface="맑은 고딕"/>
              </a:rPr>
              <a:t>      ↓</a:t>
            </a:r>
          </a:p>
          <a:p>
            <a:pPr algn="ctr"/>
            <a:r>
              <a:rPr sz="1500" b="1">
                <a:solidFill>
                  <a:srgbClr val="102A4C"/>
                </a:solidFill>
                <a:latin typeface="맑은 고딕"/>
              </a:rPr>
              <a:t>📁 노트북 안에서 완결</a:t>
            </a:r>
          </a:p>
          <a:p>
            <a:pPr algn="ctr"/>
            <a:r>
              <a:rPr sz="1500" b="1">
                <a:solidFill>
                  <a:srgbClr val="102A4C"/>
                </a:solidFill>
                <a:latin typeface="맑은 고딕"/>
              </a:rPr>
              <a:t/>
            </a:r>
          </a:p>
          <a:p>
            <a:pPr algn="ctr"/>
            <a:r>
              <a:rPr sz="1500" b="1">
                <a:solidFill>
                  <a:srgbClr val="102A4C"/>
                </a:solidFill>
                <a:latin typeface="맑은 고딕"/>
              </a:rPr>
              <a:t>✅ 외부 망 차단 환경에서도 작동</a:t>
            </a:r>
          </a:p>
        </p:txBody>
      </p:sp>
      <p:sp>
        <p:nvSpPr>
          <p:cNvPr id="19" name="Rectangle 18"/>
          <p:cNvSpPr/>
          <p:nvPr/>
        </p:nvSpPr>
        <p:spPr>
          <a:xfrm>
            <a:off x="548640" y="4983480"/>
            <a:ext cx="11109960" cy="8229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029200"/>
            <a:ext cx="11109960" cy="731520"/>
          </a:xfrm>
          <a:prstGeom prst="rect">
            <a:avLst/>
          </a:prstGeom>
          <a:noFill/>
        </p:spPr>
        <p:txBody>
          <a:bodyPr wrap="square" lIns="45720" rIns="45720" tIns="18288" bIns="18288" anchor="ctr">
            <a:spAutoFit/>
          </a:bodyPr>
          <a:lstStyle/>
          <a:p>
            <a:pPr algn="ctr"/>
            <a:r>
              <a:rPr sz="2200" b="1">
                <a:solidFill>
                  <a:srgbClr val="F17A21"/>
                </a:solidFill>
                <a:latin typeface="맑은 고딕"/>
              </a:rPr>
              <a:t>🔒  외부 망 차단 환경에서도 작동  ·  비공개 데이터 외부 전송 0%</a:t>
            </a:r>
          </a:p>
        </p:txBody>
      </p:sp>
      <p:sp>
        <p:nvSpPr>
          <p:cNvPr id="21" name="TextBox 20"/>
          <p:cNvSpPr txBox="1"/>
          <p:nvPr/>
        </p:nvSpPr>
        <p:spPr>
          <a:xfrm>
            <a:off x="548640" y="5943600"/>
            <a:ext cx="11109960" cy="457200"/>
          </a:xfrm>
          <a:prstGeom prst="rect">
            <a:avLst/>
          </a:prstGeom>
          <a:noFill/>
        </p:spPr>
        <p:txBody>
          <a:bodyPr wrap="square" lIns="45720" rIns="45720" tIns="18288" bIns="18288" anchor="t">
            <a:spAutoFit/>
          </a:bodyPr>
          <a:lstStyle/>
          <a:p>
            <a:pPr algn="ctr"/>
            <a:r>
              <a:rPr sz="1200" b="0">
                <a:solidFill>
                  <a:srgbClr val="333333"/>
                </a:solidFill>
                <a:latin typeface="맑은 고딕"/>
              </a:rPr>
              <a:t>W5: Ollama 설치 + Llama 3.1 8B / Mistral 7B  ·  노트북 사양 검증 (RAM 16GB)  ·  망 끊고 작동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07 / 10  ·  Phase 3 — 제품 통합</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5029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502920"/>
          </a:xfrm>
          <a:prstGeom prst="rect">
            <a:avLst/>
          </a:prstGeom>
          <a:noFill/>
        </p:spPr>
        <p:txBody>
          <a:bodyPr wrap="square" lIns="45720" rIns="45720" tIns="18288" bIns="18288" anchor="ctr">
            <a:spAutoFit/>
          </a:bodyPr>
          <a:lstStyle/>
          <a:p>
            <a:pPr algn="ctr"/>
            <a:r>
              <a:rPr sz="2000" b="1">
                <a:solidFill>
                  <a:srgbClr val="FFFFFF"/>
                </a:solidFill>
                <a:latin typeface="맑은 고딕"/>
              </a:rPr>
              <a:t>Phase 3 후반 — 임베디드 AI + 제품 통합 (W6~W7)</a:t>
            </a:r>
          </a:p>
        </p:txBody>
      </p:sp>
      <p:sp>
        <p:nvSpPr>
          <p:cNvPr id="11" name="Rectangle 10"/>
          <p:cNvSpPr/>
          <p:nvPr/>
        </p:nvSpPr>
        <p:spPr>
          <a:xfrm>
            <a:off x="548640" y="1645920"/>
            <a:ext cx="3566160" cy="402336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28800"/>
            <a:ext cx="3200400" cy="457200"/>
          </a:xfrm>
          <a:prstGeom prst="rect">
            <a:avLst/>
          </a:prstGeom>
          <a:noFill/>
        </p:spPr>
        <p:txBody>
          <a:bodyPr wrap="square" lIns="45720" rIns="45720" tIns="18288" bIns="18288" anchor="t">
            <a:spAutoFit/>
          </a:bodyPr>
          <a:lstStyle/>
          <a:p>
            <a:pPr algn="l"/>
            <a:r>
              <a:rPr sz="1600" b="1">
                <a:solidFill>
                  <a:srgbClr val="102A4C"/>
                </a:solidFill>
                <a:latin typeface="맑은 고딕"/>
              </a:rPr>
              <a:t>UTTEC 검증 자산</a:t>
            </a:r>
          </a:p>
        </p:txBody>
      </p:sp>
      <p:sp>
        <p:nvSpPr>
          <p:cNvPr id="13" name="TextBox 12"/>
          <p:cNvSpPr txBox="1"/>
          <p:nvPr/>
        </p:nvSpPr>
        <p:spPr>
          <a:xfrm>
            <a:off x="731520" y="2377440"/>
            <a:ext cx="3200400" cy="3108960"/>
          </a:xfrm>
          <a:prstGeom prst="rect">
            <a:avLst/>
          </a:prstGeom>
          <a:noFill/>
        </p:spPr>
        <p:txBody>
          <a:bodyPr wrap="square" lIns="45720" rIns="45720" tIns="18288" bIns="18288" anchor="t">
            <a:spAutoFit/>
          </a:bodyPr>
          <a:lstStyle/>
          <a:p>
            <a:pPr algn="l"/>
            <a:r>
              <a:rPr sz="1100" b="0">
                <a:solidFill>
                  <a:srgbClr val="333333"/>
                </a:solidFill>
                <a:latin typeface="맑은 고딕"/>
              </a:rPr>
              <a:t>📋  14 보드 매트릭스</a:t>
            </a:r>
          </a:p>
          <a:p>
            <a:pPr algn="l"/>
            <a:r>
              <a:rPr sz="1100" b="0">
                <a:solidFill>
                  <a:srgbClr val="333333"/>
                </a:solidFill>
                <a:latin typeface="맑은 고딕"/>
              </a:rPr>
              <a:t>     Cortex-M4F / M7 / LX7 / RISC-V</a:t>
            </a:r>
          </a:p>
          <a:p>
            <a:pPr algn="l"/>
            <a:r>
              <a:rPr sz="1100" b="0">
                <a:solidFill>
                  <a:srgbClr val="333333"/>
                </a:solidFill>
                <a:latin typeface="맑은 고딕"/>
              </a:rPr>
              <a:t/>
            </a:r>
          </a:p>
          <a:p>
            <a:pPr algn="l"/>
            <a:r>
              <a:rPr sz="1100" b="0">
                <a:solidFill>
                  <a:srgbClr val="333333"/>
                </a:solidFill>
                <a:latin typeface="맑은 고딕"/>
              </a:rPr>
              <a:t>🔬  Round 1~50 검증 carry</a:t>
            </a:r>
          </a:p>
          <a:p>
            <a:pPr algn="l"/>
            <a:r>
              <a:rPr sz="1100" b="0">
                <a:solidFill>
                  <a:srgbClr val="333333"/>
                </a:solidFill>
                <a:latin typeface="맑은 고딕"/>
              </a:rPr>
              <a:t>     R18 3.23× / R44 KWS 9.91ms</a:t>
            </a:r>
          </a:p>
          <a:p>
            <a:pPr algn="l"/>
            <a:r>
              <a:rPr sz="1100" b="0">
                <a:solidFill>
                  <a:srgbClr val="333333"/>
                </a:solidFill>
                <a:latin typeface="맑은 고딕"/>
              </a:rPr>
              <a:t>     R46 9.26ms / R50 8.13ms</a:t>
            </a:r>
          </a:p>
          <a:p>
            <a:pPr algn="l"/>
            <a:r>
              <a:rPr sz="1100" b="0">
                <a:solidFill>
                  <a:srgbClr val="333333"/>
                </a:solidFill>
                <a:latin typeface="맑은 고딕"/>
              </a:rPr>
              <a:t/>
            </a:r>
          </a:p>
          <a:p>
            <a:pPr algn="l"/>
            <a:r>
              <a:rPr sz="1100" b="0">
                <a:solidFill>
                  <a:srgbClr val="333333"/>
                </a:solidFill>
                <a:latin typeface="맑은 고딕"/>
              </a:rPr>
              <a:t>📦  sensor 라이브러리 12 모듈</a:t>
            </a:r>
          </a:p>
          <a:p>
            <a:pPr algn="l"/>
            <a:r>
              <a:rPr sz="1100" b="0">
                <a:solidFill>
                  <a:srgbClr val="333333"/>
                </a:solidFill>
                <a:latin typeface="맑은 고딕"/>
              </a:rPr>
              <a:t>     MPU / BME680 / FT5336</a:t>
            </a:r>
          </a:p>
          <a:p>
            <a:pPr algn="l"/>
            <a:r>
              <a:rPr sz="1100" b="0">
                <a:solidFill>
                  <a:srgbClr val="333333"/>
                </a:solidFill>
                <a:latin typeface="맑은 고딕"/>
              </a:rPr>
              <a:t>     INMP441 / INA219 / 외 7</a:t>
            </a:r>
          </a:p>
          <a:p>
            <a:pPr algn="l"/>
            <a:r>
              <a:rPr sz="1100" b="0">
                <a:solidFill>
                  <a:srgbClr val="333333"/>
                </a:solidFill>
                <a:latin typeface="맑은 고딕"/>
              </a:rPr>
              <a:t/>
            </a:r>
          </a:p>
          <a:p>
            <a:pPr algn="l"/>
            <a:r>
              <a:rPr sz="1100" b="0">
                <a:solidFill>
                  <a:srgbClr val="333333"/>
                </a:solidFill>
                <a:latin typeface="맑은 고딕"/>
              </a:rPr>
              <a:t>📊  AI 매트릭스 491 lines</a:t>
            </a:r>
          </a:p>
          <a:p>
            <a:pPr algn="l"/>
            <a:r>
              <a:rPr sz="1100" b="0">
                <a:solidFill>
                  <a:srgbClr val="333333"/>
                </a:solidFill>
                <a:latin typeface="맑은 고딕"/>
              </a:rPr>
              <a:t>     11 sensor × 2~3 AI model</a:t>
            </a:r>
          </a:p>
          <a:p>
            <a:pPr algn="l"/>
            <a:r>
              <a:rPr sz="1100" b="0">
                <a:solidFill>
                  <a:srgbClr val="333333"/>
                </a:solidFill>
                <a:latin typeface="맑은 고딕"/>
              </a:rPr>
              <a:t>     × 14 보드 최저선</a:t>
            </a:r>
          </a:p>
        </p:txBody>
      </p:sp>
      <p:sp>
        <p:nvSpPr>
          <p:cNvPr id="14" name="Rectangle 13"/>
          <p:cNvSpPr/>
          <p:nvPr/>
        </p:nvSpPr>
        <p:spPr>
          <a:xfrm>
            <a:off x="4251960" y="1645920"/>
            <a:ext cx="3200400" cy="40233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828800"/>
            <a:ext cx="2834640" cy="457200"/>
          </a:xfrm>
          <a:prstGeom prst="rect">
            <a:avLst/>
          </a:prstGeom>
          <a:noFill/>
        </p:spPr>
        <p:txBody>
          <a:bodyPr wrap="square" lIns="45720" rIns="45720" tIns="18288" bIns="18288" anchor="t">
            <a:spAutoFit/>
          </a:bodyPr>
          <a:lstStyle/>
          <a:p>
            <a:pPr algn="ctr"/>
            <a:r>
              <a:rPr sz="1600" b="1">
                <a:solidFill>
                  <a:srgbClr val="102A4C"/>
                </a:solidFill>
                <a:latin typeface="맑은 고딕"/>
              </a:rPr>
              <a:t>워크플로우 §0.4 (6 step)</a:t>
            </a:r>
          </a:p>
        </p:txBody>
      </p:sp>
      <p:sp>
        <p:nvSpPr>
          <p:cNvPr id="16" name="TextBox 15"/>
          <p:cNvSpPr txBox="1"/>
          <p:nvPr/>
        </p:nvSpPr>
        <p:spPr>
          <a:xfrm>
            <a:off x="4434840" y="242316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① 사내 sensor 데이터 수집</a:t>
            </a:r>
          </a:p>
          <a:p>
            <a:pPr algn="l"/>
            <a:r>
              <a:rPr sz="1000" b="0">
                <a:solidFill>
                  <a:srgbClr val="333333"/>
                </a:solidFill>
                <a:latin typeface="맑은 고딕"/>
              </a:rPr>
              <a:t>      (외부 데이터 의존 0%)</a:t>
            </a:r>
          </a:p>
        </p:txBody>
      </p:sp>
      <p:sp>
        <p:nvSpPr>
          <p:cNvPr id="17" name="TextBox 16"/>
          <p:cNvSpPr txBox="1"/>
          <p:nvPr/>
        </p:nvSpPr>
        <p:spPr>
          <a:xfrm>
            <a:off x="4434840" y="292608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② PC 학습 (PyTorch)</a:t>
            </a:r>
          </a:p>
        </p:txBody>
      </p:sp>
      <p:sp>
        <p:nvSpPr>
          <p:cNvPr id="18" name="TextBox 17"/>
          <p:cNvSpPr txBox="1"/>
          <p:nvPr/>
        </p:nvSpPr>
        <p:spPr>
          <a:xfrm>
            <a:off x="4434840" y="342900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③ PC 검증 (sanity)</a:t>
            </a:r>
          </a:p>
        </p:txBody>
      </p:sp>
      <p:sp>
        <p:nvSpPr>
          <p:cNvPr id="19" name="TextBox 18"/>
          <p:cNvSpPr txBox="1"/>
          <p:nvPr/>
        </p:nvSpPr>
        <p:spPr>
          <a:xfrm>
            <a:off x="4434840" y="393192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④ INT8 quantize</a:t>
            </a:r>
          </a:p>
        </p:txBody>
      </p:sp>
      <p:sp>
        <p:nvSpPr>
          <p:cNvPr id="20" name="TextBox 19"/>
          <p:cNvSpPr txBox="1"/>
          <p:nvPr/>
        </p:nvSpPr>
        <p:spPr>
          <a:xfrm>
            <a:off x="4434840" y="443484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⑤ MCU port (CMSIS-NN)</a:t>
            </a:r>
          </a:p>
        </p:txBody>
      </p:sp>
      <p:sp>
        <p:nvSpPr>
          <p:cNvPr id="21" name="TextBox 20"/>
          <p:cNvSpPr txBox="1"/>
          <p:nvPr/>
        </p:nvSpPr>
        <p:spPr>
          <a:xfrm>
            <a:off x="4434840" y="4937760"/>
            <a:ext cx="2834640" cy="457200"/>
          </a:xfrm>
          <a:prstGeom prst="rect">
            <a:avLst/>
          </a:prstGeom>
          <a:noFill/>
        </p:spPr>
        <p:txBody>
          <a:bodyPr wrap="square" lIns="45720" rIns="45720" tIns="18288" bIns="18288" anchor="ctr">
            <a:spAutoFit/>
          </a:bodyPr>
          <a:lstStyle/>
          <a:p>
            <a:pPr algn="l"/>
            <a:r>
              <a:rPr sz="1000" b="0">
                <a:solidFill>
                  <a:srgbClr val="333333"/>
                </a:solidFill>
                <a:latin typeface="맑은 고딕"/>
              </a:rPr>
              <a:t>⑥ MCU sweep (3축 검증)</a:t>
            </a:r>
          </a:p>
        </p:txBody>
      </p:sp>
      <p:sp>
        <p:nvSpPr>
          <p:cNvPr id="22" name="Rectangle 21"/>
          <p:cNvSpPr/>
          <p:nvPr/>
        </p:nvSpPr>
        <p:spPr>
          <a:xfrm>
            <a:off x="7589520" y="1645920"/>
            <a:ext cx="4069080" cy="4023360"/>
          </a:xfrm>
          <a:prstGeom prst="rect">
            <a:avLst/>
          </a:prstGeom>
          <a:solidFill>
            <a:srgbClr val="FEE9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1828800"/>
            <a:ext cx="3703320" cy="457200"/>
          </a:xfrm>
          <a:prstGeom prst="rect">
            <a:avLst/>
          </a:prstGeom>
          <a:noFill/>
        </p:spPr>
        <p:txBody>
          <a:bodyPr wrap="square" lIns="45720" rIns="45720" tIns="18288" bIns="18288" anchor="t">
            <a:spAutoFit/>
          </a:bodyPr>
          <a:lstStyle/>
          <a:p>
            <a:pPr algn="l"/>
            <a:r>
              <a:rPr sz="1600" b="1">
                <a:solidFill>
                  <a:srgbClr val="102A4C"/>
                </a:solidFill>
                <a:latin typeface="맑은 고딕"/>
              </a:rPr>
              <a:t>한국기계 응용 brainstorm</a:t>
            </a:r>
          </a:p>
        </p:txBody>
      </p:sp>
      <p:sp>
        <p:nvSpPr>
          <p:cNvPr id="24" name="TextBox 23"/>
          <p:cNvSpPr txBox="1"/>
          <p:nvPr/>
        </p:nvSpPr>
        <p:spPr>
          <a:xfrm>
            <a:off x="7772400" y="2377440"/>
            <a:ext cx="3703320" cy="3108960"/>
          </a:xfrm>
          <a:prstGeom prst="rect">
            <a:avLst/>
          </a:prstGeom>
          <a:noFill/>
        </p:spPr>
        <p:txBody>
          <a:bodyPr wrap="square" lIns="45720" rIns="45720" tIns="18288" bIns="18288" anchor="t">
            <a:spAutoFit/>
          </a:bodyPr>
          <a:lstStyle/>
          <a:p>
            <a:pPr algn="l"/>
            <a:r>
              <a:rPr sz="1200" b="0">
                <a:solidFill>
                  <a:srgbClr val="333333"/>
                </a:solidFill>
                <a:latin typeface="맑은 고딕"/>
              </a:rPr>
              <a:t>🔧  예측 정비</a:t>
            </a:r>
          </a:p>
          <a:p>
            <a:pPr algn="l"/>
            <a:r>
              <a:rPr sz="1200" b="0">
                <a:solidFill>
                  <a:srgbClr val="333333"/>
                </a:solidFill>
                <a:latin typeface="맑은 고딕"/>
              </a:rPr>
              <a:t>     (vibration · current 이상 감지)</a:t>
            </a:r>
          </a:p>
          <a:p>
            <a:pPr algn="l"/>
            <a:r>
              <a:rPr sz="1200" b="0">
                <a:solidFill>
                  <a:srgbClr val="333333"/>
                </a:solidFill>
                <a:latin typeface="맑은 고딕"/>
              </a:rPr>
              <a:t/>
            </a:r>
          </a:p>
          <a:p>
            <a:pPr algn="l"/>
            <a:r>
              <a:rPr sz="1200" b="0">
                <a:solidFill>
                  <a:srgbClr val="333333"/>
                </a:solidFill>
                <a:latin typeface="맑은 고딕"/>
              </a:rPr>
              <a:t>🔍  품질 검사</a:t>
            </a:r>
          </a:p>
          <a:p>
            <a:pPr algn="l"/>
            <a:r>
              <a:rPr sz="1200" b="0">
                <a:solidFill>
                  <a:srgbClr val="333333"/>
                </a:solidFill>
                <a:latin typeface="맑은 고딕"/>
              </a:rPr>
              <a:t>     (vision · 치수 측정)</a:t>
            </a:r>
          </a:p>
          <a:p>
            <a:pPr algn="l"/>
            <a:r>
              <a:rPr sz="1200" b="0">
                <a:solidFill>
                  <a:srgbClr val="333333"/>
                </a:solidFill>
                <a:latin typeface="맑은 고딕"/>
              </a:rPr>
              <a:t/>
            </a:r>
          </a:p>
          <a:p>
            <a:pPr algn="l"/>
            <a:r>
              <a:rPr sz="1200" b="0">
                <a:solidFill>
                  <a:srgbClr val="333333"/>
                </a:solidFill>
                <a:latin typeface="맑은 고딕"/>
              </a:rPr>
              <a:t>⚠️  이상 감지</a:t>
            </a:r>
          </a:p>
          <a:p>
            <a:pPr algn="l"/>
            <a:r>
              <a:rPr sz="1200" b="0">
                <a:solidFill>
                  <a:srgbClr val="333333"/>
                </a:solidFill>
                <a:latin typeface="맑은 고딕"/>
              </a:rPr>
              <a:t>     (온도·소리·전류 패턴)</a:t>
            </a:r>
          </a:p>
          <a:p>
            <a:pPr algn="l"/>
            <a:r>
              <a:rPr sz="1200" b="0">
                <a:solidFill>
                  <a:srgbClr val="333333"/>
                </a:solidFill>
                <a:latin typeface="맑은 고딕"/>
              </a:rPr>
              <a:t/>
            </a:r>
          </a:p>
          <a:p>
            <a:pPr algn="l"/>
            <a:r>
              <a:rPr sz="1200" b="0">
                <a:solidFill>
                  <a:srgbClr val="333333"/>
                </a:solidFill>
                <a:latin typeface="맑은 고딕"/>
              </a:rPr>
              <a:t>📈  공정 최적화</a:t>
            </a:r>
          </a:p>
          <a:p>
            <a:pPr algn="l"/>
            <a:r>
              <a:rPr sz="1200" b="0">
                <a:solidFill>
                  <a:srgbClr val="333333"/>
                </a:solidFill>
                <a:latin typeface="맑은 고딕"/>
              </a:rPr>
              <a:t>     (실시간 sensor → 자동 조정)</a:t>
            </a:r>
          </a:p>
          <a:p>
            <a:pPr algn="l"/>
            <a:r>
              <a:rPr sz="1200" b="0">
                <a:solidFill>
                  <a:srgbClr val="333333"/>
                </a:solidFill>
                <a:latin typeface="맑은 고딕"/>
              </a:rPr>
              <a:t/>
            </a:r>
          </a:p>
          <a:p>
            <a:pPr algn="l"/>
            <a:r>
              <a:rPr sz="1200" b="0">
                <a:solidFill>
                  <a:srgbClr val="333333"/>
                </a:solidFill>
                <a:latin typeface="맑은 고딕"/>
              </a:rPr>
              <a:t>→  6주차 PoC 1건 선정</a:t>
            </a:r>
          </a:p>
          <a:p>
            <a:pPr algn="l"/>
            <a:r>
              <a:rPr sz="1200" b="0">
                <a:solidFill>
                  <a:srgbClr val="333333"/>
                </a:solidFill>
                <a:latin typeface="맑은 고딕"/>
              </a:rPr>
              <a:t>→  7주차 데이터 → 모델 → 시연</a:t>
            </a:r>
          </a:p>
        </p:txBody>
      </p:sp>
      <p:sp>
        <p:nvSpPr>
          <p:cNvPr id="25" name="Rectangle 24"/>
          <p:cNvSpPr/>
          <p:nvPr/>
        </p:nvSpPr>
        <p:spPr>
          <a:xfrm>
            <a:off x="548640" y="5806440"/>
            <a:ext cx="11109960" cy="64008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52160"/>
            <a:ext cx="11109960" cy="548640"/>
          </a:xfrm>
          <a:prstGeom prst="rect">
            <a:avLst/>
          </a:prstGeom>
          <a:noFill/>
        </p:spPr>
        <p:txBody>
          <a:bodyPr wrap="square" lIns="45720" rIns="45720" tIns="18288" bIns="18288" anchor="ctr">
            <a:spAutoFit/>
          </a:bodyPr>
          <a:lstStyle/>
          <a:p>
            <a:pPr algn="ctr"/>
            <a:r>
              <a:rPr sz="1700" b="1">
                <a:solidFill>
                  <a:srgbClr val="FFFFFF"/>
                </a:solidFill>
                <a:latin typeface="맑은 고딕"/>
              </a:rPr>
              <a:t>신제품 PoC 1건 → 양산 진입 시 차별화 + AI 비전 로드맵 12개월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  08 / 10  ·  보안 핵심</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64008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640080"/>
          </a:xfrm>
          <a:prstGeom prst="rect">
            <a:avLst/>
          </a:prstGeom>
          <a:noFill/>
        </p:spPr>
        <p:txBody>
          <a:bodyPr wrap="square" lIns="45720" rIns="45720" tIns="18288" bIns="18288" anchor="ctr">
            <a:spAutoFit/>
          </a:bodyPr>
          <a:lstStyle/>
          <a:p>
            <a:pPr algn="ctr"/>
            <a:r>
              <a:rPr sz="2200" b="1">
                <a:solidFill>
                  <a:srgbClr val="FFFFFF"/>
                </a:solidFill>
                <a:latin typeface="맑은 고딕"/>
              </a:rPr>
              <a:t>⭐⭐⭐  보안 4중 방어  ·  회사 고유 기술 외부 노출 0%</a:t>
            </a:r>
          </a:p>
        </p:txBody>
      </p:sp>
      <p:sp>
        <p:nvSpPr>
          <p:cNvPr id="11" name="Rectangle 10"/>
          <p:cNvSpPr/>
          <p:nvPr/>
        </p:nvSpPr>
        <p:spPr>
          <a:xfrm>
            <a:off x="548640" y="1828800"/>
            <a:ext cx="2606040" cy="3657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71600" y="2011680"/>
            <a:ext cx="960120" cy="9601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71600" y="20116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1</a:t>
            </a:r>
          </a:p>
        </p:txBody>
      </p:sp>
      <p:sp>
        <p:nvSpPr>
          <p:cNvPr id="14" name="TextBox 13"/>
          <p:cNvSpPr txBox="1"/>
          <p:nvPr/>
        </p:nvSpPr>
        <p:spPr>
          <a:xfrm>
            <a:off x="685800" y="3200400"/>
            <a:ext cx="2331720" cy="457200"/>
          </a:xfrm>
          <a:prstGeom prst="rect">
            <a:avLst/>
          </a:prstGeom>
          <a:noFill/>
        </p:spPr>
        <p:txBody>
          <a:bodyPr wrap="square" lIns="45720" rIns="45720" tIns="18288" bIns="18288" anchor="ctr">
            <a:spAutoFit/>
          </a:bodyPr>
          <a:lstStyle/>
          <a:p>
            <a:pPr algn="ctr"/>
            <a:r>
              <a:rPr sz="1600" b="1">
                <a:solidFill>
                  <a:srgbClr val="102A4C"/>
                </a:solidFill>
                <a:latin typeface="맑은 고딕"/>
              </a:rPr>
              <a:t>🔒  마스킹 SOP</a:t>
            </a:r>
          </a:p>
        </p:txBody>
      </p:sp>
      <p:sp>
        <p:nvSpPr>
          <p:cNvPr id="15" name="TextBox 14"/>
          <p:cNvSpPr txBox="1"/>
          <p:nvPr/>
        </p:nvSpPr>
        <p:spPr>
          <a:xfrm>
            <a:off x="685800" y="3749039"/>
            <a:ext cx="2331720" cy="365760"/>
          </a:xfrm>
          <a:prstGeom prst="rect">
            <a:avLst/>
          </a:prstGeom>
          <a:noFill/>
        </p:spPr>
        <p:txBody>
          <a:bodyPr wrap="square" lIns="45720" rIns="45720" tIns="18288" bIns="18288" anchor="ctr">
            <a:spAutoFit/>
          </a:bodyPr>
          <a:lstStyle/>
          <a:p>
            <a:pPr algn="ctr"/>
            <a:r>
              <a:rPr sz="1300" b="0">
                <a:solidFill>
                  <a:srgbClr val="333333"/>
                </a:solidFill>
                <a:latin typeface="맑은 고딕"/>
              </a:rPr>
              <a:t>입력 단계</a:t>
            </a:r>
          </a:p>
        </p:txBody>
      </p:sp>
      <p:sp>
        <p:nvSpPr>
          <p:cNvPr id="16" name="TextBox 15"/>
          <p:cNvSpPr txBox="1"/>
          <p:nvPr/>
        </p:nvSpPr>
        <p:spPr>
          <a:xfrm>
            <a:off x="685800" y="4206240"/>
            <a:ext cx="2331720" cy="365760"/>
          </a:xfrm>
          <a:prstGeom prst="rect">
            <a:avLst/>
          </a:prstGeom>
          <a:noFill/>
        </p:spPr>
        <p:txBody>
          <a:bodyPr wrap="square" lIns="45720" rIns="45720" tIns="18288" bIns="18288" anchor="ctr">
            <a:spAutoFit/>
          </a:bodyPr>
          <a:lstStyle/>
          <a:p>
            <a:pPr algn="ctr"/>
            <a:r>
              <a:rPr sz="1200" b="1">
                <a:solidFill>
                  <a:srgbClr val="F17A21"/>
                </a:solidFill>
                <a:latin typeface="맑은 고딕"/>
              </a:rPr>
              <a:t>Phase 1부터</a:t>
            </a:r>
          </a:p>
        </p:txBody>
      </p:sp>
      <p:sp>
        <p:nvSpPr>
          <p:cNvPr id="17" name="Rectangle 16"/>
          <p:cNvSpPr/>
          <p:nvPr/>
        </p:nvSpPr>
        <p:spPr>
          <a:xfrm>
            <a:off x="3383280" y="1828800"/>
            <a:ext cx="2606040" cy="3657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06240" y="2011680"/>
            <a:ext cx="960120" cy="9601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06240" y="20116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2</a:t>
            </a:r>
          </a:p>
        </p:txBody>
      </p:sp>
      <p:sp>
        <p:nvSpPr>
          <p:cNvPr id="20" name="TextBox 19"/>
          <p:cNvSpPr txBox="1"/>
          <p:nvPr/>
        </p:nvSpPr>
        <p:spPr>
          <a:xfrm>
            <a:off x="3520440" y="3200400"/>
            <a:ext cx="2331720" cy="457200"/>
          </a:xfrm>
          <a:prstGeom prst="rect">
            <a:avLst/>
          </a:prstGeom>
          <a:noFill/>
        </p:spPr>
        <p:txBody>
          <a:bodyPr wrap="square" lIns="45720" rIns="45720" tIns="18288" bIns="18288" anchor="ctr">
            <a:spAutoFit/>
          </a:bodyPr>
          <a:lstStyle/>
          <a:p>
            <a:pPr algn="ctr"/>
            <a:r>
              <a:rPr sz="1600" b="1">
                <a:solidFill>
                  <a:srgbClr val="102A4C"/>
                </a:solidFill>
                <a:latin typeface="맑은 고딕"/>
              </a:rPr>
              <a:t>🔒  On-Device AI</a:t>
            </a:r>
          </a:p>
        </p:txBody>
      </p:sp>
      <p:sp>
        <p:nvSpPr>
          <p:cNvPr id="21" name="TextBox 20"/>
          <p:cNvSpPr txBox="1"/>
          <p:nvPr/>
        </p:nvSpPr>
        <p:spPr>
          <a:xfrm>
            <a:off x="3520440" y="3749039"/>
            <a:ext cx="2331720" cy="365760"/>
          </a:xfrm>
          <a:prstGeom prst="rect">
            <a:avLst/>
          </a:prstGeom>
          <a:noFill/>
        </p:spPr>
        <p:txBody>
          <a:bodyPr wrap="square" lIns="45720" rIns="45720" tIns="18288" bIns="18288" anchor="ctr">
            <a:spAutoFit/>
          </a:bodyPr>
          <a:lstStyle/>
          <a:p>
            <a:pPr algn="ctr"/>
            <a:r>
              <a:rPr sz="1300" b="0">
                <a:solidFill>
                  <a:srgbClr val="333333"/>
                </a:solidFill>
                <a:latin typeface="맑은 고딕"/>
              </a:rPr>
              <a:t>외부 호출 0%</a:t>
            </a:r>
          </a:p>
        </p:txBody>
      </p:sp>
      <p:sp>
        <p:nvSpPr>
          <p:cNvPr id="22" name="TextBox 21"/>
          <p:cNvSpPr txBox="1"/>
          <p:nvPr/>
        </p:nvSpPr>
        <p:spPr>
          <a:xfrm>
            <a:off x="3520440" y="4206240"/>
            <a:ext cx="2331720" cy="365760"/>
          </a:xfrm>
          <a:prstGeom prst="rect">
            <a:avLst/>
          </a:prstGeom>
          <a:noFill/>
        </p:spPr>
        <p:txBody>
          <a:bodyPr wrap="square" lIns="45720" rIns="45720" tIns="18288" bIns="18288" anchor="ctr">
            <a:spAutoFit/>
          </a:bodyPr>
          <a:lstStyle/>
          <a:p>
            <a:pPr algn="ctr"/>
            <a:r>
              <a:rPr sz="1200" b="1">
                <a:solidFill>
                  <a:srgbClr val="F17A21"/>
                </a:solidFill>
                <a:latin typeface="맑은 고딕"/>
              </a:rPr>
              <a:t>⭐ Phase 3 결정타</a:t>
            </a:r>
          </a:p>
        </p:txBody>
      </p:sp>
      <p:sp>
        <p:nvSpPr>
          <p:cNvPr id="23" name="Rectangle 22"/>
          <p:cNvSpPr/>
          <p:nvPr/>
        </p:nvSpPr>
        <p:spPr>
          <a:xfrm>
            <a:off x="6217920" y="1828800"/>
            <a:ext cx="2606040" cy="3657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40880" y="2011680"/>
            <a:ext cx="960120" cy="9601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20116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3</a:t>
            </a:r>
          </a:p>
        </p:txBody>
      </p:sp>
      <p:sp>
        <p:nvSpPr>
          <p:cNvPr id="26" name="TextBox 25"/>
          <p:cNvSpPr txBox="1"/>
          <p:nvPr/>
        </p:nvSpPr>
        <p:spPr>
          <a:xfrm>
            <a:off x="6355080" y="3200400"/>
            <a:ext cx="2331720" cy="457200"/>
          </a:xfrm>
          <a:prstGeom prst="rect">
            <a:avLst/>
          </a:prstGeom>
          <a:noFill/>
        </p:spPr>
        <p:txBody>
          <a:bodyPr wrap="square" lIns="45720" rIns="45720" tIns="18288" bIns="18288" anchor="ctr">
            <a:spAutoFit/>
          </a:bodyPr>
          <a:lstStyle/>
          <a:p>
            <a:pPr algn="ctr"/>
            <a:r>
              <a:rPr sz="1600" b="1">
                <a:solidFill>
                  <a:srgbClr val="102A4C"/>
                </a:solidFill>
                <a:latin typeface="맑은 고딕"/>
              </a:rPr>
              <a:t>🔒  사내 저장소 격리</a:t>
            </a:r>
          </a:p>
        </p:txBody>
      </p:sp>
      <p:sp>
        <p:nvSpPr>
          <p:cNvPr id="27" name="TextBox 26"/>
          <p:cNvSpPr txBox="1"/>
          <p:nvPr/>
        </p:nvSpPr>
        <p:spPr>
          <a:xfrm>
            <a:off x="6355080" y="3749039"/>
            <a:ext cx="2331720" cy="365760"/>
          </a:xfrm>
          <a:prstGeom prst="rect">
            <a:avLst/>
          </a:prstGeom>
          <a:noFill/>
        </p:spPr>
        <p:txBody>
          <a:bodyPr wrap="square" lIns="45720" rIns="45720" tIns="18288" bIns="18288" anchor="ctr">
            <a:spAutoFit/>
          </a:bodyPr>
          <a:lstStyle/>
          <a:p>
            <a:pPr algn="ctr"/>
            <a:r>
              <a:rPr sz="1300" b="0">
                <a:solidFill>
                  <a:srgbClr val="333333"/>
                </a:solidFill>
                <a:latin typeface="맑은 고딕"/>
              </a:rPr>
              <a:t>외부 동기화 금지</a:t>
            </a:r>
          </a:p>
        </p:txBody>
      </p:sp>
      <p:sp>
        <p:nvSpPr>
          <p:cNvPr id="28" name="TextBox 27"/>
          <p:cNvSpPr txBox="1"/>
          <p:nvPr/>
        </p:nvSpPr>
        <p:spPr>
          <a:xfrm>
            <a:off x="6355080" y="4206240"/>
            <a:ext cx="2331720" cy="365760"/>
          </a:xfrm>
          <a:prstGeom prst="rect">
            <a:avLst/>
          </a:prstGeom>
          <a:noFill/>
        </p:spPr>
        <p:txBody>
          <a:bodyPr wrap="square" lIns="45720" rIns="45720" tIns="18288" bIns="18288" anchor="ctr">
            <a:spAutoFit/>
          </a:bodyPr>
          <a:lstStyle/>
          <a:p>
            <a:pPr algn="ctr"/>
            <a:r>
              <a:rPr sz="1200" b="1">
                <a:solidFill>
                  <a:srgbClr val="F17A21"/>
                </a:solidFill>
                <a:latin typeface="맑은 고딕"/>
              </a:rPr>
              <a:t>전 기간 일관</a:t>
            </a:r>
          </a:p>
        </p:txBody>
      </p:sp>
      <p:sp>
        <p:nvSpPr>
          <p:cNvPr id="29" name="Rectangle 28"/>
          <p:cNvSpPr/>
          <p:nvPr/>
        </p:nvSpPr>
        <p:spPr>
          <a:xfrm>
            <a:off x="9052560" y="1828800"/>
            <a:ext cx="2606040" cy="365760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75520" y="2011680"/>
            <a:ext cx="960120" cy="96012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20116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4</a:t>
            </a:r>
          </a:p>
        </p:txBody>
      </p:sp>
      <p:sp>
        <p:nvSpPr>
          <p:cNvPr id="32" name="TextBox 31"/>
          <p:cNvSpPr txBox="1"/>
          <p:nvPr/>
        </p:nvSpPr>
        <p:spPr>
          <a:xfrm>
            <a:off x="9189720" y="3200400"/>
            <a:ext cx="2331720" cy="457200"/>
          </a:xfrm>
          <a:prstGeom prst="rect">
            <a:avLst/>
          </a:prstGeom>
          <a:noFill/>
        </p:spPr>
        <p:txBody>
          <a:bodyPr wrap="square" lIns="45720" rIns="45720" tIns="18288" bIns="18288" anchor="ctr">
            <a:spAutoFit/>
          </a:bodyPr>
          <a:lstStyle/>
          <a:p>
            <a:pPr algn="ctr"/>
            <a:r>
              <a:rPr sz="1600" b="1">
                <a:solidFill>
                  <a:srgbClr val="102A4C"/>
                </a:solidFill>
                <a:latin typeface="맑은 고딕"/>
              </a:rPr>
              <a:t>🔒  API zero-retention</a:t>
            </a:r>
          </a:p>
        </p:txBody>
      </p:sp>
      <p:sp>
        <p:nvSpPr>
          <p:cNvPr id="33" name="TextBox 32"/>
          <p:cNvSpPr txBox="1"/>
          <p:nvPr/>
        </p:nvSpPr>
        <p:spPr>
          <a:xfrm>
            <a:off x="9189720" y="3749039"/>
            <a:ext cx="2331720" cy="365760"/>
          </a:xfrm>
          <a:prstGeom prst="rect">
            <a:avLst/>
          </a:prstGeom>
          <a:noFill/>
        </p:spPr>
        <p:txBody>
          <a:bodyPr wrap="square" lIns="45720" rIns="45720" tIns="18288" bIns="18288" anchor="ctr">
            <a:spAutoFit/>
          </a:bodyPr>
          <a:lstStyle/>
          <a:p>
            <a:pPr algn="ctr"/>
            <a:r>
              <a:rPr sz="1300" b="0">
                <a:solidFill>
                  <a:srgbClr val="333333"/>
                </a:solidFill>
                <a:latin typeface="맑은 고딕"/>
              </a:rPr>
              <a:t>enterprise 옵션</a:t>
            </a:r>
          </a:p>
        </p:txBody>
      </p:sp>
      <p:sp>
        <p:nvSpPr>
          <p:cNvPr id="34" name="TextBox 33"/>
          <p:cNvSpPr txBox="1"/>
          <p:nvPr/>
        </p:nvSpPr>
        <p:spPr>
          <a:xfrm>
            <a:off x="9189720" y="4206240"/>
            <a:ext cx="2331720" cy="365760"/>
          </a:xfrm>
          <a:prstGeom prst="rect">
            <a:avLst/>
          </a:prstGeom>
          <a:noFill/>
        </p:spPr>
        <p:txBody>
          <a:bodyPr wrap="square" lIns="45720" rIns="45720" tIns="18288" bIns="18288" anchor="ctr">
            <a:spAutoFit/>
          </a:bodyPr>
          <a:lstStyle/>
          <a:p>
            <a:pPr algn="ctr"/>
            <a:r>
              <a:rPr sz="1200" b="1">
                <a:solidFill>
                  <a:srgbClr val="F17A21"/>
                </a:solidFill>
                <a:latin typeface="맑은 고딕"/>
              </a:rPr>
              <a:t>Phase 2~3 부득이 시</a:t>
            </a:r>
          </a:p>
        </p:txBody>
      </p:sp>
      <p:sp>
        <p:nvSpPr>
          <p:cNvPr id="35" name="Rectangle 34"/>
          <p:cNvSpPr/>
          <p:nvPr/>
        </p:nvSpPr>
        <p:spPr>
          <a:xfrm>
            <a:off x="548640" y="5806440"/>
            <a:ext cx="11109960" cy="64008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852160"/>
            <a:ext cx="11109960" cy="548640"/>
          </a:xfrm>
          <a:prstGeom prst="rect">
            <a:avLst/>
          </a:prstGeom>
          <a:noFill/>
        </p:spPr>
        <p:txBody>
          <a:bodyPr wrap="square" lIns="45720" rIns="45720" tIns="18288" bIns="18288" anchor="ctr">
            <a:spAutoFit/>
          </a:bodyPr>
          <a:lstStyle/>
          <a:p>
            <a:pPr algn="ctr"/>
            <a:r>
              <a:rPr sz="2000" b="1">
                <a:solidFill>
                  <a:srgbClr val="F17A21"/>
                </a:solidFill>
                <a:latin typeface="맑은 고딕"/>
              </a:rPr>
              <a:t>한국기계가 가장 우려하신 점에 대한 우리의 답</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2743200" cy="365760"/>
          </a:xfrm>
          <a:prstGeom prst="rect">
            <a:avLst/>
          </a:prstGeom>
          <a:noFill/>
        </p:spPr>
        <p:txBody>
          <a:bodyPr wrap="square" lIns="45720" rIns="45720" tIns="18288" bIns="18288" anchor="t">
            <a:spAutoFit/>
          </a:bodyPr>
          <a:lstStyle/>
          <a:p>
            <a:pPr algn="l"/>
            <a:r>
              <a:rPr sz="1400" b="1">
                <a:solidFill>
                  <a:srgbClr val="102A4C"/>
                </a:solidFill>
                <a:latin typeface="맑은 고딕"/>
              </a:rPr>
              <a:t>UTTEC</a:t>
            </a:r>
          </a:p>
        </p:txBody>
      </p:sp>
      <p:sp>
        <p:nvSpPr>
          <p:cNvPr id="4" name="TextBox 3"/>
          <p:cNvSpPr txBox="1"/>
          <p:nvPr/>
        </p:nvSpPr>
        <p:spPr>
          <a:xfrm>
            <a:off x="365760" y="457200"/>
            <a:ext cx="6400800" cy="320040"/>
          </a:xfrm>
          <a:prstGeom prst="rect">
            <a:avLst/>
          </a:prstGeom>
          <a:noFill/>
        </p:spPr>
        <p:txBody>
          <a:bodyPr wrap="square" lIns="45720" rIns="45720" tIns="18288" bIns="18288" anchor="t">
            <a:spAutoFit/>
          </a:bodyPr>
          <a:lstStyle/>
          <a:p>
            <a:pPr algn="l"/>
            <a:r>
              <a:rPr sz="1000" b="0">
                <a:solidFill>
                  <a:srgbClr val="888888"/>
                </a:solidFill>
                <a:latin typeface="맑은 고딕"/>
              </a:rPr>
              <a:t>한국기계 귀하 — AI 임직원 교육 7주 커리큘럼 제안</a:t>
            </a:r>
          </a:p>
        </p:txBody>
      </p:sp>
      <p:sp>
        <p:nvSpPr>
          <p:cNvPr id="5" name="TextBox 4"/>
          <p:cNvSpPr txBox="1"/>
          <p:nvPr/>
        </p:nvSpPr>
        <p:spPr>
          <a:xfrm>
            <a:off x="9601200" y="256032"/>
            <a:ext cx="2377440" cy="365760"/>
          </a:xfrm>
          <a:prstGeom prst="rect">
            <a:avLst/>
          </a:prstGeom>
          <a:noFill/>
        </p:spPr>
        <p:txBody>
          <a:bodyPr wrap="square" lIns="45720" rIns="45720" tIns="18288" bIns="18288" anchor="t">
            <a:spAutoFit/>
          </a:bodyPr>
          <a:lstStyle/>
          <a:p>
            <a:pPr algn="r"/>
            <a:r>
              <a:rPr sz="900" b="0">
                <a:solidFill>
                  <a:srgbClr val="888888"/>
                </a:solidFill>
                <a:latin typeface="맑은 고딕"/>
              </a:rPr>
              <a:t>09 / 10  ·  효과 + 비용</a:t>
            </a:r>
          </a:p>
        </p:txBody>
      </p:sp>
      <p:sp>
        <p:nvSpPr>
          <p:cNvPr id="6" name="Rectangle 5"/>
          <p:cNvSpPr/>
          <p:nvPr/>
        </p:nvSpPr>
        <p:spPr>
          <a:xfrm>
            <a:off x="0" y="6720840"/>
            <a:ext cx="12191695" cy="1371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739128"/>
            <a:ext cx="7315200" cy="118872"/>
          </a:xfrm>
          <a:prstGeom prst="rect">
            <a:avLst/>
          </a:prstGeom>
          <a:noFill/>
        </p:spPr>
        <p:txBody>
          <a:bodyPr wrap="square" lIns="45720" rIns="45720" tIns="18288" bIns="18288" anchor="t">
            <a:spAutoFit/>
          </a:bodyPr>
          <a:lstStyle/>
          <a:p>
            <a:pPr algn="l"/>
            <a:r>
              <a:rPr sz="800" b="0">
                <a:solidFill>
                  <a:srgbClr val="FFFFFF"/>
                </a:solidFill>
                <a:latin typeface="맑은 고딕"/>
              </a:rPr>
              <a:t>UTTEC · 홍광선  ihong9059@gmail.com · 010-2401-9059 · 경기 용인시 기흥구 흥덕유타워</a:t>
            </a:r>
          </a:p>
        </p:txBody>
      </p:sp>
      <p:sp>
        <p:nvSpPr>
          <p:cNvPr id="8" name="TextBox 7"/>
          <p:cNvSpPr txBox="1"/>
          <p:nvPr/>
        </p:nvSpPr>
        <p:spPr>
          <a:xfrm>
            <a:off x="10515600" y="6739128"/>
            <a:ext cx="1463040" cy="118872"/>
          </a:xfrm>
          <a:prstGeom prst="rect">
            <a:avLst/>
          </a:prstGeom>
          <a:noFill/>
        </p:spPr>
        <p:txBody>
          <a:bodyPr wrap="square" lIns="45720" rIns="45720" tIns="18288" bIns="18288" anchor="t">
            <a:spAutoFit/>
          </a:bodyPr>
          <a:lstStyle/>
          <a:p>
            <a:pPr algn="r"/>
            <a:r>
              <a:rPr sz="800" b="0">
                <a:solidFill>
                  <a:srgbClr val="F17A21"/>
                </a:solidFill>
                <a:latin typeface="맑은 고딕"/>
              </a:rPr>
              <a:t>🔒 회사 고유 기술 외부 노출 0% 보장</a:t>
            </a:r>
          </a:p>
        </p:txBody>
      </p:sp>
      <p:sp>
        <p:nvSpPr>
          <p:cNvPr id="9" name="Rectangle 8"/>
          <p:cNvSpPr/>
          <p:nvPr/>
        </p:nvSpPr>
        <p:spPr>
          <a:xfrm>
            <a:off x="548640" y="868680"/>
            <a:ext cx="10972800" cy="50292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868680"/>
            <a:ext cx="10972800" cy="502920"/>
          </a:xfrm>
          <a:prstGeom prst="rect">
            <a:avLst/>
          </a:prstGeom>
          <a:noFill/>
        </p:spPr>
        <p:txBody>
          <a:bodyPr wrap="square" lIns="45720" rIns="45720" tIns="18288" bIns="18288" anchor="ctr">
            <a:spAutoFit/>
          </a:bodyPr>
          <a:lstStyle/>
          <a:p>
            <a:pPr algn="ctr"/>
            <a:r>
              <a:rPr sz="2200" b="1">
                <a:solidFill>
                  <a:srgbClr val="FFFFFF"/>
                </a:solidFill>
                <a:latin typeface="맑은 고딕"/>
              </a:rPr>
              <a:t>효과 + 비용</a:t>
            </a:r>
          </a:p>
        </p:txBody>
      </p:sp>
      <p:sp>
        <p:nvSpPr>
          <p:cNvPr id="11" name="Rectangle 10"/>
          <p:cNvSpPr/>
          <p:nvPr/>
        </p:nvSpPr>
        <p:spPr>
          <a:xfrm>
            <a:off x="548640" y="1645920"/>
            <a:ext cx="6858000" cy="40233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828800"/>
            <a:ext cx="6492240" cy="457200"/>
          </a:xfrm>
          <a:prstGeom prst="rect">
            <a:avLst/>
          </a:prstGeom>
          <a:noFill/>
        </p:spPr>
        <p:txBody>
          <a:bodyPr wrap="square" lIns="45720" rIns="45720" tIns="18288" bIns="18288" anchor="t">
            <a:spAutoFit/>
          </a:bodyPr>
          <a:lstStyle/>
          <a:p>
            <a:pPr algn="l"/>
            <a:r>
              <a:rPr sz="1800" b="1">
                <a:solidFill>
                  <a:srgbClr val="102A4C"/>
                </a:solidFill>
                <a:latin typeface="맑은 고딕"/>
              </a:rPr>
              <a:t>정량 + 정성 효과</a:t>
            </a:r>
          </a:p>
        </p:txBody>
      </p:sp>
      <p:sp>
        <p:nvSpPr>
          <p:cNvPr id="13" name="TextBox 12"/>
          <p:cNvSpPr txBox="1"/>
          <p:nvPr/>
        </p:nvSpPr>
        <p:spPr>
          <a:xfrm>
            <a:off x="731520" y="2468880"/>
            <a:ext cx="6492240" cy="3200400"/>
          </a:xfrm>
          <a:prstGeom prst="rect">
            <a:avLst/>
          </a:prstGeom>
          <a:noFill/>
        </p:spPr>
        <p:txBody>
          <a:bodyPr wrap="square" lIns="45720" rIns="45720" tIns="18288" bIns="18288" anchor="t">
            <a:spAutoFit/>
          </a:bodyPr>
          <a:lstStyle/>
          <a:p>
            <a:pPr algn="l"/>
            <a:r>
              <a:rPr sz="1400" b="0">
                <a:solidFill>
                  <a:srgbClr val="333333"/>
                </a:solidFill>
                <a:latin typeface="맑은 고딕"/>
              </a:rPr>
              <a:t>✅  국책과제 1건당 약 2주 시간 절감</a:t>
            </a:r>
          </a:p>
          <a:p>
            <a:pPr algn="l"/>
            <a:r>
              <a:rPr sz="1400" b="0">
                <a:solidFill>
                  <a:srgbClr val="333333"/>
                </a:solidFill>
                <a:latin typeface="맑은 고딕"/>
              </a:rPr>
              <a:t>      → 연간 수주 가능 건수 ↑</a:t>
            </a:r>
          </a:p>
          <a:p>
            <a:pPr algn="l"/>
            <a:r>
              <a:rPr sz="1400" b="0">
                <a:solidFill>
                  <a:srgbClr val="333333"/>
                </a:solidFill>
                <a:latin typeface="맑은 고딕"/>
              </a:rPr>
              <a:t/>
            </a:r>
          </a:p>
          <a:p>
            <a:pPr algn="l"/>
            <a:r>
              <a:rPr sz="1400" b="0">
                <a:solidFill>
                  <a:srgbClr val="333333"/>
                </a:solidFill>
                <a:latin typeface="맑은 고딕"/>
              </a:rPr>
              <a:t>✅  일상 보고서·문서 50% 시간 단축</a:t>
            </a:r>
          </a:p>
          <a:p>
            <a:pPr algn="l"/>
            <a:r>
              <a:rPr sz="1400" b="0">
                <a:solidFill>
                  <a:srgbClr val="333333"/>
                </a:solidFill>
                <a:latin typeface="맑은 고딕"/>
              </a:rPr>
              <a:t/>
            </a:r>
          </a:p>
          <a:p>
            <a:pPr algn="l"/>
            <a:r>
              <a:rPr sz="1400" b="0">
                <a:solidFill>
                  <a:srgbClr val="333333"/>
                </a:solidFill>
                <a:latin typeface="맑은 고딕"/>
              </a:rPr>
              <a:t>✅  회사 고유 기술 외부 노출 0%  ⭐ 결정타</a:t>
            </a:r>
          </a:p>
          <a:p>
            <a:pPr algn="l"/>
            <a:r>
              <a:rPr sz="1400" b="0">
                <a:solidFill>
                  <a:srgbClr val="333333"/>
                </a:solidFill>
                <a:latin typeface="맑은 고딕"/>
              </a:rPr>
              <a:t/>
            </a:r>
          </a:p>
          <a:p>
            <a:pPr algn="l"/>
            <a:r>
              <a:rPr sz="1400" b="0">
                <a:solidFill>
                  <a:srgbClr val="333333"/>
                </a:solidFill>
                <a:latin typeface="맑은 고딕"/>
              </a:rPr>
              <a:t>✅  사내 분산 노하우 → 단일 지식 베이스</a:t>
            </a:r>
          </a:p>
          <a:p>
            <a:pPr algn="l"/>
            <a:r>
              <a:rPr sz="1400" b="0">
                <a:solidFill>
                  <a:srgbClr val="333333"/>
                </a:solidFill>
                <a:latin typeface="맑은 고딕"/>
              </a:rPr>
              <a:t>      (Obsidian Vault 영구 자산)</a:t>
            </a:r>
          </a:p>
          <a:p>
            <a:pPr algn="l"/>
            <a:r>
              <a:rPr sz="1400" b="0">
                <a:solidFill>
                  <a:srgbClr val="333333"/>
                </a:solidFill>
                <a:latin typeface="맑은 고딕"/>
              </a:rPr>
              <a:t/>
            </a:r>
          </a:p>
          <a:p>
            <a:pPr algn="l"/>
            <a:r>
              <a:rPr sz="1400" b="0">
                <a:solidFill>
                  <a:srgbClr val="333333"/>
                </a:solidFill>
                <a:latin typeface="맑은 고딕"/>
              </a:rPr>
              <a:t>✅  신제품 PoC 1건  → 양산 차별화</a:t>
            </a:r>
          </a:p>
          <a:p>
            <a:pPr algn="l"/>
            <a:r>
              <a:rPr sz="1400" b="0">
                <a:solidFill>
                  <a:srgbClr val="333333"/>
                </a:solidFill>
                <a:latin typeface="맑은 고딕"/>
              </a:rPr>
              <a:t/>
            </a:r>
          </a:p>
          <a:p>
            <a:pPr algn="l"/>
            <a:r>
              <a:rPr sz="1400" b="0">
                <a:solidFill>
                  <a:srgbClr val="333333"/>
                </a:solidFill>
                <a:latin typeface="맑은 고딕"/>
              </a:rPr>
              <a:t>✅  임직원 AI 친화도 ↑  → 기술 영입 attractive</a:t>
            </a:r>
          </a:p>
        </p:txBody>
      </p:sp>
      <p:sp>
        <p:nvSpPr>
          <p:cNvPr id="14" name="Rectangle 13"/>
          <p:cNvSpPr/>
          <p:nvPr/>
        </p:nvSpPr>
        <p:spPr>
          <a:xfrm>
            <a:off x="7589520" y="1645920"/>
            <a:ext cx="4069080" cy="4023360"/>
          </a:xfrm>
          <a:prstGeom prst="rect">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1828800"/>
            <a:ext cx="3703320" cy="457200"/>
          </a:xfrm>
          <a:prstGeom prst="rect">
            <a:avLst/>
          </a:prstGeom>
          <a:noFill/>
        </p:spPr>
        <p:txBody>
          <a:bodyPr wrap="square" lIns="45720" rIns="45720" tIns="18288" bIns="18288" anchor="t">
            <a:spAutoFit/>
          </a:bodyPr>
          <a:lstStyle/>
          <a:p>
            <a:pPr algn="l"/>
            <a:r>
              <a:rPr sz="1800" b="1">
                <a:solidFill>
                  <a:srgbClr val="102A4C"/>
                </a:solidFill>
                <a:latin typeface="맑은 고딕"/>
              </a:rPr>
              <a:t>비용 견적</a:t>
            </a:r>
          </a:p>
        </p:txBody>
      </p:sp>
      <p:sp>
        <p:nvSpPr>
          <p:cNvPr id="16" name="Rectangle 15"/>
          <p:cNvSpPr/>
          <p:nvPr/>
        </p:nvSpPr>
        <p:spPr>
          <a:xfrm>
            <a:off x="7772400" y="2423160"/>
            <a:ext cx="2377440" cy="3657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40" y="2423160"/>
            <a:ext cx="1325880" cy="36576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423160"/>
            <a:ext cx="2377440" cy="365760"/>
          </a:xfrm>
          <a:prstGeom prst="rect">
            <a:avLst/>
          </a:prstGeom>
          <a:noFill/>
        </p:spPr>
        <p:txBody>
          <a:bodyPr wrap="square" lIns="45720" rIns="45720" tIns="18288" bIns="18288" anchor="ctr">
            <a:spAutoFit/>
          </a:bodyPr>
          <a:lstStyle/>
          <a:p>
            <a:pPr algn="ctr"/>
            <a:r>
              <a:rPr sz="1200" b="1">
                <a:solidFill>
                  <a:srgbClr val="FFFFFF"/>
                </a:solidFill>
                <a:latin typeface="맑은 고딕"/>
              </a:rPr>
              <a:t>항목</a:t>
            </a:r>
          </a:p>
        </p:txBody>
      </p:sp>
      <p:sp>
        <p:nvSpPr>
          <p:cNvPr id="19" name="TextBox 18"/>
          <p:cNvSpPr txBox="1"/>
          <p:nvPr/>
        </p:nvSpPr>
        <p:spPr>
          <a:xfrm>
            <a:off x="10149840" y="2423160"/>
            <a:ext cx="1325880" cy="365760"/>
          </a:xfrm>
          <a:prstGeom prst="rect">
            <a:avLst/>
          </a:prstGeom>
          <a:noFill/>
        </p:spPr>
        <p:txBody>
          <a:bodyPr wrap="square" lIns="45720" rIns="45720" tIns="18288" bIns="18288" anchor="ctr">
            <a:spAutoFit/>
          </a:bodyPr>
          <a:lstStyle/>
          <a:p>
            <a:pPr algn="ctr"/>
            <a:r>
              <a:rPr sz="1200" b="1">
                <a:solidFill>
                  <a:srgbClr val="FFFFFF"/>
                </a:solidFill>
                <a:latin typeface="맑은 고딕"/>
              </a:rPr>
              <a:t>견적</a:t>
            </a:r>
          </a:p>
        </p:txBody>
      </p:sp>
      <p:sp>
        <p:nvSpPr>
          <p:cNvPr id="20" name="Rectangle 19"/>
          <p:cNvSpPr/>
          <p:nvPr/>
        </p:nvSpPr>
        <p:spPr>
          <a:xfrm>
            <a:off x="7772400" y="2788920"/>
            <a:ext cx="237744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149840" y="2788920"/>
            <a:ext cx="132588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2788920"/>
            <a:ext cx="2286000" cy="411480"/>
          </a:xfrm>
          <a:prstGeom prst="rect">
            <a:avLst/>
          </a:prstGeom>
          <a:noFill/>
        </p:spPr>
        <p:txBody>
          <a:bodyPr wrap="square" lIns="45720" rIns="45720" tIns="18288" bIns="18288" anchor="ctr">
            <a:spAutoFit/>
          </a:bodyPr>
          <a:lstStyle/>
          <a:p>
            <a:pPr algn="l"/>
            <a:r>
              <a:rPr sz="1100" b="0">
                <a:solidFill>
                  <a:srgbClr val="333333"/>
                </a:solidFill>
                <a:latin typeface="맑은 고딕"/>
              </a:rPr>
              <a:t>강사료 (14일 × 100만)</a:t>
            </a:r>
          </a:p>
        </p:txBody>
      </p:sp>
      <p:sp>
        <p:nvSpPr>
          <p:cNvPr id="23" name="TextBox 22"/>
          <p:cNvSpPr txBox="1"/>
          <p:nvPr/>
        </p:nvSpPr>
        <p:spPr>
          <a:xfrm>
            <a:off x="10149840" y="2788920"/>
            <a:ext cx="1325880" cy="411480"/>
          </a:xfrm>
          <a:prstGeom prst="rect">
            <a:avLst/>
          </a:prstGeom>
          <a:noFill/>
        </p:spPr>
        <p:txBody>
          <a:bodyPr wrap="square" lIns="45720" rIns="45720" tIns="18288" bIns="18288" anchor="ctr">
            <a:spAutoFit/>
          </a:bodyPr>
          <a:lstStyle/>
          <a:p>
            <a:pPr algn="ctr"/>
            <a:r>
              <a:rPr sz="1100" b="0">
                <a:solidFill>
                  <a:srgbClr val="333333"/>
                </a:solidFill>
                <a:latin typeface="맑은 고딕"/>
              </a:rPr>
              <a:t>1,400만</a:t>
            </a:r>
          </a:p>
        </p:txBody>
      </p:sp>
      <p:sp>
        <p:nvSpPr>
          <p:cNvPr id="24" name="Rectangle 23"/>
          <p:cNvSpPr/>
          <p:nvPr/>
        </p:nvSpPr>
        <p:spPr>
          <a:xfrm>
            <a:off x="7772400" y="3200400"/>
            <a:ext cx="2377440" cy="41148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49840" y="3200400"/>
            <a:ext cx="1325880" cy="41148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3200400"/>
            <a:ext cx="2286000" cy="411480"/>
          </a:xfrm>
          <a:prstGeom prst="rect">
            <a:avLst/>
          </a:prstGeom>
          <a:noFill/>
        </p:spPr>
        <p:txBody>
          <a:bodyPr wrap="square" lIns="45720" rIns="45720" tIns="18288" bIns="18288" anchor="ctr">
            <a:spAutoFit/>
          </a:bodyPr>
          <a:lstStyle/>
          <a:p>
            <a:pPr algn="l"/>
            <a:r>
              <a:rPr sz="1100" b="0">
                <a:solidFill>
                  <a:srgbClr val="333333"/>
                </a:solidFill>
                <a:latin typeface="맑은 고딕"/>
              </a:rPr>
              <a:t>TinyML 보드·sensor</a:t>
            </a:r>
          </a:p>
        </p:txBody>
      </p:sp>
      <p:sp>
        <p:nvSpPr>
          <p:cNvPr id="27" name="TextBox 26"/>
          <p:cNvSpPr txBox="1"/>
          <p:nvPr/>
        </p:nvSpPr>
        <p:spPr>
          <a:xfrm>
            <a:off x="10149840" y="3200400"/>
            <a:ext cx="1325880" cy="411480"/>
          </a:xfrm>
          <a:prstGeom prst="rect">
            <a:avLst/>
          </a:prstGeom>
          <a:noFill/>
        </p:spPr>
        <p:txBody>
          <a:bodyPr wrap="square" lIns="45720" rIns="45720" tIns="18288" bIns="18288" anchor="ctr">
            <a:spAutoFit/>
          </a:bodyPr>
          <a:lstStyle/>
          <a:p>
            <a:pPr algn="ctr"/>
            <a:r>
              <a:rPr sz="1100" b="0">
                <a:solidFill>
                  <a:srgbClr val="333333"/>
                </a:solidFill>
                <a:latin typeface="맑은 고딕"/>
              </a:rPr>
              <a:t>200~300만</a:t>
            </a:r>
          </a:p>
        </p:txBody>
      </p:sp>
      <p:sp>
        <p:nvSpPr>
          <p:cNvPr id="28" name="Rectangle 27"/>
          <p:cNvSpPr/>
          <p:nvPr/>
        </p:nvSpPr>
        <p:spPr>
          <a:xfrm>
            <a:off x="7772400" y="3611879"/>
            <a:ext cx="2377440" cy="5029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0149840" y="3611879"/>
            <a:ext cx="1325880" cy="5029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0" y="3611879"/>
            <a:ext cx="2286000" cy="502920"/>
          </a:xfrm>
          <a:prstGeom prst="rect">
            <a:avLst/>
          </a:prstGeom>
          <a:noFill/>
        </p:spPr>
        <p:txBody>
          <a:bodyPr wrap="square" lIns="45720" rIns="45720" tIns="18288" bIns="18288" anchor="ctr">
            <a:spAutoFit/>
          </a:bodyPr>
          <a:lstStyle/>
          <a:p>
            <a:pPr algn="l"/>
            <a:r>
              <a:rPr sz="1400" b="1">
                <a:solidFill>
                  <a:srgbClr val="FFFFFF"/>
                </a:solidFill>
                <a:latin typeface="맑은 고딕"/>
              </a:rPr>
              <a:t>합계</a:t>
            </a:r>
          </a:p>
        </p:txBody>
      </p:sp>
      <p:sp>
        <p:nvSpPr>
          <p:cNvPr id="31" name="TextBox 30"/>
          <p:cNvSpPr txBox="1"/>
          <p:nvPr/>
        </p:nvSpPr>
        <p:spPr>
          <a:xfrm>
            <a:off x="10149840" y="3611879"/>
            <a:ext cx="1325880" cy="502920"/>
          </a:xfrm>
          <a:prstGeom prst="rect">
            <a:avLst/>
          </a:prstGeom>
          <a:noFill/>
        </p:spPr>
        <p:txBody>
          <a:bodyPr wrap="square" lIns="45720" rIns="45720" tIns="18288" bIns="18288" anchor="ctr">
            <a:spAutoFit/>
          </a:bodyPr>
          <a:lstStyle/>
          <a:p>
            <a:pPr algn="ctr"/>
            <a:r>
              <a:rPr sz="1200" b="1">
                <a:solidFill>
                  <a:srgbClr val="FFFFFF"/>
                </a:solidFill>
                <a:latin typeface="맑은 고딕"/>
              </a:rPr>
              <a:t>1,600~1,700만</a:t>
            </a:r>
          </a:p>
        </p:txBody>
      </p:sp>
      <p:sp>
        <p:nvSpPr>
          <p:cNvPr id="32" name="Rectangle 31"/>
          <p:cNvSpPr/>
          <p:nvPr/>
        </p:nvSpPr>
        <p:spPr>
          <a:xfrm>
            <a:off x="7772400" y="4572000"/>
            <a:ext cx="3703320" cy="1051560"/>
          </a:xfrm>
          <a:prstGeom prst="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4663440"/>
            <a:ext cx="3611880" cy="365760"/>
          </a:xfrm>
          <a:prstGeom prst="rect">
            <a:avLst/>
          </a:prstGeom>
          <a:noFill/>
        </p:spPr>
        <p:txBody>
          <a:bodyPr wrap="square" lIns="45720" rIns="45720" tIns="18288" bIns="18288" anchor="t">
            <a:spAutoFit/>
          </a:bodyPr>
          <a:lstStyle/>
          <a:p>
            <a:pPr algn="l"/>
            <a:r>
              <a:rPr sz="1300" b="1">
                <a:solidFill>
                  <a:srgbClr val="102A4C"/>
                </a:solidFill>
                <a:latin typeface="맑은 고딕"/>
              </a:rPr>
              <a:t>💡 정부지원 활용 시</a:t>
            </a:r>
          </a:p>
        </p:txBody>
      </p:sp>
      <p:sp>
        <p:nvSpPr>
          <p:cNvPr id="34" name="TextBox 33"/>
          <p:cNvSpPr txBox="1"/>
          <p:nvPr/>
        </p:nvSpPr>
        <p:spPr>
          <a:xfrm>
            <a:off x="7863840" y="5029200"/>
            <a:ext cx="3611880" cy="548640"/>
          </a:xfrm>
          <a:prstGeom prst="rect">
            <a:avLst/>
          </a:prstGeom>
          <a:noFill/>
        </p:spPr>
        <p:txBody>
          <a:bodyPr wrap="square" lIns="45720" rIns="45720" tIns="18288" bIns="18288" anchor="t">
            <a:spAutoFit/>
          </a:bodyPr>
          <a:lstStyle/>
          <a:p>
            <a:pPr algn="l"/>
            <a:r>
              <a:rPr sz="1100" b="0">
                <a:solidFill>
                  <a:srgbClr val="333333"/>
                </a:solidFill>
                <a:latin typeface="맑은 고딕"/>
              </a:rPr>
              <a:t>중기부 디지털 인재 양성</a:t>
            </a:r>
          </a:p>
          <a:p>
            <a:pPr algn="l"/>
            <a:r>
              <a:rPr sz="1100" b="0">
                <a:solidFill>
                  <a:srgbClr val="333333"/>
                </a:solidFill>
                <a:latin typeface="맑은 고딕"/>
              </a:rPr>
              <a:t>70~80% 환급 가능 (신청 후 6개월 lead)</a:t>
            </a:r>
          </a:p>
        </p:txBody>
      </p:sp>
      <p:sp>
        <p:nvSpPr>
          <p:cNvPr id="35" name="TextBox 34"/>
          <p:cNvSpPr txBox="1"/>
          <p:nvPr/>
        </p:nvSpPr>
        <p:spPr>
          <a:xfrm>
            <a:off x="548640" y="5852160"/>
            <a:ext cx="11109960" cy="457200"/>
          </a:xfrm>
          <a:prstGeom prst="rect">
            <a:avLst/>
          </a:prstGeom>
          <a:noFill/>
        </p:spPr>
        <p:txBody>
          <a:bodyPr wrap="square" lIns="45720" rIns="45720" tIns="18288" bIns="18288" anchor="t">
            <a:spAutoFit/>
          </a:bodyPr>
          <a:lstStyle/>
          <a:p>
            <a:pPr algn="ctr"/>
            <a:r>
              <a:rPr sz="1400" b="1">
                <a:solidFill>
                  <a:srgbClr val="102A4C"/>
                </a:solidFill>
                <a:latin typeface="맑은 고딕"/>
              </a:rPr>
              <a:t>ROI: 국책과제 1건 절감 + 신제품 PoC 차별화 = 1~2년 내 회수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457200"/>
          </a:xfrm>
          <a:prstGeom prst="rect">
            <a:avLst/>
          </a:prstGeom>
          <a:noFill/>
        </p:spPr>
        <p:txBody>
          <a:bodyPr wrap="square" lIns="45720" rIns="45720" tIns="18288" bIns="18288" anchor="t">
            <a:spAutoFit/>
          </a:bodyPr>
          <a:lstStyle/>
          <a:p>
            <a:pPr algn="l"/>
            <a:r>
              <a:rPr sz="2800" b="1">
                <a:solidFill>
                  <a:srgbClr val="F17A21"/>
                </a:solidFill>
                <a:latin typeface="맑은 고딕"/>
              </a:rPr>
              <a:t>다음 단계</a:t>
            </a:r>
          </a:p>
        </p:txBody>
      </p:sp>
      <p:sp>
        <p:nvSpPr>
          <p:cNvPr id="5" name="Rectangle 4"/>
          <p:cNvSpPr/>
          <p:nvPr/>
        </p:nvSpPr>
        <p:spPr>
          <a:xfrm>
            <a:off x="548640" y="1371600"/>
            <a:ext cx="3520440" cy="18288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0" y="1554480"/>
            <a:ext cx="960120" cy="9601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5544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1</a:t>
            </a:r>
          </a:p>
        </p:txBody>
      </p:sp>
      <p:sp>
        <p:nvSpPr>
          <p:cNvPr id="8" name="TextBox 7"/>
          <p:cNvSpPr txBox="1"/>
          <p:nvPr/>
        </p:nvSpPr>
        <p:spPr>
          <a:xfrm>
            <a:off x="548640" y="2651760"/>
            <a:ext cx="3520440" cy="320040"/>
          </a:xfrm>
          <a:prstGeom prst="rect">
            <a:avLst/>
          </a:prstGeom>
          <a:noFill/>
        </p:spPr>
        <p:txBody>
          <a:bodyPr wrap="square" lIns="45720" rIns="45720" tIns="18288" bIns="18288" anchor="t">
            <a:spAutoFit/>
          </a:bodyPr>
          <a:lstStyle/>
          <a:p>
            <a:pPr algn="ctr"/>
            <a:r>
              <a:rPr sz="1500" b="1">
                <a:solidFill>
                  <a:srgbClr val="FFFFFF"/>
                </a:solidFill>
                <a:latin typeface="맑은 고딕"/>
              </a:rPr>
              <a:t>본 영상 + 커리큘럼 검토</a:t>
            </a:r>
          </a:p>
        </p:txBody>
      </p:sp>
      <p:sp>
        <p:nvSpPr>
          <p:cNvPr id="9" name="TextBox 8"/>
          <p:cNvSpPr txBox="1"/>
          <p:nvPr/>
        </p:nvSpPr>
        <p:spPr>
          <a:xfrm>
            <a:off x="548640" y="2971800"/>
            <a:ext cx="3520440" cy="274320"/>
          </a:xfrm>
          <a:prstGeom prst="rect">
            <a:avLst/>
          </a:prstGeom>
          <a:noFill/>
        </p:spPr>
        <p:txBody>
          <a:bodyPr wrap="square" lIns="45720" rIns="45720" tIns="18288" bIns="18288" anchor="t">
            <a:spAutoFit/>
          </a:bodyPr>
          <a:lstStyle/>
          <a:p>
            <a:pPr algn="ctr"/>
            <a:r>
              <a:rPr sz="1100" b="0">
                <a:solidFill>
                  <a:srgbClr val="E0E0E0"/>
                </a:solidFill>
                <a:latin typeface="맑은 고딕"/>
              </a:rPr>
              <a:t>한국기계 측 — 내용·일정·예산</a:t>
            </a:r>
          </a:p>
        </p:txBody>
      </p:sp>
      <p:sp>
        <p:nvSpPr>
          <p:cNvPr id="10" name="Rectangle 9"/>
          <p:cNvSpPr/>
          <p:nvPr/>
        </p:nvSpPr>
        <p:spPr>
          <a:xfrm>
            <a:off x="4343400" y="1371600"/>
            <a:ext cx="3520440" cy="18288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23560" y="1554480"/>
            <a:ext cx="960120" cy="9601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23560" y="15544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2</a:t>
            </a:r>
          </a:p>
        </p:txBody>
      </p:sp>
      <p:sp>
        <p:nvSpPr>
          <p:cNvPr id="13" name="TextBox 12"/>
          <p:cNvSpPr txBox="1"/>
          <p:nvPr/>
        </p:nvSpPr>
        <p:spPr>
          <a:xfrm>
            <a:off x="4343400" y="2651760"/>
            <a:ext cx="3520440" cy="320040"/>
          </a:xfrm>
          <a:prstGeom prst="rect">
            <a:avLst/>
          </a:prstGeom>
          <a:noFill/>
        </p:spPr>
        <p:txBody>
          <a:bodyPr wrap="square" lIns="45720" rIns="45720" tIns="18288" bIns="18288" anchor="t">
            <a:spAutoFit/>
          </a:bodyPr>
          <a:lstStyle/>
          <a:p>
            <a:pPr algn="ctr"/>
            <a:r>
              <a:rPr sz="1500" b="1">
                <a:solidFill>
                  <a:srgbClr val="FFFFFF"/>
                </a:solidFill>
                <a:latin typeface="맑은 고딕"/>
              </a:rPr>
              <a:t>사전 미팅</a:t>
            </a:r>
          </a:p>
        </p:txBody>
      </p:sp>
      <p:sp>
        <p:nvSpPr>
          <p:cNvPr id="14" name="TextBox 13"/>
          <p:cNvSpPr txBox="1"/>
          <p:nvPr/>
        </p:nvSpPr>
        <p:spPr>
          <a:xfrm>
            <a:off x="4343400" y="2971800"/>
            <a:ext cx="3520440" cy="274320"/>
          </a:xfrm>
          <a:prstGeom prst="rect">
            <a:avLst/>
          </a:prstGeom>
          <a:noFill/>
        </p:spPr>
        <p:txBody>
          <a:bodyPr wrap="square" lIns="45720" rIns="45720" tIns="18288" bIns="18288" anchor="t">
            <a:spAutoFit/>
          </a:bodyPr>
          <a:lstStyle/>
          <a:p>
            <a:pPr algn="ctr"/>
            <a:r>
              <a:rPr sz="1100" b="0">
                <a:solidFill>
                  <a:srgbClr val="E0E0E0"/>
                </a:solidFill>
                <a:latin typeface="맑은 고딕"/>
              </a:rPr>
              <a:t>수강생 명단 · 일정 · 노트북 사양</a:t>
            </a:r>
          </a:p>
        </p:txBody>
      </p:sp>
      <p:sp>
        <p:nvSpPr>
          <p:cNvPr id="15" name="Rectangle 14"/>
          <p:cNvSpPr/>
          <p:nvPr/>
        </p:nvSpPr>
        <p:spPr>
          <a:xfrm>
            <a:off x="8138160" y="1371600"/>
            <a:ext cx="3520440" cy="1828800"/>
          </a:xfrm>
          <a:prstGeom prst="rect">
            <a:avLst/>
          </a:prstGeom>
          <a:solidFill>
            <a:srgbClr val="1E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418320" y="1554480"/>
            <a:ext cx="960120" cy="960120"/>
          </a:xfrm>
          <a:prstGeom prst="rect">
            <a:avLst/>
          </a:prstGeom>
          <a:solidFill>
            <a:srgbClr val="F17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1554480"/>
            <a:ext cx="960120" cy="960120"/>
          </a:xfrm>
          <a:prstGeom prst="rect">
            <a:avLst/>
          </a:prstGeom>
          <a:noFill/>
        </p:spPr>
        <p:txBody>
          <a:bodyPr wrap="square" lIns="45720" rIns="45720" tIns="18288" bIns="18288" anchor="ctr">
            <a:spAutoFit/>
          </a:bodyPr>
          <a:lstStyle/>
          <a:p>
            <a:pPr algn="ctr"/>
            <a:r>
              <a:rPr sz="4400" b="1">
                <a:solidFill>
                  <a:srgbClr val="FFFFFF"/>
                </a:solidFill>
                <a:latin typeface="맑은 고딕"/>
              </a:rPr>
              <a:t>3</a:t>
            </a:r>
          </a:p>
        </p:txBody>
      </p:sp>
      <p:sp>
        <p:nvSpPr>
          <p:cNvPr id="18" name="TextBox 17"/>
          <p:cNvSpPr txBox="1"/>
          <p:nvPr/>
        </p:nvSpPr>
        <p:spPr>
          <a:xfrm>
            <a:off x="8138160" y="2651760"/>
            <a:ext cx="3520440" cy="320040"/>
          </a:xfrm>
          <a:prstGeom prst="rect">
            <a:avLst/>
          </a:prstGeom>
          <a:noFill/>
        </p:spPr>
        <p:txBody>
          <a:bodyPr wrap="square" lIns="45720" rIns="45720" tIns="18288" bIns="18288" anchor="t">
            <a:spAutoFit/>
          </a:bodyPr>
          <a:lstStyle/>
          <a:p>
            <a:pPr algn="ctr"/>
            <a:r>
              <a:rPr sz="1500" b="1">
                <a:solidFill>
                  <a:srgbClr val="FFFFFF"/>
                </a:solidFill>
                <a:latin typeface="맑은 고딕"/>
              </a:rPr>
              <a:t>교육 시작</a:t>
            </a:r>
          </a:p>
        </p:txBody>
      </p:sp>
      <p:sp>
        <p:nvSpPr>
          <p:cNvPr id="19" name="TextBox 18"/>
          <p:cNvSpPr txBox="1"/>
          <p:nvPr/>
        </p:nvSpPr>
        <p:spPr>
          <a:xfrm>
            <a:off x="8138160" y="2971800"/>
            <a:ext cx="3520440" cy="274320"/>
          </a:xfrm>
          <a:prstGeom prst="rect">
            <a:avLst/>
          </a:prstGeom>
          <a:noFill/>
        </p:spPr>
        <p:txBody>
          <a:bodyPr wrap="square" lIns="45720" rIns="45720" tIns="18288" bIns="18288" anchor="t">
            <a:spAutoFit/>
          </a:bodyPr>
          <a:lstStyle/>
          <a:p>
            <a:pPr algn="ctr"/>
            <a:r>
              <a:rPr sz="1100" b="0">
                <a:solidFill>
                  <a:srgbClr val="E0E0E0"/>
                </a:solidFill>
                <a:latin typeface="맑은 고딕"/>
              </a:rPr>
              <a:t>2주 전 사전 환경 점검 → 첫 강의</a:t>
            </a:r>
          </a:p>
        </p:txBody>
      </p:sp>
      <p:sp>
        <p:nvSpPr>
          <p:cNvPr id="20" name="TextBox 19"/>
          <p:cNvSpPr txBox="1"/>
          <p:nvPr/>
        </p:nvSpPr>
        <p:spPr>
          <a:xfrm>
            <a:off x="548640" y="3657600"/>
            <a:ext cx="11109960" cy="914400"/>
          </a:xfrm>
          <a:prstGeom prst="rect">
            <a:avLst/>
          </a:prstGeom>
          <a:noFill/>
        </p:spPr>
        <p:txBody>
          <a:bodyPr wrap="square" lIns="45720" rIns="45720" tIns="18288" bIns="18288" anchor="t">
            <a:spAutoFit/>
          </a:bodyPr>
          <a:lstStyle/>
          <a:p>
            <a:pPr algn="ctr"/>
            <a:r>
              <a:rPr sz="4400" b="1">
                <a:solidFill>
                  <a:srgbClr val="FFFFFF"/>
                </a:solidFill>
                <a:latin typeface="맑은 고딕"/>
              </a:rPr>
              <a:t>한국기계의 AI 도입</a:t>
            </a:r>
          </a:p>
        </p:txBody>
      </p:sp>
      <p:sp>
        <p:nvSpPr>
          <p:cNvPr id="21" name="TextBox 20"/>
          <p:cNvSpPr txBox="1"/>
          <p:nvPr/>
        </p:nvSpPr>
        <p:spPr>
          <a:xfrm>
            <a:off x="548640" y="4526280"/>
            <a:ext cx="11109960" cy="548640"/>
          </a:xfrm>
          <a:prstGeom prst="rect">
            <a:avLst/>
          </a:prstGeom>
          <a:noFill/>
        </p:spPr>
        <p:txBody>
          <a:bodyPr wrap="square" lIns="45720" rIns="45720" tIns="18288" bIns="18288" anchor="t">
            <a:spAutoFit/>
          </a:bodyPr>
          <a:lstStyle/>
          <a:p>
            <a:pPr algn="ctr"/>
            <a:r>
              <a:rPr sz="2200" b="0">
                <a:solidFill>
                  <a:srgbClr val="F17A21"/>
                </a:solidFill>
                <a:latin typeface="맑은 고딕"/>
              </a:rPr>
              <a:t>보안  ·  효율  ·  비전  ·  함께 만들어 가겠습니다</a:t>
            </a:r>
          </a:p>
        </p:txBody>
      </p:sp>
      <p:sp>
        <p:nvSpPr>
          <p:cNvPr id="22" name="Rectangle 21"/>
          <p:cNvSpPr/>
          <p:nvPr/>
        </p:nvSpPr>
        <p:spPr>
          <a:xfrm>
            <a:off x="548640" y="5349240"/>
            <a:ext cx="11109960" cy="6400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60"/>
            <a:ext cx="11109960" cy="548640"/>
          </a:xfrm>
          <a:prstGeom prst="rect">
            <a:avLst/>
          </a:prstGeom>
          <a:noFill/>
        </p:spPr>
        <p:txBody>
          <a:bodyPr wrap="square" lIns="45720" rIns="45720" tIns="18288" bIns="18288" anchor="ctr">
            <a:spAutoFit/>
          </a:bodyPr>
          <a:lstStyle/>
          <a:p>
            <a:pPr algn="ctr"/>
            <a:r>
              <a:rPr sz="2000" b="1">
                <a:solidFill>
                  <a:srgbClr val="FFFFFF"/>
                </a:solidFill>
                <a:latin typeface="맑은 고딕"/>
              </a:rPr>
              <a:t>🔒  회사 고유 기술 · 외부 노출 0% 보장</a:t>
            </a:r>
          </a:p>
        </p:txBody>
      </p:sp>
      <p:sp>
        <p:nvSpPr>
          <p:cNvPr id="24" name="TextBox 23"/>
          <p:cNvSpPr txBox="1"/>
          <p:nvPr/>
        </p:nvSpPr>
        <p:spPr>
          <a:xfrm>
            <a:off x="548640" y="6217920"/>
            <a:ext cx="11109960" cy="274320"/>
          </a:xfrm>
          <a:prstGeom prst="rect">
            <a:avLst/>
          </a:prstGeom>
          <a:noFill/>
        </p:spPr>
        <p:txBody>
          <a:bodyPr wrap="square" lIns="45720" rIns="45720" tIns="18288" bIns="18288" anchor="t">
            <a:spAutoFit/>
          </a:bodyPr>
          <a:lstStyle/>
          <a:p>
            <a:pPr algn="ctr"/>
            <a:r>
              <a:rPr sz="1400" b="0">
                <a:solidFill>
                  <a:srgbClr val="FFFFFF"/>
                </a:solidFill>
                <a:latin typeface="맑은 고딕"/>
              </a:rPr>
              <a:t>UTTEC · 홍광선  ihong9059@gmail.com · 010-2401-9059</a:t>
            </a:r>
          </a:p>
        </p:txBody>
      </p:sp>
      <p:sp>
        <p:nvSpPr>
          <p:cNvPr id="25" name="TextBox 24"/>
          <p:cNvSpPr txBox="1"/>
          <p:nvPr/>
        </p:nvSpPr>
        <p:spPr>
          <a:xfrm>
            <a:off x="548640" y="6537960"/>
            <a:ext cx="11109960" cy="228600"/>
          </a:xfrm>
          <a:prstGeom prst="rect">
            <a:avLst/>
          </a:prstGeom>
          <a:noFill/>
        </p:spPr>
        <p:txBody>
          <a:bodyPr wrap="square" lIns="45720" rIns="45720" tIns="18288" bIns="18288" anchor="t">
            <a:spAutoFit/>
          </a:bodyPr>
          <a:lstStyle/>
          <a:p>
            <a:pPr algn="ctr"/>
            <a:r>
              <a:rPr sz="1100" b="0">
                <a:solidFill>
                  <a:srgbClr val="E0E0E0"/>
                </a:solidFill>
                <a:latin typeface="맑은 고딕"/>
              </a:rPr>
              <a:t>본 영상 + 커리큘럼.md + 슬라이드.pptx 전부 제공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