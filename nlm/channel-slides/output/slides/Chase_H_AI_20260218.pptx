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029200" y="1097280"/>
            <a:ext cx="2133295" cy="2133295"/>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657600"/>
            <a:ext cx="11277295" cy="1097280"/>
          </a:xfrm>
          <a:prstGeom prst="rect">
            <a:avLst/>
          </a:prstGeom>
          <a:noFill/>
        </p:spPr>
        <p:txBody>
          <a:bodyPr wrap="none">
            <a:spAutoFit/>
          </a:bodyPr>
          <a:lstStyle/>
          <a:p>
            <a:pPr algn="ctr">
              <a:defRPr sz="4800" b="1">
                <a:solidFill>
                  <a:srgbClr val="FFFFFF"/>
                </a:solidFill>
                <a:latin typeface="Sora"/>
              </a:defRPr>
            </a:pPr>
            <a:r>
              <a:t>Chase H AI</a:t>
            </a:r>
          </a:p>
        </p:txBody>
      </p:sp>
      <p:sp>
        <p:nvSpPr>
          <p:cNvPr id="6" name="TextBox 5"/>
          <p:cNvSpPr txBox="1"/>
          <p:nvPr/>
        </p:nvSpPr>
        <p:spPr>
          <a:xfrm>
            <a:off x="457200" y="4846320"/>
            <a:ext cx="11277295" cy="457200"/>
          </a:xfrm>
          <a:prstGeom prst="rect">
            <a:avLst/>
          </a:prstGeom>
          <a:noFill/>
        </p:spPr>
        <p:txBody>
          <a:bodyPr wrap="none">
            <a:spAutoFit/>
          </a:bodyPr>
          <a:lstStyle/>
          <a:p>
            <a:pPr algn="ctr">
              <a:defRPr sz="2000">
                <a:solidFill>
                  <a:srgbClr val="A5B4FC"/>
                </a:solidFill>
                <a:latin typeface="Sora"/>
              </a:defRPr>
            </a:pPr>
            <a:r>
              <a:t>4 Videos Analyzed</a:t>
            </a:r>
          </a:p>
        </p:txBody>
      </p:sp>
      <p:sp>
        <p:nvSpPr>
          <p:cNvPr id="7" name="TextBox 6"/>
          <p:cNvSpPr txBox="1"/>
          <p:nvPr/>
        </p:nvSpPr>
        <p:spPr>
          <a:xfrm>
            <a:off x="457200" y="5486400"/>
            <a:ext cx="11277295" cy="365760"/>
          </a:xfrm>
          <a:prstGeom prst="rect">
            <a:avLst/>
          </a:prstGeom>
          <a:noFill/>
        </p:spPr>
        <p:txBody>
          <a:bodyPr wrap="none">
            <a:spAutoFit/>
          </a:bodyPr>
          <a:lstStyle/>
          <a:p>
            <a:pPr algn="ctr">
              <a:defRPr sz="1400">
                <a:solidFill>
                  <a:srgbClr val="94A3B8"/>
                </a:solidFill>
                <a:latin typeface="Sora"/>
              </a:defRPr>
            </a:pPr>
            <a:r>
              <a:t>2026-02-18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37160" cy="50292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411480"/>
            <a:ext cx="10058400" cy="640080"/>
          </a:xfrm>
          <a:prstGeom prst="rect">
            <a:avLst/>
          </a:prstGeom>
          <a:noFill/>
        </p:spPr>
        <p:txBody>
          <a:bodyPr wrap="none">
            <a:spAutoFit/>
          </a:bodyPr>
          <a:lstStyle/>
          <a:p>
            <a:pPr>
              <a:defRPr sz="2600" b="1">
                <a:solidFill>
                  <a:srgbClr val="FFFFFF"/>
                </a:solidFill>
                <a:latin typeface="Sora"/>
              </a:defRPr>
            </a:pPr>
            <a:r>
              <a:t>VIDEOS</a:t>
            </a:r>
          </a:p>
        </p:txBody>
      </p:sp>
      <p:sp>
        <p:nvSpPr>
          <p:cNvPr id="5" name="Rounded Rectangle 4"/>
          <p:cNvSpPr/>
          <p:nvPr/>
        </p:nvSpPr>
        <p:spPr>
          <a:xfrm>
            <a:off x="914400" y="1645920"/>
            <a:ext cx="10362895" cy="548640"/>
          </a:xfrm>
          <a:prstGeom prst="roundRect">
            <a:avLst/>
          </a:prstGeom>
          <a:solidFill>
            <a:srgbClr val="25253A"/>
          </a:solidFill>
          <a:ln w="12700">
            <a:solidFill>
              <a:srgbClr val="3D3D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737360"/>
            <a:ext cx="457200" cy="365760"/>
          </a:xfrm>
          <a:prstGeom prst="rect">
            <a:avLst/>
          </a:prstGeom>
          <a:noFill/>
        </p:spPr>
        <p:txBody>
          <a:bodyPr wrap="none">
            <a:spAutoFit/>
          </a:bodyPr>
          <a:lstStyle/>
          <a:p>
            <a:pPr>
              <a:defRPr sz="1600" b="1">
                <a:solidFill>
                  <a:srgbClr val="6366F1"/>
                </a:solidFill>
                <a:latin typeface="Sora"/>
              </a:defRPr>
            </a:pPr>
            <a:r>
              <a:t>01</a:t>
            </a:r>
          </a:p>
        </p:txBody>
      </p:sp>
      <p:sp>
        <p:nvSpPr>
          <p:cNvPr id="7" name="TextBox 6"/>
          <p:cNvSpPr txBox="1"/>
          <p:nvPr/>
        </p:nvSpPr>
        <p:spPr>
          <a:xfrm>
            <a:off x="1920240" y="1737360"/>
            <a:ext cx="8686800" cy="365760"/>
          </a:xfrm>
          <a:prstGeom prst="rect">
            <a:avLst/>
          </a:prstGeom>
          <a:noFill/>
        </p:spPr>
        <p:txBody>
          <a:bodyPr wrap="none">
            <a:spAutoFit/>
          </a:bodyPr>
          <a:lstStyle/>
          <a:p>
            <a:pPr>
              <a:defRPr sz="1400">
                <a:solidFill>
                  <a:srgbClr val="FFFFFF"/>
                </a:solidFill>
                <a:latin typeface="Sora"/>
              </a:defRPr>
            </a:pPr>
            <a:r>
              <a:t>Claude Sonnet 4.6 Is Here (and Better Than Opus?)</a:t>
            </a:r>
          </a:p>
        </p:txBody>
      </p:sp>
      <p:sp>
        <p:nvSpPr>
          <p:cNvPr id="8" name="Rounded Rectangle 7"/>
          <p:cNvSpPr/>
          <p:nvPr/>
        </p:nvSpPr>
        <p:spPr>
          <a:xfrm>
            <a:off x="914400" y="2286000"/>
            <a:ext cx="10362895" cy="548640"/>
          </a:xfrm>
          <a:prstGeom prst="roundRect">
            <a:avLst/>
          </a:prstGeom>
          <a:solidFill>
            <a:srgbClr val="25253A"/>
          </a:solidFill>
          <a:ln w="12700">
            <a:solidFill>
              <a:srgbClr val="3D3D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88720" y="2377440"/>
            <a:ext cx="457200" cy="365760"/>
          </a:xfrm>
          <a:prstGeom prst="rect">
            <a:avLst/>
          </a:prstGeom>
          <a:noFill/>
        </p:spPr>
        <p:txBody>
          <a:bodyPr wrap="none">
            <a:spAutoFit/>
          </a:bodyPr>
          <a:lstStyle/>
          <a:p>
            <a:pPr>
              <a:defRPr sz="1600" b="1">
                <a:solidFill>
                  <a:srgbClr val="6366F1"/>
                </a:solidFill>
                <a:latin typeface="Sora"/>
              </a:defRPr>
            </a:pPr>
            <a:r>
              <a:t>02</a:t>
            </a:r>
          </a:p>
        </p:txBody>
      </p:sp>
      <p:sp>
        <p:nvSpPr>
          <p:cNvPr id="10" name="TextBox 9"/>
          <p:cNvSpPr txBox="1"/>
          <p:nvPr/>
        </p:nvSpPr>
        <p:spPr>
          <a:xfrm>
            <a:off x="1920240" y="2377440"/>
            <a:ext cx="8686800" cy="365760"/>
          </a:xfrm>
          <a:prstGeom prst="rect">
            <a:avLst/>
          </a:prstGeom>
          <a:noFill/>
        </p:spPr>
        <p:txBody>
          <a:bodyPr wrap="none">
            <a:spAutoFit/>
          </a:bodyPr>
          <a:lstStyle/>
          <a:p>
            <a:pPr>
              <a:defRPr sz="1400">
                <a:solidFill>
                  <a:srgbClr val="FFFFFF"/>
                </a:solidFill>
                <a:latin typeface="Sora"/>
              </a:defRPr>
            </a:pPr>
            <a:r>
              <a:t>I used to build everything in n8n, here's why I stopped (mos</a:t>
            </a:r>
          </a:p>
        </p:txBody>
      </p:sp>
      <p:sp>
        <p:nvSpPr>
          <p:cNvPr id="11" name="Rounded Rectangle 10"/>
          <p:cNvSpPr/>
          <p:nvPr/>
        </p:nvSpPr>
        <p:spPr>
          <a:xfrm>
            <a:off x="914400" y="2926080"/>
            <a:ext cx="10362895" cy="548640"/>
          </a:xfrm>
          <a:prstGeom prst="roundRect">
            <a:avLst/>
          </a:prstGeom>
          <a:solidFill>
            <a:srgbClr val="25253A"/>
          </a:solidFill>
          <a:ln w="12700">
            <a:solidFill>
              <a:srgbClr val="3D3D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88720" y="3017520"/>
            <a:ext cx="457200" cy="365760"/>
          </a:xfrm>
          <a:prstGeom prst="rect">
            <a:avLst/>
          </a:prstGeom>
          <a:noFill/>
        </p:spPr>
        <p:txBody>
          <a:bodyPr wrap="none">
            <a:spAutoFit/>
          </a:bodyPr>
          <a:lstStyle/>
          <a:p>
            <a:pPr>
              <a:defRPr sz="1600" b="1">
                <a:solidFill>
                  <a:srgbClr val="6366F1"/>
                </a:solidFill>
                <a:latin typeface="Sora"/>
              </a:defRPr>
            </a:pPr>
            <a:r>
              <a:t>03</a:t>
            </a:r>
          </a:p>
        </p:txBody>
      </p:sp>
      <p:sp>
        <p:nvSpPr>
          <p:cNvPr id="13" name="TextBox 12"/>
          <p:cNvSpPr txBox="1"/>
          <p:nvPr/>
        </p:nvSpPr>
        <p:spPr>
          <a:xfrm>
            <a:off x="1920240" y="3017520"/>
            <a:ext cx="8686800" cy="365760"/>
          </a:xfrm>
          <a:prstGeom prst="rect">
            <a:avLst/>
          </a:prstGeom>
          <a:noFill/>
        </p:spPr>
        <p:txBody>
          <a:bodyPr wrap="none">
            <a:spAutoFit/>
          </a:bodyPr>
          <a:lstStyle/>
          <a:p>
            <a:pPr>
              <a:defRPr sz="1400">
                <a:solidFill>
                  <a:srgbClr val="FFFFFF"/>
                </a:solidFill>
                <a:latin typeface="Sora"/>
              </a:defRPr>
            </a:pPr>
            <a:r>
              <a:t>i converted all my n8n agents to real code and it was stupid</a:t>
            </a:r>
          </a:p>
        </p:txBody>
      </p:sp>
      <p:sp>
        <p:nvSpPr>
          <p:cNvPr id="14" name="Rounded Rectangle 13"/>
          <p:cNvSpPr/>
          <p:nvPr/>
        </p:nvSpPr>
        <p:spPr>
          <a:xfrm>
            <a:off x="914400" y="3566160"/>
            <a:ext cx="10362895" cy="548640"/>
          </a:xfrm>
          <a:prstGeom prst="roundRect">
            <a:avLst/>
          </a:prstGeom>
          <a:solidFill>
            <a:srgbClr val="25253A"/>
          </a:solidFill>
          <a:ln w="12700">
            <a:solidFill>
              <a:srgbClr val="3D3D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88720" y="3657600"/>
            <a:ext cx="457200" cy="365760"/>
          </a:xfrm>
          <a:prstGeom prst="rect">
            <a:avLst/>
          </a:prstGeom>
          <a:noFill/>
        </p:spPr>
        <p:txBody>
          <a:bodyPr wrap="none">
            <a:spAutoFit/>
          </a:bodyPr>
          <a:lstStyle/>
          <a:p>
            <a:pPr>
              <a:defRPr sz="1600" b="1">
                <a:solidFill>
                  <a:srgbClr val="6366F1"/>
                </a:solidFill>
                <a:latin typeface="Sora"/>
              </a:defRPr>
            </a:pPr>
            <a:r>
              <a:t>04</a:t>
            </a:r>
          </a:p>
        </p:txBody>
      </p:sp>
      <p:sp>
        <p:nvSpPr>
          <p:cNvPr id="16" name="TextBox 15"/>
          <p:cNvSpPr txBox="1"/>
          <p:nvPr/>
        </p:nvSpPr>
        <p:spPr>
          <a:xfrm>
            <a:off x="1920240" y="3657600"/>
            <a:ext cx="8686800" cy="365760"/>
          </a:xfrm>
          <a:prstGeom prst="rect">
            <a:avLst/>
          </a:prstGeom>
          <a:noFill/>
        </p:spPr>
        <p:txBody>
          <a:bodyPr wrap="none">
            <a:spAutoFit/>
          </a:bodyPr>
          <a:lstStyle/>
          <a:p>
            <a:pPr>
              <a:defRPr sz="1400">
                <a:solidFill>
                  <a:srgbClr val="FFFFFF"/>
                </a:solidFill>
                <a:latin typeface="Sora"/>
              </a:defRPr>
            </a:pPr>
            <a:r>
              <a:t>OpenClaw Google Setup is a Nightmare (Here's the Fix)</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37160" cy="50292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411480"/>
            <a:ext cx="10058400" cy="640080"/>
          </a:xfrm>
          <a:prstGeom prst="rect">
            <a:avLst/>
          </a:prstGeom>
          <a:noFill/>
        </p:spPr>
        <p:txBody>
          <a:bodyPr wrap="none">
            <a:spAutoFit/>
          </a:bodyPr>
          <a:lstStyle/>
          <a:p>
            <a:pPr>
              <a:defRPr sz="2600" b="1">
                <a:solidFill>
                  <a:srgbClr val="FFFFFF"/>
                </a:solidFill>
                <a:latin typeface="Sora"/>
              </a:defRPr>
            </a:pPr>
            <a:r>
              <a:t>CLAUDE SONNET 4.6 IS HERE (AND BETTER THAN OPUS?)</a:t>
            </a:r>
          </a:p>
        </p:txBody>
      </p:sp>
      <p:sp>
        <p:nvSpPr>
          <p:cNvPr id="5" name="Rounded Rectangle 4"/>
          <p:cNvSpPr/>
          <p:nvPr/>
        </p:nvSpPr>
        <p:spPr>
          <a:xfrm>
            <a:off x="731520" y="1463040"/>
            <a:ext cx="10728655" cy="4937760"/>
          </a:xfrm>
          <a:prstGeom prst="roundRect">
            <a:avLst/>
          </a:prstGeom>
          <a:solidFill>
            <a:srgbClr val="25253A"/>
          </a:solidFill>
          <a:ln w="12700">
            <a:solidFill>
              <a:srgbClr val="3D3D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737360"/>
            <a:ext cx="10058400" cy="4572000"/>
          </a:xfrm>
          <a:prstGeom prst="rect">
            <a:avLst/>
          </a:prstGeom>
          <a:noFill/>
        </p:spPr>
        <p:txBody>
          <a:bodyPr wrap="square">
            <a:spAutoFit/>
          </a:bodyPr>
          <a:lstStyle/>
          <a:p>
            <a:pPr>
              <a:defRPr sz="1300">
                <a:solidFill>
                  <a:srgbClr val="FFFFFF"/>
                </a:solidFill>
                <a:latin typeface="Sora"/>
              </a:defRPr>
            </a:pPr>
            <a:r>
              <a:t>So, Anthropic just released Sonnet 4.6 So, Anthropic just released Sonnet 4.6 So, Anthropic just released Sonnet 4.6 today, and the benchmarks are really today, and the benchmarks are really today, and the benchmarks are really good. So good, in fact, it's actually good. So good, in fact, it's actually good. So good, in fact, it's actually beating out Opus 4.6 in some areas while beating out Opus 4.6 in some areas while beating out Opus 4.6 in some areas while coming in at a 40% cheaper price po...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37160" cy="50292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411480"/>
            <a:ext cx="10058400" cy="640080"/>
          </a:xfrm>
          <a:prstGeom prst="rect">
            <a:avLst/>
          </a:prstGeom>
          <a:noFill/>
        </p:spPr>
        <p:txBody>
          <a:bodyPr wrap="none">
            <a:spAutoFit/>
          </a:bodyPr>
          <a:lstStyle/>
          <a:p>
            <a:pPr>
              <a:defRPr sz="2600" b="1">
                <a:solidFill>
                  <a:srgbClr val="FFFFFF"/>
                </a:solidFill>
                <a:latin typeface="Sora"/>
              </a:defRPr>
            </a:pPr>
            <a:r>
              <a:t>I USED TO BUILD EVERYTHING IN N8N, HERE'S WHY I ST</a:t>
            </a:r>
          </a:p>
        </p:txBody>
      </p:sp>
      <p:sp>
        <p:nvSpPr>
          <p:cNvPr id="5" name="Rounded Rectangle 4"/>
          <p:cNvSpPr/>
          <p:nvPr/>
        </p:nvSpPr>
        <p:spPr>
          <a:xfrm>
            <a:off x="731520" y="1463040"/>
            <a:ext cx="10728655" cy="4937760"/>
          </a:xfrm>
          <a:prstGeom prst="roundRect">
            <a:avLst/>
          </a:prstGeom>
          <a:solidFill>
            <a:srgbClr val="25253A"/>
          </a:solidFill>
          <a:ln w="12700">
            <a:solidFill>
              <a:srgbClr val="3D3D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737360"/>
            <a:ext cx="10058400" cy="4572000"/>
          </a:xfrm>
          <a:prstGeom prst="rect">
            <a:avLst/>
          </a:prstGeom>
          <a:noFill/>
        </p:spPr>
        <p:txBody>
          <a:bodyPr wrap="square">
            <a:spAutoFit/>
          </a:bodyPr>
          <a:lstStyle/>
          <a:p>
            <a:pPr>
              <a:defRPr sz="1300">
                <a:solidFill>
                  <a:srgbClr val="FFFFFF"/>
                </a:solidFill>
                <a:latin typeface="Sora"/>
              </a:defRPr>
            </a:pPr>
            <a:r>
              <a:t>I've built hundreds of NAND workflows I've built hundreds of NAND workflows I've built hundreds of NAND workflows and I've taught thousands of people how and I've taught thousands of people how and I've taught thousands of people how to use it and for the first time I'm to use it and for the first time I'm to use it and for the first time I'm telling people to stop mostly and that's telling people to stop mostly and that's telling people to stop mostly and that's not because NAND is bad. It's 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37160" cy="50292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411480"/>
            <a:ext cx="10058400" cy="640080"/>
          </a:xfrm>
          <a:prstGeom prst="rect">
            <a:avLst/>
          </a:prstGeom>
          <a:noFill/>
        </p:spPr>
        <p:txBody>
          <a:bodyPr wrap="none">
            <a:spAutoFit/>
          </a:bodyPr>
          <a:lstStyle/>
          <a:p>
            <a:pPr>
              <a:defRPr sz="2600" b="1">
                <a:solidFill>
                  <a:srgbClr val="FFFFFF"/>
                </a:solidFill>
                <a:latin typeface="Sora"/>
              </a:defRPr>
            </a:pPr>
            <a:r>
              <a:t>I CONVERTED ALL MY N8N AGENTS TO REAL CODE AND IT </a:t>
            </a:r>
          </a:p>
        </p:txBody>
      </p:sp>
      <p:sp>
        <p:nvSpPr>
          <p:cNvPr id="5" name="Rounded Rectangle 4"/>
          <p:cNvSpPr/>
          <p:nvPr/>
        </p:nvSpPr>
        <p:spPr>
          <a:xfrm>
            <a:off x="731520" y="1463040"/>
            <a:ext cx="10728655" cy="4937760"/>
          </a:xfrm>
          <a:prstGeom prst="roundRect">
            <a:avLst/>
          </a:prstGeom>
          <a:solidFill>
            <a:srgbClr val="25253A"/>
          </a:solidFill>
          <a:ln w="12700">
            <a:solidFill>
              <a:srgbClr val="3D3D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737360"/>
            <a:ext cx="10058400" cy="4572000"/>
          </a:xfrm>
          <a:prstGeom prst="rect">
            <a:avLst/>
          </a:prstGeom>
          <a:noFill/>
        </p:spPr>
        <p:txBody>
          <a:bodyPr wrap="square">
            <a:spAutoFit/>
          </a:bodyPr>
          <a:lstStyle/>
          <a:p>
            <a:pPr>
              <a:defRPr sz="1300">
                <a:solidFill>
                  <a:srgbClr val="FFFFFF"/>
                </a:solidFill>
                <a:latin typeface="Sora"/>
              </a:defRPr>
            </a:pPr>
            <a:r>
              <a:t>NADN has been one of the most powerful NADN has been one of the most powerful NADN has been one of the most powerful noode tools on the market for some time noode tools on the market for some time noode tools on the market for some time now. But today, as platforms like Claude now. But today, as platforms like Claude now. But today, as platforms like Claude Code, Codeex, and anti-gravity become Code, Codeex, and anti-gravity become Code, Codeex, and anti-gravity become both more powerful and mor...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37160" cy="50292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411480"/>
            <a:ext cx="10058400" cy="640080"/>
          </a:xfrm>
          <a:prstGeom prst="rect">
            <a:avLst/>
          </a:prstGeom>
          <a:noFill/>
        </p:spPr>
        <p:txBody>
          <a:bodyPr wrap="none">
            <a:spAutoFit/>
          </a:bodyPr>
          <a:lstStyle/>
          <a:p>
            <a:pPr>
              <a:defRPr sz="2600" b="1">
                <a:solidFill>
                  <a:srgbClr val="FFFFFF"/>
                </a:solidFill>
                <a:latin typeface="Sora"/>
              </a:defRPr>
            </a:pPr>
            <a:r>
              <a:t>OPENCLAW GOOGLE SETUP IS A NIGHTMARE (HERE'S THE F</a:t>
            </a:r>
          </a:p>
        </p:txBody>
      </p:sp>
      <p:sp>
        <p:nvSpPr>
          <p:cNvPr id="5" name="Rounded Rectangle 4"/>
          <p:cNvSpPr/>
          <p:nvPr/>
        </p:nvSpPr>
        <p:spPr>
          <a:xfrm>
            <a:off x="731520" y="1463040"/>
            <a:ext cx="10728655" cy="4937760"/>
          </a:xfrm>
          <a:prstGeom prst="roundRect">
            <a:avLst/>
          </a:prstGeom>
          <a:solidFill>
            <a:srgbClr val="25253A"/>
          </a:solidFill>
          <a:ln w="12700">
            <a:solidFill>
              <a:srgbClr val="3D3D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737360"/>
            <a:ext cx="10058400" cy="4572000"/>
          </a:xfrm>
          <a:prstGeom prst="rect">
            <a:avLst/>
          </a:prstGeom>
          <a:noFill/>
        </p:spPr>
        <p:txBody>
          <a:bodyPr wrap="square">
            <a:spAutoFit/>
          </a:bodyPr>
          <a:lstStyle/>
          <a:p>
            <a:pPr>
              <a:defRPr sz="1300">
                <a:solidFill>
                  <a:srgbClr val="FFFFFF"/>
                </a:solidFill>
                <a:latin typeface="Sora"/>
              </a:defRPr>
            </a:pPr>
            <a:r>
              <a:t>OpenClaw is the fastest growing OpenClaw is the fastest growing OpenClaw is the fastest growing open-source AI project of all time. And open-source AI project of all time. And open-source AI project of all time. And somehow, even with all that hype behind somehow, even with all that hype behind somehow, even with all that hype behind it, there is not a single good guide it, there is not a single good guide it, there is not a single good guide that shows you how to properly set up that shows you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4114800" y="1828800"/>
            <a:ext cx="3962095" cy="22860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389120"/>
            <a:ext cx="11277295" cy="914400"/>
          </a:xfrm>
          <a:prstGeom prst="rect">
            <a:avLst/>
          </a:prstGeom>
          <a:noFill/>
        </p:spPr>
        <p:txBody>
          <a:bodyPr wrap="none">
            <a:spAutoFit/>
          </a:bodyPr>
          <a:lstStyle/>
          <a:p>
            <a:pPr algn="ctr">
              <a:defRPr sz="4800" b="1">
                <a:solidFill>
                  <a:srgbClr val="FFFFFF"/>
                </a:solidFill>
                <a:latin typeface="Sora"/>
              </a:defRPr>
            </a:pPr>
            <a:r>
              <a:t>Thank You</a:t>
            </a:r>
          </a:p>
        </p:txBody>
      </p:sp>
      <p:sp>
        <p:nvSpPr>
          <p:cNvPr id="5" name="TextBox 4"/>
          <p:cNvSpPr txBox="1"/>
          <p:nvPr/>
        </p:nvSpPr>
        <p:spPr>
          <a:xfrm>
            <a:off x="457200" y="5486400"/>
            <a:ext cx="11277295" cy="365760"/>
          </a:xfrm>
          <a:prstGeom prst="rect">
            <a:avLst/>
          </a:prstGeom>
          <a:noFill/>
        </p:spPr>
        <p:txBody>
          <a:bodyPr wrap="none">
            <a:spAutoFit/>
          </a:bodyPr>
          <a:lstStyle/>
          <a:p>
            <a:pPr algn="ctr">
              <a:defRPr sz="1400">
                <a:solidFill>
                  <a:srgbClr val="94A3B8"/>
                </a:solidFill>
                <a:latin typeface="Sora"/>
              </a:defRPr>
            </a:pPr>
            <a:r>
              <a:t>2026-02-18</a:t>
            </a:r>
          </a:p>
        </p:txBody>
      </p:sp>
      <p:sp>
        <p:nvSpPr>
          <p:cNvPr id="6" name="Rectangle 5"/>
          <p:cNvSpPr/>
          <p:nvPr/>
        </p:nvSpPr>
        <p:spPr>
          <a:xfrm>
            <a:off x="0" y="6766560"/>
            <a:ext cx="12191695" cy="9144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