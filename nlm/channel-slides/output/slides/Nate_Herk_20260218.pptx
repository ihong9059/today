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0" y="1097280"/>
            <a:ext cx="2133295" cy="2133295"/>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0"/>
            <a:ext cx="11277295" cy="1097280"/>
          </a:xfrm>
          <a:prstGeom prst="rect">
            <a:avLst/>
          </a:prstGeom>
          <a:noFill/>
        </p:spPr>
        <p:txBody>
          <a:bodyPr wrap="none">
            <a:spAutoFit/>
          </a:bodyPr>
          <a:lstStyle/>
          <a:p>
            <a:pPr algn="ctr">
              <a:defRPr sz="4800" b="1">
                <a:solidFill>
                  <a:srgbClr val="FFFFFF"/>
                </a:solidFill>
                <a:latin typeface="Sora"/>
              </a:defRPr>
            </a:pPr>
            <a:r>
              <a:t>Nate Herk</a:t>
            </a:r>
          </a:p>
        </p:txBody>
      </p:sp>
      <p:sp>
        <p:nvSpPr>
          <p:cNvPr id="6" name="TextBox 5"/>
          <p:cNvSpPr txBox="1"/>
          <p:nvPr/>
        </p:nvSpPr>
        <p:spPr>
          <a:xfrm>
            <a:off x="457200" y="4846320"/>
            <a:ext cx="11277295" cy="457200"/>
          </a:xfrm>
          <a:prstGeom prst="rect">
            <a:avLst/>
          </a:prstGeom>
          <a:noFill/>
        </p:spPr>
        <p:txBody>
          <a:bodyPr wrap="none">
            <a:spAutoFit/>
          </a:bodyPr>
          <a:lstStyle/>
          <a:p>
            <a:pPr algn="ctr">
              <a:defRPr sz="2000">
                <a:solidFill>
                  <a:srgbClr val="A5B4FC"/>
                </a:solidFill>
                <a:latin typeface="Sora"/>
              </a:defRPr>
            </a:pPr>
            <a:r>
              <a:t>2 Videos Analyzed</a:t>
            </a:r>
          </a:p>
        </p:txBody>
      </p:sp>
      <p:sp>
        <p:nvSpPr>
          <p:cNvPr id="7" name="TextBox 6"/>
          <p:cNvSpPr txBox="1"/>
          <p:nvPr/>
        </p:nvSpPr>
        <p:spPr>
          <a:xfrm>
            <a:off x="457200" y="5486400"/>
            <a:ext cx="11277295" cy="365760"/>
          </a:xfrm>
          <a:prstGeom prst="rect">
            <a:avLst/>
          </a:prstGeom>
          <a:noFill/>
        </p:spPr>
        <p:txBody>
          <a:bodyPr wrap="none">
            <a:spAutoFit/>
          </a:bodyPr>
          <a:lstStyle/>
          <a:p>
            <a:pPr algn="ctr">
              <a:defRPr sz="1400">
                <a:solidFill>
                  <a:srgbClr val="94A3B8"/>
                </a:solidFill>
                <a:latin typeface="Sora"/>
              </a:defRPr>
            </a:pPr>
            <a:r>
              <a:t>2026-02-18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5029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11480"/>
            <a:ext cx="10058400" cy="640080"/>
          </a:xfrm>
          <a:prstGeom prst="rect">
            <a:avLst/>
          </a:prstGeom>
          <a:noFill/>
        </p:spPr>
        <p:txBody>
          <a:bodyPr wrap="none">
            <a:spAutoFit/>
          </a:bodyPr>
          <a:lstStyle/>
          <a:p>
            <a:pPr>
              <a:defRPr sz="2600" b="1">
                <a:solidFill>
                  <a:srgbClr val="FFFFFF"/>
                </a:solidFill>
                <a:latin typeface="Sora"/>
              </a:defRPr>
            </a:pPr>
            <a:r>
              <a:t>VIDEOS</a:t>
            </a:r>
          </a:p>
        </p:txBody>
      </p:sp>
      <p:sp>
        <p:nvSpPr>
          <p:cNvPr id="5" name="Rounded Rectangle 4"/>
          <p:cNvSpPr/>
          <p:nvPr/>
        </p:nvSpPr>
        <p:spPr>
          <a:xfrm>
            <a:off x="914400" y="1645920"/>
            <a:ext cx="10362895" cy="548640"/>
          </a:xfrm>
          <a:prstGeom prst="roundRect">
            <a:avLst/>
          </a:prstGeom>
          <a:solidFill>
            <a:srgbClr val="25253A"/>
          </a:solidFill>
          <a:ln w="12700">
            <a:solidFill>
              <a:srgbClr val="3D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737360"/>
            <a:ext cx="457200" cy="365760"/>
          </a:xfrm>
          <a:prstGeom prst="rect">
            <a:avLst/>
          </a:prstGeom>
          <a:noFill/>
        </p:spPr>
        <p:txBody>
          <a:bodyPr wrap="none">
            <a:spAutoFit/>
          </a:bodyPr>
          <a:lstStyle/>
          <a:p>
            <a:pPr>
              <a:defRPr sz="1600" b="1">
                <a:solidFill>
                  <a:srgbClr val="6366F1"/>
                </a:solidFill>
                <a:latin typeface="Sora"/>
              </a:defRPr>
            </a:pPr>
            <a:r>
              <a:t>01</a:t>
            </a:r>
          </a:p>
        </p:txBody>
      </p:sp>
      <p:sp>
        <p:nvSpPr>
          <p:cNvPr id="7" name="TextBox 6"/>
          <p:cNvSpPr txBox="1"/>
          <p:nvPr/>
        </p:nvSpPr>
        <p:spPr>
          <a:xfrm>
            <a:off x="1920240" y="1737360"/>
            <a:ext cx="8686800" cy="365760"/>
          </a:xfrm>
          <a:prstGeom prst="rect">
            <a:avLst/>
          </a:prstGeom>
          <a:noFill/>
        </p:spPr>
        <p:txBody>
          <a:bodyPr wrap="none">
            <a:spAutoFit/>
          </a:bodyPr>
          <a:lstStyle/>
          <a:p>
            <a:pPr>
              <a:defRPr sz="1400">
                <a:solidFill>
                  <a:srgbClr val="FFFFFF"/>
                </a:solidFill>
                <a:latin typeface="Sora"/>
              </a:defRPr>
            </a:pPr>
            <a:r>
              <a:t>How to Sign AI Workflow Clients (With 0 Followers)</a:t>
            </a:r>
          </a:p>
        </p:txBody>
      </p:sp>
      <p:sp>
        <p:nvSpPr>
          <p:cNvPr id="8" name="Rounded Rectangle 7"/>
          <p:cNvSpPr/>
          <p:nvPr/>
        </p:nvSpPr>
        <p:spPr>
          <a:xfrm>
            <a:off x="914400" y="2286000"/>
            <a:ext cx="10362895" cy="548640"/>
          </a:xfrm>
          <a:prstGeom prst="roundRect">
            <a:avLst/>
          </a:prstGeom>
          <a:solidFill>
            <a:srgbClr val="25253A"/>
          </a:solidFill>
          <a:ln w="12700">
            <a:solidFill>
              <a:srgbClr val="3D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2377440"/>
            <a:ext cx="457200" cy="365760"/>
          </a:xfrm>
          <a:prstGeom prst="rect">
            <a:avLst/>
          </a:prstGeom>
          <a:noFill/>
        </p:spPr>
        <p:txBody>
          <a:bodyPr wrap="none">
            <a:spAutoFit/>
          </a:bodyPr>
          <a:lstStyle/>
          <a:p>
            <a:pPr>
              <a:defRPr sz="1600" b="1">
                <a:solidFill>
                  <a:srgbClr val="6366F1"/>
                </a:solidFill>
                <a:latin typeface="Sora"/>
              </a:defRPr>
            </a:pPr>
            <a:r>
              <a:t>02</a:t>
            </a:r>
          </a:p>
        </p:txBody>
      </p:sp>
      <p:sp>
        <p:nvSpPr>
          <p:cNvPr id="10" name="TextBox 9"/>
          <p:cNvSpPr txBox="1"/>
          <p:nvPr/>
        </p:nvSpPr>
        <p:spPr>
          <a:xfrm>
            <a:off x="1920240" y="2377440"/>
            <a:ext cx="8686800" cy="365760"/>
          </a:xfrm>
          <a:prstGeom prst="rect">
            <a:avLst/>
          </a:prstGeom>
          <a:noFill/>
        </p:spPr>
        <p:txBody>
          <a:bodyPr wrap="none">
            <a:spAutoFit/>
          </a:bodyPr>
          <a:lstStyle/>
          <a:p>
            <a:pPr>
              <a:defRPr sz="1400">
                <a:solidFill>
                  <a:srgbClr val="FFFFFF"/>
                </a:solidFill>
                <a:latin typeface="Sora"/>
              </a:defRPr>
            </a:pPr>
            <a:r>
              <a:t>How a College Student Made $500k with Cold Email (Exact Fram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5029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11480"/>
            <a:ext cx="10058400" cy="640080"/>
          </a:xfrm>
          <a:prstGeom prst="rect">
            <a:avLst/>
          </a:prstGeom>
          <a:noFill/>
        </p:spPr>
        <p:txBody>
          <a:bodyPr wrap="none">
            <a:spAutoFit/>
          </a:bodyPr>
          <a:lstStyle/>
          <a:p>
            <a:pPr>
              <a:defRPr sz="2600" b="1">
                <a:solidFill>
                  <a:srgbClr val="FFFFFF"/>
                </a:solidFill>
                <a:latin typeface="Sora"/>
              </a:defRPr>
            </a:pPr>
            <a:r>
              <a:t>HOW TO SIGN AI WORKFLOW CLIENTS (WITH 0 FOLLOWERS)</a:t>
            </a:r>
          </a:p>
        </p:txBody>
      </p:sp>
      <p:sp>
        <p:nvSpPr>
          <p:cNvPr id="5" name="Rounded Rectangle 4"/>
          <p:cNvSpPr/>
          <p:nvPr/>
        </p:nvSpPr>
        <p:spPr>
          <a:xfrm>
            <a:off x="731520" y="1463040"/>
            <a:ext cx="10728655" cy="4937760"/>
          </a:xfrm>
          <a:prstGeom prst="roundRect">
            <a:avLst/>
          </a:prstGeom>
          <a:solidFill>
            <a:srgbClr val="25253A"/>
          </a:solidFill>
          <a:ln w="12700">
            <a:solidFill>
              <a:srgbClr val="3D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37360"/>
            <a:ext cx="10058400" cy="4572000"/>
          </a:xfrm>
          <a:prstGeom prst="rect">
            <a:avLst/>
          </a:prstGeom>
          <a:noFill/>
        </p:spPr>
        <p:txBody>
          <a:bodyPr wrap="square">
            <a:spAutoFit/>
          </a:bodyPr>
          <a:lstStyle/>
          <a:p>
            <a:pPr>
              <a:defRPr sz="1300">
                <a:solidFill>
                  <a:srgbClr val="FFFFFF"/>
                </a:solidFill>
                <a:latin typeface="Sora"/>
              </a:defRPr>
            </a:pPr>
            <a:r>
              <a:t>People keep telling me they can't land People keep telling me they can't land People keep telling me they can't land AI clients because they don't have a AI clients because they don't have a AI clients because they don't have a YouTube channel since I got my first YouTube channel since I got my first YouTube channel since I got my first clients through content. But you don't clients through content. But you don't clients through content. But you don't actually need content at all. If I lost actu...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5029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11480"/>
            <a:ext cx="10058400" cy="640080"/>
          </a:xfrm>
          <a:prstGeom prst="rect">
            <a:avLst/>
          </a:prstGeom>
          <a:noFill/>
        </p:spPr>
        <p:txBody>
          <a:bodyPr wrap="none">
            <a:spAutoFit/>
          </a:bodyPr>
          <a:lstStyle/>
          <a:p>
            <a:pPr>
              <a:defRPr sz="2600" b="1">
                <a:solidFill>
                  <a:srgbClr val="FFFFFF"/>
                </a:solidFill>
                <a:latin typeface="Sora"/>
              </a:defRPr>
            </a:pPr>
            <a:r>
              <a:t>HOW A COLLEGE STUDENT MADE $500K WITH COLD EMAIL (</a:t>
            </a:r>
          </a:p>
        </p:txBody>
      </p:sp>
      <p:sp>
        <p:nvSpPr>
          <p:cNvPr id="5" name="Rounded Rectangle 4"/>
          <p:cNvSpPr/>
          <p:nvPr/>
        </p:nvSpPr>
        <p:spPr>
          <a:xfrm>
            <a:off x="731520" y="1463040"/>
            <a:ext cx="10728655" cy="4937760"/>
          </a:xfrm>
          <a:prstGeom prst="roundRect">
            <a:avLst/>
          </a:prstGeom>
          <a:solidFill>
            <a:srgbClr val="25253A"/>
          </a:solidFill>
          <a:ln w="12700">
            <a:solidFill>
              <a:srgbClr val="3D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37360"/>
            <a:ext cx="10058400" cy="4572000"/>
          </a:xfrm>
          <a:prstGeom prst="rect">
            <a:avLst/>
          </a:prstGeom>
          <a:noFill/>
        </p:spPr>
        <p:txBody>
          <a:bodyPr wrap="square">
            <a:spAutoFit/>
          </a:bodyPr>
          <a:lstStyle/>
          <a:p>
            <a:pPr>
              <a:defRPr sz="1300">
                <a:solidFill>
                  <a:srgbClr val="FFFFFF"/>
                </a:solidFill>
                <a:latin typeface="Sora"/>
              </a:defRPr>
            </a:pPr>
            <a:r>
              <a:t>Cold email is responsible for some of Cold email is responsible for some of Cold email is responsible for some of the fastest client acquisition in the the fastest client acquisition in the the fastest client acquisition in the agency space and it's even more powerful agency space and it's even more powerful agency space and it's even more powerful in 2026 if you know how to use AI right. in 2026 if you know how to use AI right. in 2026 if you know how to use AI right. So to show you guys how I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114800" y="1828800"/>
            <a:ext cx="3962095" cy="2286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389120"/>
            <a:ext cx="11277295" cy="914400"/>
          </a:xfrm>
          <a:prstGeom prst="rect">
            <a:avLst/>
          </a:prstGeom>
          <a:noFill/>
        </p:spPr>
        <p:txBody>
          <a:bodyPr wrap="none">
            <a:spAutoFit/>
          </a:bodyPr>
          <a:lstStyle/>
          <a:p>
            <a:pPr algn="ctr">
              <a:defRPr sz="4800" b="1">
                <a:solidFill>
                  <a:srgbClr val="FFFFFF"/>
                </a:solidFill>
                <a:latin typeface="Sora"/>
              </a:defRPr>
            </a:pPr>
            <a:r>
              <a:t>Thank You</a:t>
            </a:r>
          </a:p>
        </p:txBody>
      </p:sp>
      <p:sp>
        <p:nvSpPr>
          <p:cNvPr id="5" name="TextBox 4"/>
          <p:cNvSpPr txBox="1"/>
          <p:nvPr/>
        </p:nvSpPr>
        <p:spPr>
          <a:xfrm>
            <a:off x="457200" y="5486400"/>
            <a:ext cx="11277295" cy="365760"/>
          </a:xfrm>
          <a:prstGeom prst="rect">
            <a:avLst/>
          </a:prstGeom>
          <a:noFill/>
        </p:spPr>
        <p:txBody>
          <a:bodyPr wrap="none">
            <a:spAutoFit/>
          </a:bodyPr>
          <a:lstStyle/>
          <a:p>
            <a:pPr algn="ctr">
              <a:defRPr sz="1400">
                <a:solidFill>
                  <a:srgbClr val="94A3B8"/>
                </a:solidFill>
                <a:latin typeface="Sora"/>
              </a:defRPr>
            </a:pPr>
            <a:r>
              <a:t>2026-02-18</a:t>
            </a:r>
          </a:p>
        </p:txBody>
      </p:sp>
      <p:sp>
        <p:nvSpPr>
          <p:cNvPr id="6" name="Rectangle 5"/>
          <p:cNvSpPr/>
          <p:nvPr/>
        </p:nvSpPr>
        <p:spPr>
          <a:xfrm>
            <a:off x="0" y="6766560"/>
            <a:ext cx="12191695" cy="914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