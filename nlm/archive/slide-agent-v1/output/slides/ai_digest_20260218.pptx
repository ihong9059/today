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none">
            <a:spAutoFit/>
          </a:bodyPr>
          <a:lstStyle/>
          <a:p>
            <a:pPr algn="ctr">
              <a:defRPr sz="4800" b="1">
                <a:solidFill>
                  <a:srgbClr val="FFFFFF"/>
                </a:solidFill>
              </a:defRPr>
            </a:pPr>
            <a:r>
              <a:t>AI News Digest - 2026-02-18</a:t>
            </a:r>
          </a:p>
        </p:txBody>
      </p:sp>
      <p:sp>
        <p:nvSpPr>
          <p:cNvPr id="4" name="TextBox 3"/>
          <p:cNvSpPr txBox="1"/>
          <p:nvPr/>
        </p:nvSpPr>
        <p:spPr>
          <a:xfrm>
            <a:off x="457200" y="3840480"/>
            <a:ext cx="11277295" cy="457200"/>
          </a:xfrm>
          <a:prstGeom prst="rect">
            <a:avLst/>
          </a:prstGeom>
          <a:noFill/>
        </p:spPr>
        <p:txBody>
          <a:bodyPr wrap="none">
            <a:spAutoFit/>
          </a:bodyPr>
          <a:lstStyle/>
          <a:p>
            <a:pPr algn="ctr">
              <a:defRPr sz="2400">
                <a:solidFill>
                  <a:srgbClr val="FFFFFF"/>
                </a:solidFill>
              </a:defRPr>
            </a:pPr>
            <a:r>
              <a:t>2026-02-18</a:t>
            </a:r>
          </a:p>
        </p:txBody>
      </p:sp>
      <p:sp>
        <p:nvSpPr>
          <p:cNvPr id="5" name="TextBox 4"/>
          <p:cNvSpPr txBox="1"/>
          <p:nvPr/>
        </p:nvSpPr>
        <p:spPr>
          <a:xfrm>
            <a:off x="457200" y="4572000"/>
            <a:ext cx="11277295" cy="457200"/>
          </a:xfrm>
          <a:prstGeom prst="rect">
            <a:avLst/>
          </a:prstGeom>
          <a:noFill/>
        </p:spPr>
        <p:txBody>
          <a:bodyPr wrap="none">
            <a:spAutoFit/>
          </a:bodyPr>
          <a:lstStyle/>
          <a:p>
            <a:pPr algn="ctr">
              <a:defRPr sz="1800">
                <a:solidFill>
                  <a:srgbClr val="CCCCCC"/>
                </a:solidFill>
              </a:defRPr>
            </a:pPr>
            <a:r>
              <a:t>Compiled from 9 YouTube videos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3200" b="1">
                <a:solidFill>
                  <a:srgbClr val="1A73E8"/>
                </a:solidFill>
              </a:defRPr>
            </a:pPr>
            <a:r>
              <a:t>Today's Agenda</a:t>
            </a:r>
          </a:p>
        </p:txBody>
      </p:sp>
      <p:sp>
        <p:nvSpPr>
          <p:cNvPr id="3" name="Rectangle 2"/>
          <p:cNvSpPr/>
          <p:nvPr/>
        </p:nvSpPr>
        <p:spPr>
          <a:xfrm>
            <a:off x="457200" y="1280160"/>
            <a:ext cx="1828800" cy="3810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457200"/>
          </a:xfrm>
          <a:prstGeom prst="rect">
            <a:avLst/>
          </a:prstGeom>
          <a:noFill/>
        </p:spPr>
        <p:txBody>
          <a:bodyPr wrap="none">
            <a:spAutoFit/>
          </a:bodyPr>
          <a:lstStyle/>
          <a:p>
            <a:pPr>
              <a:defRPr sz="2000">
                <a:solidFill>
                  <a:srgbClr val="202124"/>
                </a:solidFill>
              </a:defRPr>
            </a:pPr>
            <a:r>
              <a:t>1. Video Sources Overview</a:t>
            </a:r>
          </a:p>
        </p:txBody>
      </p:sp>
      <p:sp>
        <p:nvSpPr>
          <p:cNvPr id="5" name="TextBox 4"/>
          <p:cNvSpPr txBox="1"/>
          <p:nvPr/>
        </p:nvSpPr>
        <p:spPr>
          <a:xfrm>
            <a:off x="1371600" y="2194560"/>
            <a:ext cx="9144000" cy="457200"/>
          </a:xfrm>
          <a:prstGeom prst="rect">
            <a:avLst/>
          </a:prstGeom>
          <a:noFill/>
        </p:spPr>
        <p:txBody>
          <a:bodyPr wrap="none">
            <a:spAutoFit/>
          </a:bodyPr>
          <a:lstStyle/>
          <a:p>
            <a:pPr>
              <a:defRPr sz="2000">
                <a:solidFill>
                  <a:srgbClr val="202124"/>
                </a:solidFill>
              </a:defRPr>
            </a:pPr>
            <a:r>
              <a:t>2. From Nate Herk </a:t>
            </a:r>
          </a:p>
        </p:txBody>
      </p:sp>
      <p:sp>
        <p:nvSpPr>
          <p:cNvPr id="6" name="TextBox 5"/>
          <p:cNvSpPr txBox="1"/>
          <p:nvPr/>
        </p:nvSpPr>
        <p:spPr>
          <a:xfrm>
            <a:off x="1371600" y="2743200"/>
            <a:ext cx="9144000" cy="457200"/>
          </a:xfrm>
          <a:prstGeom prst="rect">
            <a:avLst/>
          </a:prstGeom>
          <a:noFill/>
        </p:spPr>
        <p:txBody>
          <a:bodyPr wrap="none">
            <a:spAutoFit/>
          </a:bodyPr>
          <a:lstStyle/>
          <a:p>
            <a:pPr>
              <a:defRPr sz="2000">
                <a:solidFill>
                  <a:srgbClr val="202124"/>
                </a:solidFill>
              </a:defRPr>
            </a:pPr>
            <a:r>
              <a:t>3. From Nick Saraev</a:t>
            </a:r>
          </a:p>
        </p:txBody>
      </p:sp>
      <p:sp>
        <p:nvSpPr>
          <p:cNvPr id="7" name="TextBox 6"/>
          <p:cNvSpPr txBox="1"/>
          <p:nvPr/>
        </p:nvSpPr>
        <p:spPr>
          <a:xfrm>
            <a:off x="1371600" y="3291840"/>
            <a:ext cx="9144000" cy="457200"/>
          </a:xfrm>
          <a:prstGeom prst="rect">
            <a:avLst/>
          </a:prstGeom>
          <a:noFill/>
        </p:spPr>
        <p:txBody>
          <a:bodyPr wrap="none">
            <a:spAutoFit/>
          </a:bodyPr>
          <a:lstStyle/>
          <a:p>
            <a:pPr>
              <a:defRPr sz="2000">
                <a:solidFill>
                  <a:srgbClr val="202124"/>
                </a:solidFill>
              </a:defRPr>
            </a:pPr>
            <a:r>
              <a:t>4. From Jack Roberts</a:t>
            </a:r>
          </a:p>
        </p:txBody>
      </p:sp>
      <p:sp>
        <p:nvSpPr>
          <p:cNvPr id="8" name="TextBox 7"/>
          <p:cNvSpPr txBox="1"/>
          <p:nvPr/>
        </p:nvSpPr>
        <p:spPr>
          <a:xfrm>
            <a:off x="1371600" y="3840480"/>
            <a:ext cx="9144000" cy="457200"/>
          </a:xfrm>
          <a:prstGeom prst="rect">
            <a:avLst/>
          </a:prstGeom>
          <a:noFill/>
        </p:spPr>
        <p:txBody>
          <a:bodyPr wrap="none">
            <a:spAutoFit/>
          </a:bodyPr>
          <a:lstStyle/>
          <a:p>
            <a:pPr>
              <a:defRPr sz="2000">
                <a:solidFill>
                  <a:srgbClr val="202124"/>
                </a:solidFill>
              </a:defRPr>
            </a:pPr>
            <a:r>
              <a:t>5. From Chase AI</a:t>
            </a:r>
          </a:p>
        </p:txBody>
      </p:sp>
      <p:sp>
        <p:nvSpPr>
          <p:cNvPr id="9" name="TextBox 8"/>
          <p:cNvSpPr txBox="1"/>
          <p:nvPr/>
        </p:nvSpPr>
        <p:spPr>
          <a:xfrm>
            <a:off x="1371600" y="4389120"/>
            <a:ext cx="9144000" cy="457200"/>
          </a:xfrm>
          <a:prstGeom prst="rect">
            <a:avLst/>
          </a:prstGeom>
          <a:noFill/>
        </p:spPr>
        <p:txBody>
          <a:bodyPr wrap="none">
            <a:spAutoFit/>
          </a:bodyPr>
          <a:lstStyle/>
          <a:p>
            <a:pPr>
              <a:defRPr sz="2000">
                <a:solidFill>
                  <a:srgbClr val="202124"/>
                </a:solidFill>
              </a:defRPr>
            </a:pPr>
            <a:r>
              <a:t>6. Key Insights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3200" b="1">
                <a:solidFill>
                  <a:srgbClr val="1A73E8"/>
                </a:solidFill>
              </a:defRPr>
            </a:pPr>
            <a:r>
              <a:t>Video Sources</a:t>
            </a:r>
          </a:p>
        </p:txBody>
      </p:sp>
      <p:sp>
        <p:nvSpPr>
          <p:cNvPr id="3" name="Rectangle 2"/>
          <p:cNvSpPr/>
          <p:nvPr/>
        </p:nvSpPr>
        <p:spPr>
          <a:xfrm>
            <a:off x="457200" y="1280160"/>
            <a:ext cx="1828800" cy="3810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058400" cy="365760"/>
          </a:xfrm>
          <a:prstGeom prst="rect">
            <a:avLst/>
          </a:prstGeom>
          <a:noFill/>
        </p:spPr>
        <p:txBody>
          <a:bodyPr wrap="none">
            <a:spAutoFit/>
          </a:bodyPr>
          <a:lstStyle/>
          <a:p>
            <a:pPr>
              <a:defRPr sz="1400" b="1">
                <a:solidFill>
                  <a:srgbClr val="1A73E8"/>
                </a:solidFill>
              </a:defRPr>
            </a:pPr>
            <a:r>
              <a:t>[Nate Herk ]</a:t>
            </a:r>
          </a:p>
        </p:txBody>
      </p:sp>
      <p:sp>
        <p:nvSpPr>
          <p:cNvPr id="5" name="TextBox 4"/>
          <p:cNvSpPr txBox="1"/>
          <p:nvPr/>
        </p:nvSpPr>
        <p:spPr>
          <a:xfrm>
            <a:off x="914400" y="1965960"/>
            <a:ext cx="10058400" cy="365760"/>
          </a:xfrm>
          <a:prstGeom prst="rect">
            <a:avLst/>
          </a:prstGeom>
          <a:noFill/>
        </p:spPr>
        <p:txBody>
          <a:bodyPr wrap="none">
            <a:spAutoFit/>
          </a:bodyPr>
          <a:lstStyle/>
          <a:p>
            <a:pPr>
              <a:defRPr sz="1600">
                <a:solidFill>
                  <a:srgbClr val="202124"/>
                </a:solidFill>
              </a:defRPr>
            </a:pPr>
            <a:r>
              <a:t>How to Sign AI Workflow Clients (With 0 Followers)</a:t>
            </a:r>
          </a:p>
        </p:txBody>
      </p:sp>
      <p:sp>
        <p:nvSpPr>
          <p:cNvPr id="6" name="TextBox 5"/>
          <p:cNvSpPr txBox="1"/>
          <p:nvPr/>
        </p:nvSpPr>
        <p:spPr>
          <a:xfrm>
            <a:off x="914400" y="2468880"/>
            <a:ext cx="10058400" cy="365760"/>
          </a:xfrm>
          <a:prstGeom prst="rect">
            <a:avLst/>
          </a:prstGeom>
          <a:noFill/>
        </p:spPr>
        <p:txBody>
          <a:bodyPr wrap="none">
            <a:spAutoFit/>
          </a:bodyPr>
          <a:lstStyle/>
          <a:p>
            <a:pPr>
              <a:defRPr sz="1400" b="1">
                <a:solidFill>
                  <a:srgbClr val="1A73E8"/>
                </a:solidFill>
              </a:defRPr>
            </a:pPr>
            <a:r>
              <a:t>[Nate Herk ]</a:t>
            </a:r>
          </a:p>
        </p:txBody>
      </p:sp>
      <p:sp>
        <p:nvSpPr>
          <p:cNvPr id="7" name="TextBox 6"/>
          <p:cNvSpPr txBox="1"/>
          <p:nvPr/>
        </p:nvSpPr>
        <p:spPr>
          <a:xfrm>
            <a:off x="914400" y="2788920"/>
            <a:ext cx="10058400" cy="365760"/>
          </a:xfrm>
          <a:prstGeom prst="rect">
            <a:avLst/>
          </a:prstGeom>
          <a:noFill/>
        </p:spPr>
        <p:txBody>
          <a:bodyPr wrap="none">
            <a:spAutoFit/>
          </a:bodyPr>
          <a:lstStyle/>
          <a:p>
            <a:pPr>
              <a:defRPr sz="1600">
                <a:solidFill>
                  <a:srgbClr val="202124"/>
                </a:solidFill>
              </a:defRPr>
            </a:pPr>
            <a:r>
              <a:t>How a College Student Made $500k with Cold Email (Exact Framework)</a:t>
            </a:r>
          </a:p>
        </p:txBody>
      </p:sp>
      <p:sp>
        <p:nvSpPr>
          <p:cNvPr id="8" name="TextBox 7"/>
          <p:cNvSpPr txBox="1"/>
          <p:nvPr/>
        </p:nvSpPr>
        <p:spPr>
          <a:xfrm>
            <a:off x="914400" y="3291840"/>
            <a:ext cx="10058400" cy="365760"/>
          </a:xfrm>
          <a:prstGeom prst="rect">
            <a:avLst/>
          </a:prstGeom>
          <a:noFill/>
        </p:spPr>
        <p:txBody>
          <a:bodyPr wrap="none">
            <a:spAutoFit/>
          </a:bodyPr>
          <a:lstStyle/>
          <a:p>
            <a:pPr>
              <a:defRPr sz="1400" b="1">
                <a:solidFill>
                  <a:srgbClr val="1A73E8"/>
                </a:solidFill>
              </a:defRPr>
            </a:pPr>
            <a:r>
              <a:t>[Nick Saraev]</a:t>
            </a:r>
          </a:p>
        </p:txBody>
      </p:sp>
      <p:sp>
        <p:nvSpPr>
          <p:cNvPr id="9" name="TextBox 8"/>
          <p:cNvSpPr txBox="1"/>
          <p:nvPr/>
        </p:nvSpPr>
        <p:spPr>
          <a:xfrm>
            <a:off x="914400" y="3611880"/>
            <a:ext cx="10058400" cy="365760"/>
          </a:xfrm>
          <a:prstGeom prst="rect">
            <a:avLst/>
          </a:prstGeom>
          <a:noFill/>
        </p:spPr>
        <p:txBody>
          <a:bodyPr wrap="none">
            <a:spAutoFit/>
          </a:bodyPr>
          <a:lstStyle/>
          <a:p>
            <a:pPr>
              <a:defRPr sz="1600">
                <a:solidFill>
                  <a:srgbClr val="202124"/>
                </a:solidFill>
              </a:defRPr>
            </a:pPr>
            <a:r>
              <a:t>CLAUDE CODE FULL COURSE 4 HOURS: Build &amp; Sell (2026)</a:t>
            </a:r>
          </a:p>
        </p:txBody>
      </p:sp>
      <p:sp>
        <p:nvSpPr>
          <p:cNvPr id="10" name="TextBox 9"/>
          <p:cNvSpPr txBox="1"/>
          <p:nvPr/>
        </p:nvSpPr>
        <p:spPr>
          <a:xfrm>
            <a:off x="914400" y="4114800"/>
            <a:ext cx="10058400" cy="365760"/>
          </a:xfrm>
          <a:prstGeom prst="rect">
            <a:avLst/>
          </a:prstGeom>
          <a:noFill/>
        </p:spPr>
        <p:txBody>
          <a:bodyPr wrap="none">
            <a:spAutoFit/>
          </a:bodyPr>
          <a:lstStyle/>
          <a:p>
            <a:pPr>
              <a:defRPr sz="1400" b="1">
                <a:solidFill>
                  <a:srgbClr val="1A73E8"/>
                </a:solidFill>
              </a:defRPr>
            </a:pPr>
            <a:r>
              <a:t>[Jack Roberts]</a:t>
            </a:r>
          </a:p>
        </p:txBody>
      </p:sp>
      <p:sp>
        <p:nvSpPr>
          <p:cNvPr id="11" name="TextBox 10"/>
          <p:cNvSpPr txBox="1"/>
          <p:nvPr/>
        </p:nvSpPr>
        <p:spPr>
          <a:xfrm>
            <a:off x="914400" y="4434840"/>
            <a:ext cx="10058400" cy="365760"/>
          </a:xfrm>
          <a:prstGeom prst="rect">
            <a:avLst/>
          </a:prstGeom>
          <a:noFill/>
        </p:spPr>
        <p:txBody>
          <a:bodyPr wrap="none">
            <a:spAutoFit/>
          </a:bodyPr>
          <a:lstStyle/>
          <a:p>
            <a:pPr>
              <a:defRPr sz="1600">
                <a:solidFill>
                  <a:srgbClr val="202124"/>
                </a:solidFill>
              </a:defRPr>
            </a:pPr>
            <a:r>
              <a:t>5 INSANE Claude Cowork use cases (Build Anything)</a:t>
            </a:r>
          </a:p>
        </p:txBody>
      </p:sp>
      <p:sp>
        <p:nvSpPr>
          <p:cNvPr id="12" name="TextBox 11"/>
          <p:cNvSpPr txBox="1"/>
          <p:nvPr/>
        </p:nvSpPr>
        <p:spPr>
          <a:xfrm>
            <a:off x="914400" y="4937760"/>
            <a:ext cx="10058400" cy="365760"/>
          </a:xfrm>
          <a:prstGeom prst="rect">
            <a:avLst/>
          </a:prstGeom>
          <a:noFill/>
        </p:spPr>
        <p:txBody>
          <a:bodyPr wrap="none">
            <a:spAutoFit/>
          </a:bodyPr>
          <a:lstStyle/>
          <a:p>
            <a:pPr>
              <a:defRPr sz="1400" b="1">
                <a:solidFill>
                  <a:srgbClr val="1A73E8"/>
                </a:solidFill>
              </a:defRPr>
            </a:pPr>
            <a:r>
              <a:t>[Jack Roberts]</a:t>
            </a:r>
          </a:p>
        </p:txBody>
      </p:sp>
      <p:sp>
        <p:nvSpPr>
          <p:cNvPr id="13" name="TextBox 12"/>
          <p:cNvSpPr txBox="1"/>
          <p:nvPr/>
        </p:nvSpPr>
        <p:spPr>
          <a:xfrm>
            <a:off x="914400" y="5257800"/>
            <a:ext cx="10058400" cy="365760"/>
          </a:xfrm>
          <a:prstGeom prst="rect">
            <a:avLst/>
          </a:prstGeom>
          <a:noFill/>
        </p:spPr>
        <p:txBody>
          <a:bodyPr wrap="none">
            <a:spAutoFit/>
          </a:bodyPr>
          <a:lstStyle/>
          <a:p>
            <a:pPr>
              <a:defRPr sz="1600">
                <a:solidFill>
                  <a:srgbClr val="202124"/>
                </a:solidFill>
              </a:defRPr>
            </a:pPr>
            <a:r>
              <a:t>AntiGravity + Claude Code Destroys Every Workflow Tool (NEW Skill)</a:t>
            </a:r>
          </a:p>
        </p:txBody>
      </p:sp>
      <p:sp>
        <p:nvSpPr>
          <p:cNvPr id="14" name="TextBox 13"/>
          <p:cNvSpPr txBox="1"/>
          <p:nvPr/>
        </p:nvSpPr>
        <p:spPr>
          <a:xfrm>
            <a:off x="914400" y="5760720"/>
            <a:ext cx="10058400" cy="365760"/>
          </a:xfrm>
          <a:prstGeom prst="rect">
            <a:avLst/>
          </a:prstGeom>
          <a:noFill/>
        </p:spPr>
        <p:txBody>
          <a:bodyPr wrap="none">
            <a:spAutoFit/>
          </a:bodyPr>
          <a:lstStyle/>
          <a:p>
            <a:pPr>
              <a:defRPr sz="1400" b="1">
                <a:solidFill>
                  <a:srgbClr val="1A73E8"/>
                </a:solidFill>
              </a:defRPr>
            </a:pPr>
            <a:r>
              <a:t>[Chase AI]</a:t>
            </a:r>
          </a:p>
        </p:txBody>
      </p:sp>
      <p:sp>
        <p:nvSpPr>
          <p:cNvPr id="15" name="TextBox 14"/>
          <p:cNvSpPr txBox="1"/>
          <p:nvPr/>
        </p:nvSpPr>
        <p:spPr>
          <a:xfrm>
            <a:off x="914400" y="6080760"/>
            <a:ext cx="10058400" cy="365760"/>
          </a:xfrm>
          <a:prstGeom prst="rect">
            <a:avLst/>
          </a:prstGeom>
          <a:noFill/>
        </p:spPr>
        <p:txBody>
          <a:bodyPr wrap="none">
            <a:spAutoFit/>
          </a:bodyPr>
          <a:lstStyle/>
          <a:p>
            <a:pPr>
              <a:defRPr sz="1600">
                <a:solidFill>
                  <a:srgbClr val="202124"/>
                </a:solidFill>
              </a:defRPr>
            </a:pPr>
            <a:r>
              <a:t>Claude Sonnet 4.6 Is Here (and Better Than Opus?)</a:t>
            </a:r>
          </a:p>
        </p:txBody>
      </p:sp>
      <p:sp>
        <p:nvSpPr>
          <p:cNvPr id="16" name="TextBox 15"/>
          <p:cNvSpPr txBox="1"/>
          <p:nvPr/>
        </p:nvSpPr>
        <p:spPr>
          <a:xfrm>
            <a:off x="914400" y="6583680"/>
            <a:ext cx="10058400" cy="365760"/>
          </a:xfrm>
          <a:prstGeom prst="rect">
            <a:avLst/>
          </a:prstGeom>
          <a:noFill/>
        </p:spPr>
        <p:txBody>
          <a:bodyPr wrap="none">
            <a:spAutoFit/>
          </a:bodyPr>
          <a:lstStyle/>
          <a:p>
            <a:pPr>
              <a:defRPr sz="1400" b="1">
                <a:solidFill>
                  <a:srgbClr val="1A73E8"/>
                </a:solidFill>
              </a:defRPr>
            </a:pPr>
            <a:r>
              <a:t>[Chase AI]</a:t>
            </a:r>
          </a:p>
        </p:txBody>
      </p:sp>
      <p:sp>
        <p:nvSpPr>
          <p:cNvPr id="17" name="TextBox 16"/>
          <p:cNvSpPr txBox="1"/>
          <p:nvPr/>
        </p:nvSpPr>
        <p:spPr>
          <a:xfrm>
            <a:off x="914400" y="6903720"/>
            <a:ext cx="10058400" cy="365760"/>
          </a:xfrm>
          <a:prstGeom prst="rect">
            <a:avLst/>
          </a:prstGeom>
          <a:noFill/>
        </p:spPr>
        <p:txBody>
          <a:bodyPr wrap="none">
            <a:spAutoFit/>
          </a:bodyPr>
          <a:lstStyle/>
          <a:p>
            <a:pPr>
              <a:defRPr sz="1600">
                <a:solidFill>
                  <a:srgbClr val="202124"/>
                </a:solidFill>
              </a:defRPr>
            </a:pPr>
            <a:r>
              <a:t>I used to build everything in n8n, here's why I stopped (mostly)</a:t>
            </a:r>
          </a:p>
        </p:txBody>
      </p:sp>
      <p:sp>
        <p:nvSpPr>
          <p:cNvPr id="18" name="TextBox 17"/>
          <p:cNvSpPr txBox="1"/>
          <p:nvPr/>
        </p:nvSpPr>
        <p:spPr>
          <a:xfrm>
            <a:off x="914400" y="7406640"/>
            <a:ext cx="10058400" cy="365760"/>
          </a:xfrm>
          <a:prstGeom prst="rect">
            <a:avLst/>
          </a:prstGeom>
          <a:noFill/>
        </p:spPr>
        <p:txBody>
          <a:bodyPr wrap="none">
            <a:spAutoFit/>
          </a:bodyPr>
          <a:lstStyle/>
          <a:p>
            <a:pPr>
              <a:defRPr sz="1400" b="1">
                <a:solidFill>
                  <a:srgbClr val="1A73E8"/>
                </a:solidFill>
              </a:defRPr>
            </a:pPr>
            <a:r>
              <a:t>[Chase AI]</a:t>
            </a:r>
          </a:p>
        </p:txBody>
      </p:sp>
      <p:sp>
        <p:nvSpPr>
          <p:cNvPr id="19" name="TextBox 18"/>
          <p:cNvSpPr txBox="1"/>
          <p:nvPr/>
        </p:nvSpPr>
        <p:spPr>
          <a:xfrm>
            <a:off x="914400" y="7726680"/>
            <a:ext cx="10058400" cy="365760"/>
          </a:xfrm>
          <a:prstGeom prst="rect">
            <a:avLst/>
          </a:prstGeom>
          <a:noFill/>
        </p:spPr>
        <p:txBody>
          <a:bodyPr wrap="none">
            <a:spAutoFit/>
          </a:bodyPr>
          <a:lstStyle/>
          <a:p>
            <a:pPr>
              <a:defRPr sz="1600">
                <a:solidFill>
                  <a:srgbClr val="202124"/>
                </a:solidFill>
              </a:defRPr>
            </a:pPr>
            <a:r>
              <a:t>i converted all my n8n agents to real code and it was stupid easy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3200" b="1">
                <a:solidFill>
                  <a:srgbClr val="1A73E8"/>
                </a:solidFill>
              </a:defRPr>
            </a:pPr>
            <a:r>
              <a:t>From Nate Herk </a:t>
            </a:r>
          </a:p>
        </p:txBody>
      </p:sp>
      <p:sp>
        <p:nvSpPr>
          <p:cNvPr id="3" name="Rectangle 2"/>
          <p:cNvSpPr/>
          <p:nvPr/>
        </p:nvSpPr>
        <p:spPr>
          <a:xfrm>
            <a:off x="457200" y="1280160"/>
            <a:ext cx="1828800" cy="3810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058400" cy="914400"/>
          </a:xfrm>
          <a:prstGeom prst="rect">
            <a:avLst/>
          </a:prstGeom>
          <a:noFill/>
        </p:spPr>
        <p:txBody>
          <a:bodyPr wrap="square">
            <a:spAutoFit/>
          </a:bodyPr>
          <a:lstStyle/>
          <a:p>
            <a:pPr>
              <a:defRPr sz="1600" b="1">
                <a:solidFill>
                  <a:srgbClr val="202124"/>
                </a:solidFill>
              </a:defRPr>
            </a:pPr>
            <a:r>
              <a:t>• How to Sign AI Workflow Clients (With 0 Followers)</a:t>
            </a:r>
          </a:p>
          <a:p>
            <a:pPr>
              <a:defRPr sz="1200">
                <a:solidFill>
                  <a:srgbClr val="5F6368"/>
                </a:solidFill>
              </a:defRPr>
            </a:pPr>
            <a:r>
              <a:t>People keep telling me they can't land People keep telling me they can't land People keep telling me they can't land AI clients because they don't have a AI clients because they don't have a AI client...</a:t>
            </a:r>
          </a:p>
        </p:txBody>
      </p:sp>
      <p:sp>
        <p:nvSpPr>
          <p:cNvPr id="5" name="TextBox 4"/>
          <p:cNvSpPr txBox="1"/>
          <p:nvPr/>
        </p:nvSpPr>
        <p:spPr>
          <a:xfrm>
            <a:off x="914400" y="2743200"/>
            <a:ext cx="10058400" cy="914400"/>
          </a:xfrm>
          <a:prstGeom prst="rect">
            <a:avLst/>
          </a:prstGeom>
          <a:noFill/>
        </p:spPr>
        <p:txBody>
          <a:bodyPr wrap="square">
            <a:spAutoFit/>
          </a:bodyPr>
          <a:lstStyle/>
          <a:p>
            <a:pPr>
              <a:defRPr sz="1600" b="1">
                <a:solidFill>
                  <a:srgbClr val="202124"/>
                </a:solidFill>
              </a:defRPr>
            </a:pPr>
            <a:r>
              <a:t>• How a College Student Made $500k with Cold Email (Exact Framework)</a:t>
            </a:r>
          </a:p>
          <a:p>
            <a:pPr>
              <a:defRPr sz="1200">
                <a:solidFill>
                  <a:srgbClr val="5F6368"/>
                </a:solidFill>
              </a:defRPr>
            </a:pPr>
            <a:r>
              <a:t>Cold email is responsible for some of Cold email is responsible for some of Cold email is responsible for some of the fastest client acquisition in the the fastest client acquisition in the the fastes...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3200" b="1">
                <a:solidFill>
                  <a:srgbClr val="1A73E8"/>
                </a:solidFill>
              </a:defRPr>
            </a:pPr>
            <a:r>
              <a:t>From Nick Saraev</a:t>
            </a:r>
          </a:p>
        </p:txBody>
      </p:sp>
      <p:sp>
        <p:nvSpPr>
          <p:cNvPr id="3" name="Rectangle 2"/>
          <p:cNvSpPr/>
          <p:nvPr/>
        </p:nvSpPr>
        <p:spPr>
          <a:xfrm>
            <a:off x="457200" y="1280160"/>
            <a:ext cx="1828800" cy="3810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058400" cy="914400"/>
          </a:xfrm>
          <a:prstGeom prst="rect">
            <a:avLst/>
          </a:prstGeom>
          <a:noFill/>
        </p:spPr>
        <p:txBody>
          <a:bodyPr wrap="square">
            <a:spAutoFit/>
          </a:bodyPr>
          <a:lstStyle/>
          <a:p>
            <a:pPr>
              <a:defRPr sz="1600" b="1">
                <a:solidFill>
                  <a:srgbClr val="202124"/>
                </a:solidFill>
              </a:defRPr>
            </a:pPr>
            <a:r>
              <a:t>• CLAUDE CODE FULL COURSE 4 HOURS: Build &amp; Sell (2026)</a:t>
            </a:r>
          </a:p>
          <a:p>
            <a:pPr>
              <a:defRPr sz="1200">
                <a:solidFill>
                  <a:srgbClr val="5F6368"/>
                </a:solidFill>
              </a:defRPr>
            </a:pPr>
            <a:r>
              <a:t>Hey, this is the definitive course on Claude Code for beginners. I use Claude Code every day to manage a business that does over $4 million a year in profit. I also teach over 2,000 people how to use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3200" b="1">
                <a:solidFill>
                  <a:srgbClr val="1A73E8"/>
                </a:solidFill>
              </a:defRPr>
            </a:pPr>
            <a:r>
              <a:t>From Jack Roberts</a:t>
            </a:r>
          </a:p>
        </p:txBody>
      </p:sp>
      <p:sp>
        <p:nvSpPr>
          <p:cNvPr id="3" name="Rectangle 2"/>
          <p:cNvSpPr/>
          <p:nvPr/>
        </p:nvSpPr>
        <p:spPr>
          <a:xfrm>
            <a:off x="457200" y="1280160"/>
            <a:ext cx="1828800" cy="3810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058400" cy="914400"/>
          </a:xfrm>
          <a:prstGeom prst="rect">
            <a:avLst/>
          </a:prstGeom>
          <a:noFill/>
        </p:spPr>
        <p:txBody>
          <a:bodyPr wrap="square">
            <a:spAutoFit/>
          </a:bodyPr>
          <a:lstStyle/>
          <a:p>
            <a:pPr>
              <a:defRPr sz="1600" b="1">
                <a:solidFill>
                  <a:srgbClr val="202124"/>
                </a:solidFill>
              </a:defRPr>
            </a:pPr>
            <a:r>
              <a:t>• 5 INSANE Claude Cowork use cases (Build Anything)</a:t>
            </a:r>
          </a:p>
          <a:p>
            <a:pPr>
              <a:defRPr sz="1200">
                <a:solidFill>
                  <a:srgbClr val="5F6368"/>
                </a:solidFill>
              </a:defRPr>
            </a:pPr>
            <a:r>
              <a:t>Cloud Co just dropped and it is a Cloud Co just dropped and it is a Cloud Co just dropped and it is a superpower, but only if you know how to superpower, but only if you know how to superpower, but on...</a:t>
            </a:r>
          </a:p>
        </p:txBody>
      </p:sp>
      <p:sp>
        <p:nvSpPr>
          <p:cNvPr id="5" name="TextBox 4"/>
          <p:cNvSpPr txBox="1"/>
          <p:nvPr/>
        </p:nvSpPr>
        <p:spPr>
          <a:xfrm>
            <a:off x="914400" y="2743200"/>
            <a:ext cx="10058400" cy="914400"/>
          </a:xfrm>
          <a:prstGeom prst="rect">
            <a:avLst/>
          </a:prstGeom>
          <a:noFill/>
        </p:spPr>
        <p:txBody>
          <a:bodyPr wrap="square">
            <a:spAutoFit/>
          </a:bodyPr>
          <a:lstStyle/>
          <a:p>
            <a:pPr>
              <a:defRPr sz="1600" b="1">
                <a:solidFill>
                  <a:srgbClr val="202124"/>
                </a:solidFill>
              </a:defRPr>
            </a:pPr>
            <a:r>
              <a:t>• AntiGravity + Claude Code Destroys Every Workflow Tool (NEW Skill)</a:t>
            </a:r>
          </a:p>
          <a:p>
            <a:pPr>
              <a:defRPr sz="1200">
                <a:solidFill>
                  <a:srgbClr val="5F6368"/>
                </a:solidFill>
              </a:defRPr>
            </a:pPr>
            <a:r>
              <a:t>Plug code is the most powerful AI coding Plug code is the most powerful AI coding Plug code is the most powerful AI coding tool on the planet and using it in tool on the planet and using it in tool 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3200" b="1">
                <a:solidFill>
                  <a:srgbClr val="1A73E8"/>
                </a:solidFill>
              </a:defRPr>
            </a:pPr>
            <a:r>
              <a:t>From Chase AI</a:t>
            </a:r>
          </a:p>
        </p:txBody>
      </p:sp>
      <p:sp>
        <p:nvSpPr>
          <p:cNvPr id="3" name="Rectangle 2"/>
          <p:cNvSpPr/>
          <p:nvPr/>
        </p:nvSpPr>
        <p:spPr>
          <a:xfrm>
            <a:off x="457200" y="1280160"/>
            <a:ext cx="1828800" cy="3810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058400" cy="914400"/>
          </a:xfrm>
          <a:prstGeom prst="rect">
            <a:avLst/>
          </a:prstGeom>
          <a:noFill/>
        </p:spPr>
        <p:txBody>
          <a:bodyPr wrap="square">
            <a:spAutoFit/>
          </a:bodyPr>
          <a:lstStyle/>
          <a:p>
            <a:pPr>
              <a:defRPr sz="1600" b="1">
                <a:solidFill>
                  <a:srgbClr val="202124"/>
                </a:solidFill>
              </a:defRPr>
            </a:pPr>
            <a:r>
              <a:t>• Claude Sonnet 4.6 Is Here (and Better Than Opus?)</a:t>
            </a:r>
          </a:p>
          <a:p>
            <a:pPr>
              <a:defRPr sz="1200">
                <a:solidFill>
                  <a:srgbClr val="5F6368"/>
                </a:solidFill>
              </a:defRPr>
            </a:pPr>
            <a:r>
              <a:t>So, Anthropic just released Sonnet 4.6 So, Anthropic just released Sonnet 4.6 So, Anthropic just released Sonnet 4.6 today, and the benchmarks are really today, and the benchmarks are really today, an...</a:t>
            </a:r>
          </a:p>
        </p:txBody>
      </p:sp>
      <p:sp>
        <p:nvSpPr>
          <p:cNvPr id="5" name="TextBox 4"/>
          <p:cNvSpPr txBox="1"/>
          <p:nvPr/>
        </p:nvSpPr>
        <p:spPr>
          <a:xfrm>
            <a:off x="914400" y="2743200"/>
            <a:ext cx="10058400" cy="914400"/>
          </a:xfrm>
          <a:prstGeom prst="rect">
            <a:avLst/>
          </a:prstGeom>
          <a:noFill/>
        </p:spPr>
        <p:txBody>
          <a:bodyPr wrap="square">
            <a:spAutoFit/>
          </a:bodyPr>
          <a:lstStyle/>
          <a:p>
            <a:pPr>
              <a:defRPr sz="1600" b="1">
                <a:solidFill>
                  <a:srgbClr val="202124"/>
                </a:solidFill>
              </a:defRPr>
            </a:pPr>
            <a:r>
              <a:t>• I used to build everything in n8n, here's why I stopped (mostly)</a:t>
            </a:r>
          </a:p>
          <a:p>
            <a:pPr>
              <a:defRPr sz="1200">
                <a:solidFill>
                  <a:srgbClr val="5F6368"/>
                </a:solidFill>
              </a:defRPr>
            </a:pPr>
            <a:r>
              <a:t>I've built hundreds of NAND workflows I've built hundreds of NAND workflows I've built hundreds of NAND workflows and I've taught thousands of people how and I've taught thousands of people how and I'...</a:t>
            </a:r>
          </a:p>
        </p:txBody>
      </p:sp>
      <p:sp>
        <p:nvSpPr>
          <p:cNvPr id="6" name="TextBox 5"/>
          <p:cNvSpPr txBox="1"/>
          <p:nvPr/>
        </p:nvSpPr>
        <p:spPr>
          <a:xfrm>
            <a:off x="914400" y="3840480"/>
            <a:ext cx="10058400" cy="914400"/>
          </a:xfrm>
          <a:prstGeom prst="rect">
            <a:avLst/>
          </a:prstGeom>
          <a:noFill/>
        </p:spPr>
        <p:txBody>
          <a:bodyPr wrap="square">
            <a:spAutoFit/>
          </a:bodyPr>
          <a:lstStyle/>
          <a:p>
            <a:pPr>
              <a:defRPr sz="1600" b="1">
                <a:solidFill>
                  <a:srgbClr val="202124"/>
                </a:solidFill>
              </a:defRPr>
            </a:pPr>
            <a:r>
              <a:t>• i converted all my n8n agents to real code and it was stupid easy</a:t>
            </a:r>
          </a:p>
          <a:p>
            <a:pPr>
              <a:defRPr sz="1200">
                <a:solidFill>
                  <a:srgbClr val="5F6368"/>
                </a:solidFill>
              </a:defRPr>
            </a:pPr>
            <a:r>
              <a:t>NADN has been one of the most powerful NADN has been one of the most powerful NADN has been one of the most powerful noode tools on the market for some time noode tools on the market for some time noo...</a:t>
            </a:r>
          </a:p>
        </p:txBody>
      </p:sp>
      <p:sp>
        <p:nvSpPr>
          <p:cNvPr id="7" name="TextBox 6"/>
          <p:cNvSpPr txBox="1"/>
          <p:nvPr/>
        </p:nvSpPr>
        <p:spPr>
          <a:xfrm>
            <a:off x="914400" y="4937760"/>
            <a:ext cx="10058400" cy="914400"/>
          </a:xfrm>
          <a:prstGeom prst="rect">
            <a:avLst/>
          </a:prstGeom>
          <a:noFill/>
        </p:spPr>
        <p:txBody>
          <a:bodyPr wrap="square">
            <a:spAutoFit/>
          </a:bodyPr>
          <a:lstStyle/>
          <a:p>
            <a:pPr>
              <a:defRPr sz="1600" b="1">
                <a:solidFill>
                  <a:srgbClr val="202124"/>
                </a:solidFill>
              </a:defRPr>
            </a:pPr>
            <a:r>
              <a:t>• OpenClaw Google Setup is a Nightmare (Here's the Fix)</a:t>
            </a:r>
          </a:p>
          <a:p>
            <a:pPr>
              <a:defRPr sz="1200">
                <a:solidFill>
                  <a:srgbClr val="5F6368"/>
                </a:solidFill>
              </a:defRPr>
            </a:pPr>
            <a:r>
              <a:t>OpenClaw is the fastest growing OpenClaw is the fastest growing OpenClaw is the fastest growing open-source AI project of all time. And open-source AI project of all time. And open-source AI project 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3200" b="1">
                <a:solidFill>
                  <a:srgbClr val="1A73E8"/>
                </a:solidFill>
              </a:defRPr>
            </a:pPr>
            <a:r>
              <a:t>Key Insights</a:t>
            </a:r>
          </a:p>
        </p:txBody>
      </p:sp>
      <p:sp>
        <p:nvSpPr>
          <p:cNvPr id="3" name="Rectangle 2"/>
          <p:cNvSpPr/>
          <p:nvPr/>
        </p:nvSpPr>
        <p:spPr>
          <a:xfrm>
            <a:off x="457200" y="1280160"/>
            <a:ext cx="1828800" cy="38100"/>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62895" cy="4114800"/>
          </a:xfrm>
          <a:prstGeom prst="rect">
            <a:avLst/>
          </a:prstGeom>
          <a:noFill/>
        </p:spPr>
        <p:txBody>
          <a:bodyPr wrap="square">
            <a:spAutoFit/>
          </a:bodyPr>
          <a:lstStyle/>
          <a:p>
            <a:pPr>
              <a:defRPr sz="1400">
                <a:solidFill>
                  <a:srgbClr val="202124"/>
                </a:solidFill>
              </a:defRPr>
            </a:pPr>
            <a:r>
              <a:t>Key AI topics mentioned: AI, machine learning, GPT, LLM, automation, Claude, ChatGPT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0"/>
            <a:ext cx="11277295" cy="914400"/>
          </a:xfrm>
          <a:prstGeom prst="rect">
            <a:avLst/>
          </a:prstGeom>
          <a:noFill/>
        </p:spPr>
        <p:txBody>
          <a:bodyPr wrap="none">
            <a:spAutoFit/>
          </a:bodyPr>
          <a:lstStyle/>
          <a:p>
            <a:pPr algn="ctr">
              <a:defRPr sz="4800" b="1">
                <a:solidFill>
                  <a:srgbClr val="FFFFFF"/>
                </a:solidFill>
              </a:defRPr>
            </a:pPr>
            <a:r>
              <a:t>Thank You!</a:t>
            </a:r>
          </a:p>
        </p:txBody>
      </p:sp>
      <p:sp>
        <p:nvSpPr>
          <p:cNvPr id="4" name="TextBox 3"/>
          <p:cNvSpPr txBox="1"/>
          <p:nvPr/>
        </p:nvSpPr>
        <p:spPr>
          <a:xfrm>
            <a:off x="457200" y="4114800"/>
            <a:ext cx="11277295" cy="914400"/>
          </a:xfrm>
          <a:prstGeom prst="rect">
            <a:avLst/>
          </a:prstGeom>
          <a:noFill/>
        </p:spPr>
        <p:txBody>
          <a:bodyPr wrap="none">
            <a:spAutoFit/>
          </a:bodyPr>
          <a:lstStyle/>
          <a:p>
            <a:pPr algn="ctr">
              <a:defRPr sz="1600">
                <a:solidFill>
                  <a:srgbClr val="CCCCCC"/>
                </a:solidFill>
              </a:defRPr>
            </a:pPr>
            <a:r>
              <a:t>Generated on 2026-02-18 08:06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