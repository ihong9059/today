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4297680"/>
            <a:ext cx="3410712" cy="256032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778240" y="4297680"/>
            <a:ext cx="164592" cy="256032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4008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UTTEC</a:t>
            </a:r>
            <a:r>
              <a:rPr sz="1800" b="0">
                <a:solidFill>
                  <a:srgbClr val="BFD2E0"/>
                </a:solidFill>
                <a:latin typeface="맑은 고딕"/>
                <a:ea typeface="맑은 고딕"/>
                <a:cs typeface="맑은 고딕"/>
              </a:rPr>
              <a:t>   광주 AI·IoT 스마트팩토리 실습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BFD2E0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31720"/>
            <a:ext cx="1828800" cy="731520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1828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2회차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96012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공장의 눈과
귀 만들기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00600"/>
            <a:ext cx="75895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0">
                <a:solidFill>
                  <a:srgbClr val="D9E4EC"/>
                </a:solidFill>
                <a:latin typeface="맑은 고딕"/>
                <a:ea typeface="맑은 고딕"/>
                <a:cs typeface="맑은 고딕"/>
              </a:rPr>
              <a:t>온습도 센서로 ‘보고’, 화면(OLED)에 ‘띄우고’, LED 신호등으로 ‘알린다’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504688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3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百見不如一習   ·   직접 익히는 교육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📅 제2주차 · 13:00~17:00</a:t>
            </a:r>
            <a:r>
              <a:rPr sz="1400" b="0">
                <a:solidFill>
                  <a:srgbClr val="BFD2E0"/>
                </a:solidFill>
                <a:latin typeface="맑은 고딕"/>
                <a:ea typeface="맑은 고딕"/>
                <a:cs typeface="맑은 고딕"/>
              </a:rPr>
              <a:t>     👤 홍광선 대표 · UTTEC 교육팀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지난주 복습 &amp; 오늘 목표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2 /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94560"/>
            <a:ext cx="5303520" cy="35661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109728" cy="356616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9572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🔁 1회차 복습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926080"/>
            <a:ext cx="47548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라즈베리파이 = 손바닥 컴퓨터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print 로 화면에 글자 출력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변수(상자)로 숫자 다루기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8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Q. print 는 무슨 뜻이었나요?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194560"/>
            <a:ext cx="5532120" cy="35661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194560"/>
            <a:ext cx="109728" cy="356616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395728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🎯 오늘 끝나면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49377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온도·습도를 </a:t>
            </a: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숫자로 읽고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작은 화면(OLED)에 </a:t>
            </a: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실시간 표시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LED 신호등으로 </a:t>
            </a: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상태 색 표시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손으로 센서를 만지면 </a:t>
            </a:r>
            <a:r>
              <a:rPr sz="15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숫자가 변함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이론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핀으로 신호를 주고받는다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어려운 말(GPIO·I2C)도 핵심만 — ‘전기로 켜고 끄고, 숫자를 읽는다’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3 /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77440"/>
            <a:ext cx="11091672" cy="1051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77440"/>
            <a:ext cx="109728" cy="10515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542032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🔌 GPIO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542032"/>
            <a:ext cx="7772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보드의 핀. 전기를 ‘켜고/끄기’ 로 LED·부저를 다룹니다. (디지털 출력)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20440"/>
            <a:ext cx="11091672" cy="1051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520440"/>
            <a:ext cx="109728" cy="10515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85032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🔘 입력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685032"/>
            <a:ext cx="7772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버튼을 누르면 ‘눌림’ 신호가 들어옵니다. (디지털 입력)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63440"/>
            <a:ext cx="11091672" cy="105156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663440"/>
            <a:ext cx="109728" cy="10515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828032"/>
            <a:ext cx="27432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8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📡 I2C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828032"/>
            <a:ext cx="77724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센서와 ‘대화하는 통로’. 선 2개로 센서가 보낸 숫자를 읽습니다.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실습 ① LED 신호등 · 부저 · 스위치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전기를 켜고 끄며 ‘출력’ 을 익힙니다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4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LED 3색을 차례로 켜 봅니다.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부저를 한 번 ‘삑’ 울립니다.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버튼을 누르면 반응하게 합니다.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8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True = 켜기 / False = 끄기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핀 번호만 바꾸면 빨강·노랑·파랑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을 각각 켤 수 있습니다.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330952" cy="310896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59152"/>
            <a:ext cx="47823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F9AAE"/>
                </a:solidFill>
                <a:latin typeface="맑은 고딕"/>
                <a:ea typeface="맑은 고딕"/>
                <a:cs typeface="맑은 고딕"/>
              </a:rPr>
              <a:t>LED · 부저 제어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61488"/>
            <a:ext cx="478231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# 핀: RED=17  YELLOW=27  BLUE=22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GPIO.output(17, True)   # 빨강 켜기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GPIO.output(5,  True)   # 부저 삑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time.sleep(0.3)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GPIO.output(5,  False)  # 부저 끄기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실습 ② 온습도 읽어 화면에 띄우기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센서가 보낸 숫자를 OLED 화면에 실시간 표시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5 / 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AHT20 센서가 온도·습도를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숫자로 보내줍니다.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그 숫자를 OLED 화면에 띄우고,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WS2812 LED 색으로도 표현합니다.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8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2초마다 자동으로 새 값을 읽어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화면이 계속 갱신됩니다.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194560"/>
            <a:ext cx="5330952" cy="3108960"/>
          </a:xfrm>
          <a:prstGeom prst="roundRect">
            <a:avLst/>
          </a:prstGeom>
          <a:solidFill>
            <a:srgbClr val="1E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359152"/>
            <a:ext cx="478231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7F9AAE"/>
                </a:solidFill>
                <a:latin typeface="맑은 고딕"/>
                <a:ea typeface="맑은 고딕"/>
                <a:cs typeface="맑은 고딕"/>
              </a:rPr>
              <a:t>온습도 읽기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61488"/>
            <a:ext cx="478231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t = sensor.temperature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h = sensor.relative_humidity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print(f"온도 {t:.1f}C 습도 {h:.1f}%")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# → 같은 값을 OLED 화면에 표시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500" b="0">
                <a:solidFill>
                  <a:srgbClr val="EAF2F7"/>
                </a:solidFill>
                <a:latin typeface="Consolas"/>
                <a:ea typeface="Consolas"/>
                <a:cs typeface="Consolas"/>
              </a:rPr>
              <a:t>time.sleep(2)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E76F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체험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직접 체험 — 손으로 만져보기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내가 만든 ‘공장의 눈’ 이 진짜 반응하는지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6 / 8</a:t>
            </a:r>
          </a:p>
        </p:txBody>
      </p:sp>
      <p:pic>
        <p:nvPicPr>
          <p:cNvPr id="10" name="Picture 9" descr="04_touch_o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94560"/>
            <a:ext cx="5120640" cy="3657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2468880"/>
            <a:ext cx="5486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2000" b="1">
                <a:solidFill>
                  <a:srgbClr val="E76F51"/>
                </a:solidFill>
                <a:latin typeface="맑은 고딕"/>
                <a:ea typeface="맑은 고딕"/>
                <a:cs typeface="맑은 고딕"/>
              </a:rPr>
              <a:t>해보기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① 센서를 손가락으로 살짝 잡습니다.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② OLED 화면의 온도 숫자가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  올라가는지 봅니다.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③ 신호등 색이 바뀌는지 봅니다.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8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→ 센서·화면·LED 가 하나로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   움직이는 첫 ‘통합’ 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위키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오늘의 위키 — 장비/부품 카드 만들기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276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오늘 쓴 부품을 1개당 1장 카드로 — Claude에게 시켜 빠르게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7 /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548640"/>
            <a:ext cx="2240280" cy="420624"/>
          </a:xfrm>
          <a:prstGeom prst="roundRect">
            <a:avLst/>
          </a:prstGeom>
          <a:solidFill>
            <a:srgbClr val="F4C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548640"/>
            <a:ext cx="2240280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25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★ 강화 제안 (협의 진행 중)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194560"/>
            <a:ext cx="5349240" cy="36118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94560"/>
            <a:ext cx="109728" cy="361188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395728"/>
            <a:ext cx="4754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7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🔧 오늘의 위키 활동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2926080"/>
            <a:ext cx="4800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오늘 쓴 부품을 </a:t>
            </a:r>
            <a:r>
              <a:rPr sz="15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1개 = 1장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카드로.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AHT20 (온습도 센서)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OLED (작은 화면)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• LED 신호등 / 부저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카드엔 </a:t>
            </a:r>
            <a:r>
              <a:rPr sz="1500" b="1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핀·연결·쓰는 곳</a:t>
            </a: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을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적습니다. 사진은 보관함에.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6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 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현업 연결: 내 설비 부품도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카드로 두면 고장·교체가 빠릅니다.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2194560"/>
            <a:ext cx="544068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2194560"/>
            <a:ext cx="109728" cy="13716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2322576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🗣  나 → Claude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2706624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방금 쓴 AHT20 센서로 장비카드 만들어줘. I2C 핀(SDA=3, SCL=5), 주소 0x38, 쓰는 곳 포함해서.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730752"/>
            <a:ext cx="5440680" cy="13716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730752"/>
            <a:ext cx="109728" cy="1371600"/>
          </a:xfrm>
          <a:prstGeom prst="rect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858768"/>
            <a:ext cx="4983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2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🗣  나 → Claude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242816"/>
            <a:ext cx="4983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40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OLED 화면도 같은 형식으로 장비카드 하나 만들어줘.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6A4C93"/>
                </a:solidFill>
                <a:latin typeface="맑은 고딕"/>
                <a:ea typeface="맑은 고딕"/>
                <a:cs typeface="맑은 고딕"/>
              </a:rPr>
              <a:t>왜? 부품 카드가 쌓이면 ‘내 설비 사전’ 이 됩니다 — 현업에서 그대로 재사용.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02920"/>
            <a:ext cx="749808" cy="384048"/>
          </a:xfrm>
          <a:prstGeom prst="round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601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3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오늘 정리 &amp; 다음 시간 예고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37376"/>
            <a:ext cx="11091672" cy="15240"/>
          </a:xfrm>
          <a:prstGeom prst="rect">
            <a:avLst/>
          </a:prstGeom>
          <a:solidFill>
            <a:srgbClr val="E7EC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00" b="1">
                <a:solidFill>
                  <a:srgbClr val="1B3A5B"/>
                </a:solidFill>
                <a:latin typeface="맑은 고딕"/>
                <a:ea typeface="맑은 고딕"/>
                <a:cs typeface="맑은 고딕"/>
              </a:rPr>
              <a:t>UTTEC  ·  </a:t>
            </a: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AI·IoT 스마트팩토리 실습 과정 · 광주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216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8000"/>
              </a:lnSpc>
              <a:spcAft>
                <a:spcPts val="400"/>
              </a:spcAft>
            </a:pPr>
            <a:r>
              <a:rPr sz="1000" b="0">
                <a:solidFill>
                  <a:srgbClr val="8A97A3"/>
                </a:solidFill>
                <a:latin typeface="맑은 고딕"/>
                <a:ea typeface="맑은 고딕"/>
                <a:cs typeface="맑은 고딕"/>
              </a:rPr>
              <a:t>8 /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900" b="1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✅ 오늘 한 것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2779776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43200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온도·습도를 숫자로 읽었다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346704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10128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10128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OLED 화면에 실시간 표시했다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913632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77056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877056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LED 신호등·부저를 제어했다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480560"/>
            <a:ext cx="310896" cy="310896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43984"/>
            <a:ext cx="31089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8000"/>
              </a:lnSpc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43984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550" b="0">
                <a:solidFill>
                  <a:srgbClr val="222B35"/>
                </a:solidFill>
                <a:latin typeface="맑은 고딕"/>
                <a:ea typeface="맑은 고딕"/>
                <a:cs typeface="맑은 고딕"/>
              </a:rPr>
              <a:t>장비카드로 위키에 기록했다 (제안)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2377440"/>
            <a:ext cx="5029200" cy="3108960"/>
          </a:xfrm>
          <a:prstGeom prst="roundRect">
            <a:avLst/>
          </a:prstGeom>
          <a:solidFill>
            <a:srgbClr val="1B3A5B"/>
          </a:solidFill>
          <a:ln w="12700">
            <a:solidFill>
              <a:srgbClr val="E7EC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260604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6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다음 시간 (3주차)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3154680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자동 경보 시스템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02336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‘기준값’ 넘으면 </a:t>
            </a:r>
            <a:r>
              <a:rPr sz="15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자동 경고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정상·주의·위험 </a:t>
            </a:r>
            <a:r>
              <a:rPr sz="15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자동 판단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• 측정값을 </a:t>
            </a:r>
            <a:r>
              <a:rPr sz="1500" b="1">
                <a:solidFill>
                  <a:srgbClr val="F4C430"/>
                </a:solidFill>
                <a:latin typeface="맑은 고딕"/>
                <a:ea typeface="맑은 고딕"/>
                <a:cs typeface="맑은 고딕"/>
              </a:rPr>
              <a:t>파일로 저장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