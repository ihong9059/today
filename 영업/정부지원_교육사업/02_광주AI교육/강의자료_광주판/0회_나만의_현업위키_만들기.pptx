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4297680"/>
            <a:ext cx="3410712" cy="25603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4297680"/>
            <a:ext cx="164592" cy="25603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UTTEC</a:t>
            </a:r>
            <a:r>
              <a:rPr sz="18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광주 AI·IoT 스마트팩토리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1828800" cy="7315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0회차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나만의 현업 위키
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D9E4EC"/>
                </a:solidFill>
                <a:latin typeface="맑은 고딕"/>
                <a:ea typeface="맑은 고딕"/>
                <a:cs typeface="맑은 고딕"/>
              </a:rPr>
              <a:t>Obsidian + Claude(AI) 로 — 5주의 배움을 ‘평생 자산’ 으로 남기기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046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百見不如一習   ·   직접 익히는 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📅 개강일 · 1회차 시작 전 사전 세팅 (약 30분)</a:t>
            </a:r>
            <a:r>
              <a:rPr sz="14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  👤 홍광선 대표 · UTTEC 교육팀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395728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D9E4EC"/>
                </a:solidFill>
                <a:latin typeface="맑은 고딕"/>
                <a:ea typeface="맑은 고딕"/>
                <a:cs typeface="맑은 고딕"/>
              </a:rPr>
              <a:t>사전 세팅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왜 ‘위키’ 부터 만드나요?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배운 것이 흩어지면 사라집니다 — 쌓아두면 ‘내 현업 가이드’ 가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2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669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8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교육이 끝나면 보통…</a:t>
            </a:r>
          </a:p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무엇을 어떻게 했는지 </a:t>
            </a:r>
            <a:r>
              <a:rPr sz="16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기억이 흐려지고</a:t>
            </a:r>
          </a:p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코드·설정값이 </a:t>
            </a:r>
            <a:r>
              <a:rPr sz="16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어디 갔는지 모르고</a:t>
            </a:r>
          </a:p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현업에 </a:t>
            </a:r>
            <a:r>
              <a:rPr sz="16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다시 만들기 어렵습니다</a:t>
            </a:r>
          </a:p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0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그래서 — 첫날 ‘내 위키(작업 기록 공간)’ 를</a:t>
            </a:r>
          </a:p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먼저 만들고, 5주간 </a:t>
            </a:r>
            <a:r>
              <a:rPr sz="16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그 안에 쌓습니다.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148840"/>
            <a:ext cx="5074920" cy="1691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2148840"/>
            <a:ext cx="109728" cy="1691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🔧  키트 (하드웨어)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852928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교육 후 남는 물리 자산. 손에 잡히는 장비.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977639"/>
            <a:ext cx="5074920" cy="1828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3977639"/>
            <a:ext cx="109728" cy="18288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📚  위키 (방법론) +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681728"/>
            <a:ext cx="4526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평생 쓰는 방법론 자산. 기록·재현·재사용 능력.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→ 다음 프로젝트·현업의 가이드.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위키 + Claude, 무엇인가요?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어려운 도구 아닙니다 — 무료 메모장 + AI 비서 조합입니다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3 /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539496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09728" cy="3566160"/>
          </a:xfrm>
          <a:prstGeom prst="rect">
            <a:avLst/>
          </a:prstGeom>
          <a:solidFill>
            <a:srgbClr val="8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📝  Obsidian = 내 노트(위키)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47548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무료 메모 앱 (설치 5분)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그냥 글로 적는 노트들의 묶음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폴더로 정리, 노트끼리 연결도 가능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내 컴퓨터에 그대로 저장 (내 것!)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94560"/>
            <a:ext cx="539496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94560"/>
            <a:ext cx="109728" cy="35661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4231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🤖  Claude = AI 비서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47548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내 노트를 </a:t>
            </a:r>
            <a:r>
              <a:rPr sz="155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읽고·정리·검색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부탁하면 노트를 </a:t>
            </a:r>
            <a:r>
              <a:rPr sz="155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대신 작성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쌓인 노트로 </a:t>
            </a:r>
            <a:r>
              <a:rPr sz="155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가이드·요약 생성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평소 말투로 시키면 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→ Obsidian 에 쌓고, Claude 로 똑똑하게 쓴다. 이 두 가지가 이 위키의 핵심입니다.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우리 위키의 목표 3가지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4 /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3611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09728" cy="2286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578608"/>
            <a:ext cx="566928" cy="56692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60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교육 목적 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35808"/>
            <a:ext cx="2514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매 회차 만든 것을 직접 적으며 더 깊이 이해합니다. 기록은 최고의 복습.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2377440"/>
            <a:ext cx="3611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2377440"/>
            <a:ext cx="109728" cy="2286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17720" y="2578608"/>
            <a:ext cx="566928" cy="5669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560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Claude 위키 사용법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035808"/>
            <a:ext cx="2514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AI에게 시켜 노트를 정리·검색·생성하는 법을 몸에 익힙니다.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2377440"/>
            <a:ext cx="3611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4" y="2377440"/>
            <a:ext cx="109728" cy="2286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85632" y="2578608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560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현업 재사용 가이드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3035808"/>
            <a:ext cx="2514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5주 뒤, 이 위키가 다음 프로젝트·현업에 바로 쓸 안내서가 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37760"/>
            <a:ext cx="11091672" cy="1051560"/>
          </a:xfrm>
          <a:prstGeom prst="roundRect">
            <a:avLst/>
          </a:prstGeom>
          <a:solidFill>
            <a:srgbClr val="1B3A5B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138928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한 줄 요약:  </a:t>
            </a: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‘배우고 → 기록하고 → AI로 다시 쓴다’ 를 5주간 몸에 익히는 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내 위키 구조 — 폴더 4개 + 안내문 1개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표준 위키 템플릿(sub-vault-template)을 비전공자용으로 단순화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5 /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91672" cy="7132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09728" cy="7132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3230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📓 작업일지.md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459736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날짜별 한 일 한 줄 — 단일 기록 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2450592"/>
            <a:ext cx="1371600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450592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90672"/>
            <a:ext cx="11091672" cy="7132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090672"/>
            <a:ext cx="109728" cy="71323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36976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🔧 장비카드/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26440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부품·설비 1개 = 1장 (핀·연결·메모)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3255264"/>
            <a:ext cx="137160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3255264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entities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95344"/>
            <a:ext cx="11091672" cy="7132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95344"/>
            <a:ext cx="109728" cy="7132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4164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💡 결정메모/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06908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‘왜 그렇게 정했나’ 판단 기록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4059936"/>
            <a:ext cx="1371600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4059936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thoughts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00016"/>
            <a:ext cx="11091672" cy="7132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700016"/>
            <a:ext cx="109728" cy="713232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8463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🗂 보관함/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4873752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사진·데이터·완성 파일 (불변 보관)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12680" y="4864608"/>
            <a:ext cx="1371600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4864608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archive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04688"/>
            <a:ext cx="11091672" cy="7132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504688"/>
            <a:ext cx="109728" cy="713232"/>
          </a:xfrm>
          <a:prstGeom prst="rect">
            <a:avLst/>
          </a:prstGeom>
          <a:solidFill>
            <a:srgbClr val="8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6509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🤖 CLAUDE.md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5678424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Claude에게 ‘내 위키 이렇게 도와줘’ 알려주는 안내문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2680" y="5669280"/>
            <a:ext cx="1371600" cy="384048"/>
          </a:xfrm>
          <a:prstGeom prst="roundRect">
            <a:avLst/>
          </a:prstGeom>
          <a:solidFill>
            <a:srgbClr val="8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5669280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가이드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따라 하기 — 위키 세팅 (약 15분)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6 /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5440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09728" cy="1645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487168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8716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68880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Obsidian 설치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44368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obsidian.md 에서 무료 다운로드 → 설치. (강사가 함께 진행)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286000"/>
            <a:ext cx="5440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286000"/>
            <a:ext cx="109728" cy="1645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2487168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8716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468880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내 위키 폴더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944368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USB/공유로 받은 ‘내_현업위키’ 폴더를 내 컴퓨터에 복사.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42232"/>
            <a:ext cx="5440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42232"/>
            <a:ext cx="109728" cy="1645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" y="4343400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325112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폴더로 열기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800600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Obsidian 실행 → ‘보관함으로 열기’ → 그 폴더 선택.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142232"/>
            <a:ext cx="5440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142232"/>
            <a:ext cx="109728" cy="1645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4343400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34340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325112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첫 기록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800600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작업일지.md 에 오늘 날짜 + ‘위키 세팅 완료’ 한 줄 적기.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※ 폴더와 안내문(CLAUDE.md)은 미리 채워 드립니다 — 여러분은 ‘열고 적기’만!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1042416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Claude 로 위키 쓰기 — 이렇게 시키세요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전문 명령어 필요 없음 — 평소 말투로 부탁하면 Claude가 노트를 처리합니다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7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383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20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내가 한 일을 말하면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Claude가 알맞은 노트로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정리해 줍니다.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→ 손이 느려도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5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   기록이 밀리지 않습니다.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194560"/>
            <a:ext cx="3794760" cy="107899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194560"/>
            <a:ext cx="109728" cy="107899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2340864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743200"/>
            <a:ext cx="33375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오늘 한 일 정리해서 작업일지에 한 줄 추가해줘. 온습도 센서를 화면에 띄웠어.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94560"/>
            <a:ext cx="3794760" cy="107899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94560"/>
            <a:ext cx="109728" cy="107899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340864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743200"/>
            <a:ext cx="33375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방금 쓴 AHT20 센서로 장비카드 한 장 만들어줘. 핀·주소 포함해서.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3456432"/>
            <a:ext cx="3794760" cy="107899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3456432"/>
            <a:ext cx="109728" cy="107899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602736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4005072"/>
            <a:ext cx="33375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경보 기준값을 30도로 정한 이유를 결정메모로 남겨줘.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456432"/>
            <a:ext cx="3794760" cy="107899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3456432"/>
            <a:ext cx="109728" cy="107899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02736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05072"/>
            <a:ext cx="33375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지금까지 노트로 내 현업 적용 1페이지 가이드를 만들어줘.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75488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↑ 마지막 한 줄이 ‘현업 가이드’ — 5주 노트가 다음 일터의 안내서가 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5주 뒤 — 내 위키가 ‘현업 가이드’ 가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매 회차 위키가 채워지고, 마지막에 Claude가 한 장으로 모아줍니다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8 /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109728" cy="1828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1주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16916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위키 시작
+ 첫 기록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5" y="306324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7207" y="246888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7207" y="2468880"/>
            <a:ext cx="109728" cy="1828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7207" y="267004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2주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7" y="3200400"/>
            <a:ext cx="16916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장비카드
쌓기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2" y="306324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74334" y="246888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74334" y="2468880"/>
            <a:ext cx="109728" cy="1828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74334" y="267004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3주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4" y="3200400"/>
            <a:ext cx="16916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결정메모
+ 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89" y="306324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1461" y="246888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41461" y="2468880"/>
            <a:ext cx="109728" cy="1828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41461" y="267004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4주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2901" y="3200400"/>
            <a:ext cx="16916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공유·열람
폰/PC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6" y="306324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08588" y="246888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08588" y="2468880"/>
            <a:ext cx="109728" cy="18288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88" y="267004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5주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28" y="3200400"/>
            <a:ext cx="16916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현업 적용
1페이지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617720"/>
            <a:ext cx="10908792" cy="1325880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828032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🎁  take-home: </a:t>
            </a: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‘내_현업위키’ 폴더 + Claude 활용법을 통째로 가져갑니다.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E7DEF2"/>
                </a:solidFill>
                <a:latin typeface="맑은 고딕"/>
                <a:ea typeface="맑은 고딕"/>
                <a:cs typeface="맑은 고딕"/>
              </a:rPr>
              <a:t>키트(하드웨어) + 위키(방법론), 두 자산을 함께 — UTTEC 교육의 차별점.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0회차 미션 &amp; 다음(1회차) 예고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9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✅ 오늘(0회차) 끝내야 할 것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79776"/>
            <a:ext cx="310896" cy="310896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Obsidian 설치 완료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46704"/>
            <a:ext cx="310896" cy="310896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101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‘내_현업위키’ 폴더 열기 성공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770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7705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작업일지에 첫 한 줄 기록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0560"/>
            <a:ext cx="310896" cy="310896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4398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439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Claude에게 한 번 시켜보기 (정리 부탁)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377440"/>
            <a:ext cx="5029200" cy="3108960"/>
          </a:xfrm>
          <a:prstGeom prst="roundRect">
            <a:avLst/>
          </a:prstGeom>
          <a:solidFill>
            <a:srgbClr val="1B3A5B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이어서 — 1회차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5468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라즈베리파이와 친해지기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02336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손바닥 컴퓨터 켜기 + 인터넷 연결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첫 프로그램 </a:t>
            </a:r>
            <a:r>
              <a:rPr sz="145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Hello Factory!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그리고 — 오늘 만든 위키에 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5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  ‘1회차 기록’ 을 바로 남깁니다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