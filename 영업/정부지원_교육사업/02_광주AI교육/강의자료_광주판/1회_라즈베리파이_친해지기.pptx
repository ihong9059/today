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4297680"/>
            <a:ext cx="3410712" cy="25603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4297680"/>
            <a:ext cx="164592" cy="25603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UTTEC</a:t>
            </a:r>
            <a:r>
              <a:rPr sz="18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   광주 AI·IoT 스마트팩토리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1828800" cy="73152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1회차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라즈베리파이와
친해지기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D9E4EC"/>
                </a:solidFill>
                <a:latin typeface="맑은 고딕"/>
                <a:ea typeface="맑은 고딕"/>
                <a:cs typeface="맑은 고딕"/>
              </a:rPr>
              <a:t>전원 켜기부터 나의 첫 프로그램까지 — 손바닥 컴퓨터와 인사하기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046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百見不如一習   ·   직접 익히는 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📅 제1주차 · 13:00~17:00</a:t>
            </a:r>
            <a:r>
              <a:rPr sz="14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     👤 홍광선 대표 · UTTEC 교육팀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오늘의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오늘 수업이 끝나면 — 직접 이걸 하게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2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36118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109728" cy="20574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2350008"/>
            <a:ext cx="566928" cy="56692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3500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3317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라즈베리파이 켜기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807208"/>
            <a:ext cx="2514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전원을 연결하고 화면이 나오게 한 뒤, 인터넷(Wi-Fi)에 연결합니다.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6552" y="2148840"/>
            <a:ext cx="36118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16552" y="2148840"/>
            <a:ext cx="109728" cy="20574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17720" y="2350008"/>
            <a:ext cx="566928" cy="56692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3500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23317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첫 프로그램 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2" y="2807208"/>
            <a:ext cx="2514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컴퓨터에게 명령을 내려  Hello Factory!  를 화면에 띄웁니다.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4464" y="2148840"/>
            <a:ext cx="36118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84464" y="2148840"/>
            <a:ext cx="109728" cy="20574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85632" y="2350008"/>
            <a:ext cx="566928" cy="56692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23500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23317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나만의 계산기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4" y="2807208"/>
            <a:ext cx="2514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숫자를 다루는 아주 작은 계산기 프로그램을 직접 만들어 봅니다.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26280"/>
            <a:ext cx="11091672" cy="141732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526280"/>
            <a:ext cx="109728" cy="141732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736592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💡 부담 갖지 마세요. </a:t>
            </a:r>
            <a:r>
              <a:rPr sz="17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오늘은 ‘컴퓨터와 친해지는 날’ 입니다.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타이핑이 느려도 괜찮습니다 — 보조 강사가 자리마다 돌며 함께 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5주 학습 여정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오늘은 그 첫걸음 — 5주 뒤엔 ‘미니 스마트팩토리’를 완성합니다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3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2084831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109728" cy="2286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1주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181051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라즈베리파이와
친해지기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389120"/>
            <a:ext cx="1353311" cy="3657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135331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오늘!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6623" y="35204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59" y="2606040"/>
            <a:ext cx="2084831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0359" y="2606040"/>
            <a:ext cx="109728" cy="2286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59" y="283464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2주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19" y="3383280"/>
            <a:ext cx="181051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공장의
눈과 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19" y="4389120"/>
            <a:ext cx="1353311" cy="3657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19" y="4389120"/>
            <a:ext cx="135331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센서·화면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6902" y="35204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38" y="2606040"/>
            <a:ext cx="2084831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38" y="2606040"/>
            <a:ext cx="109728" cy="2286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38" y="283464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3주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798" y="3383280"/>
            <a:ext cx="181051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자동 경보
시스템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398" y="4389120"/>
            <a:ext cx="1353311" cy="3657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398" y="4389120"/>
            <a:ext cx="135331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위험 알림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87181" y="35204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0917" y="2606040"/>
            <a:ext cx="2084831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0917" y="2606040"/>
            <a:ext cx="109728" cy="2286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17" y="283464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4주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7" y="3383280"/>
            <a:ext cx="181051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스마트폰
원격 보기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26677" y="4389120"/>
            <a:ext cx="1353311" cy="3657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77" y="4389120"/>
            <a:ext cx="135331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무선·웹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27460" y="35204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196" y="2606040"/>
            <a:ext cx="2084831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01196" y="2606040"/>
            <a:ext cx="109728" cy="2286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196" y="2834640"/>
            <a:ext cx="20848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5주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56" y="3383280"/>
            <a:ext cx="181051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AI · 미니
스마트팩토리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66956" y="4389120"/>
            <a:ext cx="1353311" cy="36576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66956" y="4389120"/>
            <a:ext cx="135331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통합 완성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‘공장 자동화’ 가 뭔가요?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사람이 일일이 보지 않아도, 기계가 스스로 ‘보고·판단하고·알려주는’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4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61264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9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이런 적 있으셨나요?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창고·작업장이 너무 더운지 추운지 </a:t>
            </a:r>
            <a:r>
              <a:rPr sz="16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계속 가서 확인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기계가 과열됐는데 </a:t>
            </a:r>
            <a:r>
              <a:rPr sz="16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뒤늦게 알아챔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어제 몇 도였는지 </a:t>
            </a:r>
            <a:r>
              <a:rPr sz="16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기록이 없음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그래서 우리는 5주 동안 →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센서로 </a:t>
            </a:r>
            <a:r>
              <a:rPr sz="16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보고</a:t>
            </a: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, 기준으로 </a:t>
            </a:r>
            <a:r>
              <a:rPr sz="16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판단하고</a:t>
            </a: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, 알람·화면·폰으로 </a:t>
            </a:r>
            <a:r>
              <a:rPr sz="16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알려주는</a:t>
            </a: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작은 시스템을 직접 만듭니다.</a:t>
            </a:r>
          </a:p>
        </p:txBody>
      </p:sp>
      <p:pic>
        <p:nvPicPr>
          <p:cNvPr id="11" name="Picture 10" descr="01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9456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라즈베리파이 = 손바닥 컴퓨터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값싸고 작은 진짜 컴퓨터 — 센서·LED·화면을 직접 연결할 수 있습니다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5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4754880" cy="3657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pi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0280"/>
            <a:ext cx="4754880" cy="3566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0" y="2194560"/>
            <a:ext cx="5943600" cy="10972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0" y="2194560"/>
            <a:ext cx="109728" cy="10972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234086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🖥  진짜 컴퓨터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779776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화면·키보드·인터넷 모두 됩니다. 다만 손바닥 크기.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447288"/>
            <a:ext cx="5943600" cy="10972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3447288"/>
            <a:ext cx="109728" cy="10972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3593592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🔌  센서를 직접 연결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032504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온도·LED·버튼을 핀에 꽂아 ‘현실 세계’와 연결합니다.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4700016"/>
            <a:ext cx="5943600" cy="10972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0" y="4700016"/>
            <a:ext cx="109728" cy="10972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8463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💸  저렴·튼튼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5285232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공장·현장에 여러 대 두고 쓰기 좋습니다.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우리 실습 키트 둘러보기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UTTEC 가 직접 만든 교육용 키트 — 5주 내내 이 키트로 배웁니다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6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5120640" cy="3657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k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2194560"/>
            <a:ext cx="4876800" cy="36576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989320" y="2194560"/>
            <a:ext cx="5650992" cy="3657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4231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주요 구성품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3108960"/>
            <a:ext cx="292608" cy="29260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09067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063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온습도 센서 (공장의 ‘온도계’)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3621024"/>
            <a:ext cx="292608" cy="29260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602736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575304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작은 화면 OLED (수치 표시)</a:t>
            </a:r>
          </a:p>
        </p:txBody>
      </p:sp>
      <p:sp>
        <p:nvSpPr>
          <p:cNvPr id="20" name="Oval 19"/>
          <p:cNvSpPr/>
          <p:nvPr/>
        </p:nvSpPr>
        <p:spPr>
          <a:xfrm>
            <a:off x="6355080" y="4133088"/>
            <a:ext cx="292608" cy="29260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1148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08736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3색 LED 신호등 (정상·주의·위험)</a:t>
            </a:r>
          </a:p>
        </p:txBody>
      </p:sp>
      <p:sp>
        <p:nvSpPr>
          <p:cNvPr id="23" name="Oval 22"/>
          <p:cNvSpPr/>
          <p:nvPr/>
        </p:nvSpPr>
        <p:spPr>
          <a:xfrm>
            <a:off x="6355080" y="4645152"/>
            <a:ext cx="292608" cy="29260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62686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59943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부저·스피커 (경고음)</a:t>
            </a:r>
          </a:p>
        </p:txBody>
      </p:sp>
      <p:sp>
        <p:nvSpPr>
          <p:cNvPr id="26" name="Oval 25"/>
          <p:cNvSpPr/>
          <p:nvPr/>
        </p:nvSpPr>
        <p:spPr>
          <a:xfrm>
            <a:off x="6355080" y="5157216"/>
            <a:ext cx="292608" cy="29260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5138928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111496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버튼 스위치 / 무선 통신 모듈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5321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※ 키트는 교육이 끝나도 여러분의 자산으로 남습니다.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실습 ① 전원 켜고 인터넷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따라 하기 — 한 단계씩 천천히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7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5440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109728" cy="16916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2350008"/>
            <a:ext cx="566928" cy="56692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3500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331720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전원 연결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807208"/>
            <a:ext cx="4343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USB-C 전원을 꽂으면 보드의 빨간 불이 켜집니다.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148840"/>
            <a:ext cx="5440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2148840"/>
            <a:ext cx="109728" cy="16916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2350008"/>
            <a:ext cx="566928" cy="56692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3500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2331720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화면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2807208"/>
            <a:ext cx="4343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모니터에 바탕화면이 나타날 때까지 기다립니다.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50792"/>
            <a:ext cx="5440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50792"/>
            <a:ext cx="109728" cy="16916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9808" y="4251960"/>
            <a:ext cx="566928" cy="56692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25196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233672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Wi-Fi 연결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709160"/>
            <a:ext cx="4343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오른쪽 위 Wi-Fi 아이콘 → 우리 교육장 네트워크 선택.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4050792"/>
            <a:ext cx="54406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9632" y="4050792"/>
            <a:ext cx="109728" cy="16916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0" y="4251960"/>
            <a:ext cx="566928" cy="56692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25196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4233672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(선택) 원격 접속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2" y="4709160"/>
            <a:ext cx="4343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노트북에서 VNC로 라즈베리파이 화면 띄우기.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실습 ② 첫 프로그램 — Hello Factory!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컴퓨터에게 내리는 첫 명령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8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‘Thonny’ 라는 프로그램을 엽니다.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여기에 명령을 한 줄 적고 </a:t>
            </a:r>
            <a:r>
              <a:rPr sz="16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실행(▶) </a:t>
            </a: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하면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컴퓨터가 글자를 화면에 보여줍니다.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print  =  ‘화면에 보여줘’ 라는 뜻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따옴표 " " 안의 글자를 바꾸면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내가 원하는 문장이 나옵니다. 직접 바꿔보세요!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330952" cy="210312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59152"/>
            <a:ext cx="47823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F9AAE"/>
                </a:solidFill>
                <a:latin typeface="맑은 고딕"/>
                <a:ea typeface="맑은 고딕"/>
                <a:cs typeface="맑은 고딕"/>
              </a:rPr>
              <a:t>Thonny 편집창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61488"/>
            <a:ext cx="478231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print("Hello Factory!")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print("내 이름은 홍길동")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526280"/>
            <a:ext cx="5330952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4526280"/>
            <a:ext cx="109728" cy="13716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70916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▶ 실행 결과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Consolas"/>
                <a:ea typeface="Consolas"/>
                <a:cs typeface="Consolas"/>
              </a:rPr>
              <a:t>Hello Factory!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Consolas"/>
                <a:ea typeface="Consolas"/>
                <a:cs typeface="Consolas"/>
              </a:rPr>
              <a:t>내 이름은 홍길동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실습 ③ 나만의 계산기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숫자를 담는 ‘상자(변수)’ 로 간단한 계산을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9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변수 = 값을 담아두는 상자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a 라는 상자에 10, b 에 3 을 담고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두 상자를 더하면 13 이 나옵니다.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나중에 ‘온도’ 도 이렇게 상자에 담아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‘30 보다 크면 위험!’ 같은 판단에 씁니다.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→ 3주차에서 바로 이걸 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330952" cy="283464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59152"/>
            <a:ext cx="47823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F9AAE"/>
                </a:solidFill>
                <a:latin typeface="맑은 고딕"/>
                <a:ea typeface="맑은 고딕"/>
                <a:cs typeface="맑은 고딕"/>
              </a:rPr>
              <a:t>간단한 계산기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61488"/>
            <a:ext cx="4782312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a = 10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b = 3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print("합:", a + b)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print("곱:", a * 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5212080"/>
            <a:ext cx="5330952" cy="7772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5212080"/>
            <a:ext cx="109728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5321808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▶ 결과:  </a:t>
            </a:r>
            <a:r>
              <a:rPr sz="1500" b="0">
                <a:solidFill>
                  <a:srgbClr val="222B35"/>
                </a:solidFill>
                <a:latin typeface="Consolas"/>
                <a:ea typeface="Consolas"/>
                <a:cs typeface="Consolas"/>
              </a:rPr>
              <a:t>합: 13    곱: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오늘의 위키 — 1회차 기록 남기기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0회차에 만든 ‘내 현업 위키’ 에 오늘 한 일을 기록합니다 (Claude로 간편하게)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10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548640"/>
            <a:ext cx="2240280" cy="420624"/>
          </a:xfrm>
          <a:prstGeom prst="roundRect">
            <a:avLst/>
          </a:prstGeom>
          <a:solidFill>
            <a:srgbClr val="F4C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548640"/>
            <a:ext cx="2240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★ 강화 제안 (협의 진행 중)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5349240" cy="36118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109728" cy="361188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39572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📓 오늘의 위키 활동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926080"/>
            <a:ext cx="4800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0회차에 세팅한 </a:t>
            </a:r>
            <a:r>
              <a:rPr sz="15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내 현업 위키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를 엽니다.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작업일지에 오늘 한 일을 기록 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Pi 부팅·인터넷 연결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Hello Factory! 첫 프로그램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나만의 계산기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손으로 적어도 되고,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Claude에게 </a:t>
            </a:r>
            <a:r>
              <a:rPr sz="15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대신 정리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시켜도 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194560"/>
            <a:ext cx="544068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194560"/>
            <a:ext cx="109728" cy="13716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22576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🗣  나 → 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706624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오늘 한 일 정리해서 작업일지에 한 줄씩 추가해줘. Pi 켜고 Hello Factory 출력하고 계산기 만들었어.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30752"/>
            <a:ext cx="544068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730752"/>
            <a:ext cx="109728" cy="13716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858768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🗣  나 → Claude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242816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방금 적은 1회차 기록을 보기 좋게 표로 정리해줘.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왜? 오늘 기록이 5주 뒤 ‘내 현업 가이드’ 의 첫 페이지가 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오늘 정리 &amp; 다음 시간 예고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11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✅ 오늘 우리가 한 것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79776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라즈베리파이를 켜고 인터넷에 연결했다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346704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10128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101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Hello Factory! 첫 프로그램을 실행했다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7705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7705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변수로 나만의 계산기를 만들었다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480560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4398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4398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작업 일지에 오늘 한 일을 기록했다 (제안)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377440"/>
            <a:ext cx="5029200" cy="3108960"/>
          </a:xfrm>
          <a:prstGeom prst="roundRect">
            <a:avLst/>
          </a:prstGeom>
          <a:solidFill>
            <a:srgbClr val="1B3A5B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606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다음 시간 (2주차) 예고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15468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‘공장의 눈과 귀’ 만들기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06908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온습도 센서로 온도를 </a:t>
            </a:r>
            <a:r>
              <a:rPr sz="15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측정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작은 화면(OLED)에 </a:t>
            </a:r>
            <a:r>
              <a:rPr sz="15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실시간 표시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LED 신호등으로 </a:t>
            </a:r>
            <a:r>
              <a:rPr sz="15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상태 색 표시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916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D9E4EC"/>
                </a:solidFill>
                <a:latin typeface="맑은 고딕"/>
                <a:ea typeface="맑은 고딕"/>
                <a:cs typeface="맑은 고딕"/>
              </a:rPr>
              <a:t>오늘 막힌 부분, 무엇이든 편하게 질문하세요.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199632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UTTEC · 광주 AI·IoT 스마트팩토리 실습 과정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