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4297680"/>
            <a:ext cx="3410712" cy="25603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4297680"/>
            <a:ext cx="164592" cy="25603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UTTEC</a:t>
            </a:r>
            <a:r>
              <a:rPr sz="18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   광주 AI·IoT 스마트팩토리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1828800" cy="73152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3회차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자동으로 위험을
알리는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D9E4EC"/>
                </a:solidFill>
                <a:latin typeface="맑은 고딕"/>
                <a:ea typeface="맑은 고딕"/>
                <a:cs typeface="맑은 고딕"/>
              </a:rPr>
              <a:t>‘기준값’ 을 정해 — 넘으면 스스로 경고하고, 데이터를 기록한다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046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百見不如一習   ·   직접 익히는 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📅 제3주차 · 13:00~17:00</a:t>
            </a:r>
            <a:r>
              <a:rPr sz="14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     👤 홍광선 대표 · UTTEC 교육팀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지난주 복습 &amp; 오늘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2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5303520" cy="3566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109728" cy="356616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🔁 2회차 복습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47548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온습도 센서 → OLED 표시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LED 신호등·부저 제어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손 대면 숫자 변화 확인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Q. 지금은 사람이 보고 있어야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   위험을 압니다. 자동으로 하려면?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194560"/>
            <a:ext cx="5532120" cy="3566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194560"/>
            <a:ext cx="109728" cy="35661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9572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🎯 오늘 끝나면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온도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기준값(임계값)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이해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기준 넘으면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부저·빨강 자동 경고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정상·주의·위험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자동 판단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측정값을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CSV 파일로 저장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‘기준값(임계값)’ 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어떤 선을 넘으면 ‘이상’ 으로 보는 그 ‘선’ 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3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8521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예) 우리 작업장 여름 평상시 27~28도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→ 30도 넘으면 </a:t>
            </a:r>
            <a:r>
              <a:rPr sz="16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‘이상!’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컴퓨터에게 이렇게 시킵니다: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‘만약 온도가 30보다 크면 → 경고’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이 ‘만약~면’ 이 자동 판단의 핵심.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286000"/>
            <a:ext cx="4937760" cy="32918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286000"/>
            <a:ext cx="109728" cy="32918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487168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🚦 3단계 판단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0" y="3108960"/>
            <a:ext cx="457200" cy="457200"/>
          </a:xfrm>
          <a:prstGeom prst="ellipse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3127248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28도 미만  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→ 정상</a:t>
            </a:r>
          </a:p>
        </p:txBody>
      </p:sp>
      <p:sp>
        <p:nvSpPr>
          <p:cNvPr id="16" name="Oval 15"/>
          <p:cNvSpPr/>
          <p:nvPr/>
        </p:nvSpPr>
        <p:spPr>
          <a:xfrm>
            <a:off x="6949440" y="3822192"/>
            <a:ext cx="457200" cy="457200"/>
          </a:xfrm>
          <a:prstGeom prst="ellipse">
            <a:avLst/>
          </a:prstGeom>
          <a:solidFill>
            <a:srgbClr val="F4C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3840480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28~35도  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→ 주의</a:t>
            </a:r>
          </a:p>
        </p:txBody>
      </p:sp>
      <p:sp>
        <p:nvSpPr>
          <p:cNvPr id="18" name="Oval 17"/>
          <p:cNvSpPr/>
          <p:nvPr/>
        </p:nvSpPr>
        <p:spPr>
          <a:xfrm>
            <a:off x="6949440" y="4535424"/>
            <a:ext cx="457200" cy="45720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4553712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35도 이상  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→ 위험 + 경고음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실습 ① 스스로 판단해 경고하기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‘만약 ~면’ 으로 LED·부저를 자동 제어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4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온도 t 를 읽어 세 갈래로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자동 판단합니다.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28 미만 → 파랑(정상)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28~35 → 노랑(주의)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• 35 이상 → 빨강 + 부저(위험)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기준 숫자만 바꾸면 우리 현장에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맞게 조정됩니다.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330952" cy="310896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59152"/>
            <a:ext cx="4782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F9AAE"/>
                </a:solidFill>
                <a:latin typeface="맑은 고딕"/>
                <a:ea typeface="맑은 고딕"/>
                <a:cs typeface="맑은 고딕"/>
              </a:rPr>
              <a:t>자동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61488"/>
            <a:ext cx="478231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GPIO.output(BLUE,   t &lt; 28)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GPIO.output(YELLOW, 28 &lt;= t &lt; 35)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GPIO.output(RED,    t &gt;= 35)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GPIO.output(BUZZER, t &gt;= 35)  # 경고음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실습 ② 측정값을 파일로 남기기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기록이 있어야 나중에 분석·증빙이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5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측정한 온도·습도를 시간과 함께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CSV 파일에 한 줄씩 저장합니다.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CSV 파일은 </a:t>
            </a:r>
            <a:r>
              <a:rPr sz="15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엑셀에서 바로 열림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→ 그래프도 그릴 수 있고,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  이상 발생 시점도 찾을 수 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330952" cy="219456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59152"/>
            <a:ext cx="4782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F9AAE"/>
                </a:solidFill>
                <a:latin typeface="맑은 고딕"/>
                <a:ea typeface="맑은 고딕"/>
                <a:cs typeface="맑은 고딕"/>
              </a:rPr>
              <a:t>CSV 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61488"/>
            <a:ext cx="478231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row = [now, t, h]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csv.writer(f).writerow(row)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# factory_log.csv 에 누적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572000"/>
            <a:ext cx="5330952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4572000"/>
            <a:ext cx="109728" cy="1371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736592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222B35"/>
                </a:solidFill>
                <a:latin typeface="Consolas"/>
                <a:ea typeface="Consolas"/>
                <a:cs typeface="Consolas"/>
              </a:rPr>
              <a:t>factory_log.csv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Consolas"/>
                <a:ea typeface="Consolas"/>
                <a:cs typeface="Consolas"/>
              </a:rPr>
              <a:t>2026-07-29T15:10, 31.2, 45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E76F51"/>
                </a:solidFill>
                <a:latin typeface="Consolas"/>
                <a:ea typeface="Consolas"/>
                <a:cs typeface="Consolas"/>
              </a:rPr>
              <a:t>2026-07-29T15:12, 35.6, 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체험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통합 체험 — 손난로로 경보 울리기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센서 → 판단 → LED·부저·화면 이 하나로 자동 동작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6 / 8</a:t>
            </a:r>
          </a:p>
        </p:txBody>
      </p:sp>
      <p:pic>
        <p:nvPicPr>
          <p:cNvPr id="10" name="Picture 9" descr="05_al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5120640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246888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0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해보기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① 센서에 손난로/손바닥을 댑니다.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② 온도가 기준(35도)을 넘으면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③ 빨간 LED + 부저가 </a:t>
            </a:r>
            <a:r>
              <a:rPr sz="16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자동</a:t>
            </a: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작동!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→ 사람이 안 봐도 스스로 알리는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   ‘자동 경보’ 의 완성입니다.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오늘의 위키 — 결정메모 + 보관함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‘왜 그렇게 정했나’ 를 남기고, 데이터를 보관합니다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7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548640"/>
            <a:ext cx="2240280" cy="420624"/>
          </a:xfrm>
          <a:prstGeom prst="roundRect">
            <a:avLst/>
          </a:prstGeom>
          <a:solidFill>
            <a:srgbClr val="F4C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548640"/>
            <a:ext cx="2240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★ 강화 제안 (협의 진행 중)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5349240" cy="36118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109728" cy="361188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3957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💡 오늘의 위키 활동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926080"/>
            <a:ext cx="4800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sz="15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결정메모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 ‘기준값을 왜 30도로?’ 같은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 판단 근거를 1장 적습니다.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sz="15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보관함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 오늘 만든 CSV 데이터 파일을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 보관함에 넣습니다.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현업 연결: 설정값·판단 근거를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남기면 인수인계·감사에 강합니다.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194560"/>
            <a:ext cx="544068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194560"/>
            <a:ext cx="109728" cy="13716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22576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🗣  나 → 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706624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기준값을 30도로 정한 이유를 결정메모로 남겨줘. 평상시 27~28도라 30도 넘으면 이상으로 봤어.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30752"/>
            <a:ext cx="544068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30752"/>
            <a:ext cx="109728" cy="13716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858768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🗣  나 → Claude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242816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오늘 만든 factory_log.csv 를 보관함에 정리하고 작업일지에 한 줄 기록해줘.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왜? ‘왜’ 가 적힌 노트는 6개월 뒤의 나와 동료를 구합니다.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오늘 정리 &amp; 다음 시간 예고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8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✅ 오늘 한 것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79776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기준값 개념을 이해했다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346704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10128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101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넘으면 자동 경고하게 만들었다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7705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7705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정상·주의·위험을 자동 판단했다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480560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4398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4398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CSV 저장 + 결정메모 기록 (제안)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377440"/>
            <a:ext cx="5029200" cy="3108960"/>
          </a:xfrm>
          <a:prstGeom prst="roundRect">
            <a:avLst/>
          </a:prstGeom>
          <a:solidFill>
            <a:srgbClr val="1B3A5B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606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다음 시간 (4주차)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15468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스마트폰으로
우리 공장 보기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343400"/>
            <a:ext cx="4572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폰 브라우저로 </a:t>
            </a:r>
            <a:r>
              <a:rPr sz="15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실시간 확인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그래프로 </a:t>
            </a:r>
            <a:r>
              <a:rPr sz="15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추세 보기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5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장거리 무선</a:t>
            </a: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(LoRa)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