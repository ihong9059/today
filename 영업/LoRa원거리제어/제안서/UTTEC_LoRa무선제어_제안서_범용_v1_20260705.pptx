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맑은 고딕"/>
              </a:rPr>
              <a:t>골프장 시설관리부서 귀중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골프장 LoRa 무선 통합 제어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맑은 고딕"/>
              </a:rPr>
              <a:t>수조 자동 관리  +  야간 조명 순차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맑은 고딕"/>
              </a:rPr>
              <a:t>전력비 절감 · 무인 운영 · 인적 사고 예방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UTTEC  ·  국내 최초 LoRa 무선 조명 상용화(2018)  ·  제안일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운영 현장의 고민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골프장 시설관리에서 반복되는 4가지 부담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야간 조명 수동 소등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마지막 팀이 지나간 홀 조명을 끄러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담당자가 밤에 직접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4630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91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수조 수위 수동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고지대 물탱크 수위를 매번 확인하고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원거리 펌프를 수동 조작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위험 위치 야간 조작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경사지·외곽의 차단기·스위치를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야간·우천에 직접 조작 (사고 위험)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39776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9776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노후 설비 긴급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892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설치 5년+ 부품 노화기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고장 시 즉시 영업 차질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UTTEC — LoRa 무선 제어 8년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국내 최초 LoRa 조명 콘트롤러 상용화 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55448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5448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국내 최초 LoRa 조명 콘트롤러 상용화 + 클라우드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51460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1460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하나금융 글로벌캠퍼스 — 무선 조명 (사옥 전체)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47472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47472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필로스CC · 광릉CC (한림그룹) — 골프장 LoRa 무선 조명 (코스 전체)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443484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43484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한림용인CC (한림그룹) — 골프장 LoRa 무선 수조 제어 (14노드, 설치 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→ 한림그룹 반복 거래(필로스·광릉·용인) + 조명에서 수조로 응용 확장 = 검증된 무선 제어 인프라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하나의 LoRa 무선 인프라, 두 개의 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같은 통신·제어 플랫폼 위에서 수조와 조명을 함께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651760"/>
            <a:ext cx="2286000" cy="10058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65176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LoRa 무선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제어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29184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맑은 고딕"/>
              </a:rPr>
              <a:t>시스템 A — 수조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자동 수위 판단 → 펌프 제어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→ 원격 모니터링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377440"/>
            <a:ext cx="329184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514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맑은 고딕"/>
              </a:rPr>
              <a:t>시스템 B — 야간 조명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팀 진행 추적 → 미사용 홀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순차 소등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127248"/>
            <a:ext cx="914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3127248"/>
            <a:ext cx="914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공유 플랫폼: 단일 통합 펌웨어 · 스마트폰 현장 설정(프로비저닝) · 지형 우회 다중 중계 · 원격 대시보드</a:t>
            </a:r>
          </a:p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→ 한 번 검증한 무선 스택을 두 응용에 재사용 → 개발·유지보수 비용 최소화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A — 무선 수조 자동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한림용인CC 14노드 현장 실증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각 센서가 목표 수위를 스스로 판단 → 펌프 자동 ON/OFF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본부 서버 없이 현장 노드끼리 자율 운전(폐루프)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통신 두절에도 안전(펌프 OFF fail-safe)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원거리 수원·펌프·고지대 탱크를 무선으로 연결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수위·배터리 실시간 원격 모니터링(대시보드)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저전력·솔라 전원 → 전기 없는 외곽 pond까지 대응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맑은 고딕"/>
              </a:rPr>
              <a:t>• 실증: 한림용인CC 14노드 2단 cascade(연못→저수조→고수조→관수)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1148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자동 급수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연못(수원)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07792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0779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펌프 (원거리)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621024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21024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중계기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334256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34256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고가 수조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047488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04748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관수 / 스프링클러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B — 야간 조명 순차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무선 조명 8년 상용화 실적 + 순차 소등 제어 설계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야간 개장 시 마지막 팀 진행에 따라 미사용 홀 조명을 순차 소등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사용 중인 홀만 켜두고 지나간 홀은 자동 OFF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① 야간 조명 전력비 절감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② 담당자가 직접 스위치 끄러 가는 불편 제거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③ 야간 이동 중 사고 최소화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맑은 고딕"/>
              </a:rPr>
              <a:t>• UTTEC 무선 조명 제어는 2018년 국내 최초 상용화 후 다현장 운영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순차 소등(진행 추적) 로직은 본 제안의 신규 설계 적용 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1148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순차 소등 개념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774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1~9홀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697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맑은 고딕"/>
              </a:rPr>
              <a:t>지나감 ·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2918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3832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10~12홀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03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맑은 고딕"/>
              </a:rPr>
              <a:t>진행 중 ·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297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389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13~18홀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7091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340"/>
                </a:solidFill>
                <a:latin typeface="맑은 고딕"/>
              </a:rPr>
              <a:t>대기 ·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★ 안전 — 인적 사고 예방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전력비·편의를 넘어서는 핵심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골프장 지형상 사고가 나기 쉬운 위치(경사지·외곽·수변·펌프실)의 차단기·스위치를</a:t>
            </a:r>
          </a:p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야간에 직접 조작하지 않고 원격으로 제어 → 이동·조작 중 인적 사고를 근본 예방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야간 조명 소등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2004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004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원격 순차 소등, 야간 이동 불요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경사지 차단기 수동 조작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1148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1148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원격 제어, 위험 위치 접근 최소화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우천·야간 펌프 조작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50292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자동 제어, 감전·낙상 위험 회피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재고 AS킷 — 긴급 고장 현장 1탭 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1홀 = 1 표준 케이스 + 공용 예비품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모든 제어점을 동일한 표준 케이스로 구성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전 케이스가 완전히 같은 펌웨어 탑재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설치·교체 시 스마트폰 앱으로 담당 위치만 설정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예비 케이스 = 어느 위치든 될 수 있는 공용 재고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고장 시 재고 케이스로 현장 즉시 교체(출장 1회·수십 분)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단일 고장이 여러 홀로 번지지 않음(1홀만 영향)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긴급 AS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240280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① 재고함에서 예비 케이스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081528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081528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② 앱으로 해당 위치 선택·설정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922776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922776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③ 고장 케이스 교체·결선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4764024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764024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④ 동작 확인 →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레퍼런스 — 운영 중인 현장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조명 · 수조, 한림그룹 다현장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필로스CC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조명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2020 · 코스 전체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광릉CC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조명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2020 · 코스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하나금융 글로벌캠퍼스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사옥 무선 조명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한림용인CC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수조 제어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166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2026 · 14노드 설치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도입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현행 대비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83464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41148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현행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554480"/>
            <a:ext cx="41148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LoRa 통합 제어 도입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야간 조명 전력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7744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3774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미사용 홀도 점등 유지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37744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3774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진행 따라 순차 소등 →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인력·이동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004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야간 수동 소등·수위 점검 이동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3200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2004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무인 자동 운전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6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긴급 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02336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02336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노드별 펌웨어·재방문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402336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402336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재고 케이스 현장 1탭 복구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463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안전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84632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위험 위치 야간 수동 조작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484632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원격 제어 → 사고 예방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현장 적용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검증된 4단계 도입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1. 현장 RF 서베이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지형·차폐 실측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중계 배치·통신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2. 시스템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제어점·노드·중계 수량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규모별 견적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3. 시공·시운전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표준 케이스 설치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앱 프로비저닝·통합 시험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4. 교육·SOP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재고 설정·교체 절차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운영자 인수인계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340"/>
                </a:solidFill>
                <a:latin typeface="맑은 고딕"/>
              </a:rPr>
              <a:t>무료 현장 진단 / RF 서베이부터 시작합니다 — 규모·환경을 확인한 뒤 정확한 견적을 드립니다.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견적 프레임 — 규모별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구체 단가는 현장 진단 후 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01168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등급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554480"/>
            <a:ext cx="384048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55448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310896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예상 수명 / 하자보증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554480"/>
            <a:ext cx="210312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55448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2316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초경제형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423160"/>
            <a:ext cx="38404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42316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경제형 컨트롤러·모듈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23160"/>
            <a:ext cx="31089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2316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5~7년 / 6개월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23160"/>
            <a:ext cx="21031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2316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소규모·예산 제약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918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표준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29184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329184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산업용 LoRa·솔라 중계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9184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29184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8~10년 / 1년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32918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29184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중규모·NLOS 다수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6052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6052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산업급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4160520"/>
            <a:ext cx="38404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416052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임베디드·풀 제어반·HMI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160520"/>
            <a:ext cx="31089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6052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10~15년 / 1~2년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160520"/>
            <a:ext cx="21031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16052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대형·무인 안정성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340"/>
                </a:solidFill>
                <a:latin typeface="맑은 고딕"/>
              </a:rPr>
              <a:t>총액은 제어점(홀/노드) 수에 비례하며, 게이트웨이·관제·중계·용역은 공통 고정비입니다.</a:t>
            </a:r>
          </a:p>
          <a:p>
            <a:pPr algn="l"/>
            <a:r>
              <a:rPr sz="1300" b="0">
                <a:solidFill>
                  <a:srgbClr val="0F2340"/>
                </a:solidFill>
                <a:latin typeface="맑은 고딕"/>
              </a:rPr>
              <a:t>2회차부터 통합 펌웨어 재사용으로 개발비가 절감됩니다. — 상세 견적은 현장 진단 후 제시.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— 투자 대비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도입 기준 비용 + 공개 요금(2025)으로 회수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</a:rPr>
              <a:t>도입 기준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수조 1 set (펌프 제어 + 센서) — 150만원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조명 1 홀 제어 — 50만원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4B5563"/>
                </a:solidFill>
                <a:latin typeface="맑은 고딕"/>
              </a:rPr>
              <a:t>• 현장 검토비 — 50만원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4B5563"/>
                </a:solidFill>
                <a:latin typeface="맑은 고딕"/>
              </a:rPr>
              <a:t>• 현장 설치비 — 350만원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</a:rPr>
              <a:t>절감 계산 요금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전기 160 원/kWh (한전 일반용 전력)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상수도 1,300 원/㎥ (영업용·군지역 골프장)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전국 수돗물 평균 829원/㎥, 군지역 1,017원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운영량(부하·시간·인건비)은 현장별 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① 야간 조명 (18홀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순차 소등 = 평균 점등시간 절반 + 수동 소등 인건비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A580C"/>
                </a:solidFill>
                <a:latin typeface="맑은 고딕"/>
              </a:rPr>
              <a:t>1,300만원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조명18홀+검토+설치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63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연간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5803D"/>
                </a:solidFill>
                <a:latin typeface="맑은 고딕"/>
              </a:rPr>
              <a:t>666만원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전력 216 + 인건비 450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635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F2340"/>
                </a:solidFill>
                <a:latin typeface="맑은 고딕"/>
              </a:rPr>
              <a:t>약 2년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5년 순이익 2,030만원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전력 절감 216만원/년 = 36kW × 2.5h × 150일 × 160원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마지막 팀 5시간 소요 → 순차 소등 시 평균 2.5시간만 점등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인건비 절감 450만원/년 = 야간 수동 소등 1.5h × 150일 × 20,000원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※ 야간 개장일수·조명 부하·인건비는 현장별 조정 (위는 보수적 예시)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② 수조 관리 (2 set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수위 순회 인건비 제거 + 비싼 긴급 상수도 회피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A580C"/>
                </a:solidFill>
                <a:latin typeface="맑은 고딕"/>
              </a:rPr>
              <a:t>700만원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수조2set+검토+설치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63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연간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5803D"/>
                </a:solidFill>
                <a:latin typeface="맑은 고딕"/>
              </a:rPr>
              <a:t>795만원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인건비 600 + 상수도 195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635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F2340"/>
                </a:solidFill>
                <a:latin typeface="맑은 고딕"/>
              </a:rPr>
              <a:t>약 11개월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5년 순이익 3,275만원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인건비 절감 600만원/년 = 수위 순회 점검 1.0h × 300일 × 20,000원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긴급 상수도 회피 195만원/년 = 1,500㎥ × 1,300원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물 부족 시 비싼 상수도 급수 대신, 자동 관리로 미리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맑은 고딕"/>
              </a:rPr>
              <a:t>※ 통합 도입(조명+수조) 시 검토·설치 1회 부담 → 회수 약 1.1년 · 5년 순이익 5,705만원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정직하게 관리하는 기술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숨기지 않고, 설계·시공으로 해결합니다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무선 채널 용량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4592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4592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제어점이 많은 대형 현장은 규모 상한·중계·시분할을 설계에 반영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통신 커버리지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97180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97180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지형 차폐 구간은 현장 RF 서베이·안테나 배치로 사전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현장 결선·개체 편차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29768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29768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표준 케이스 + 설치 SOP + 점검 도구로 시공 품질 보증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→ 변수를 아는 것과 도구·SOP로 관리하는 것이 UTTEC의 신뢰입니다.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무료 현장 진단으로 시작하세요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맑은 고딕"/>
              </a:rPr>
              <a:t>귀 골프장의 규모·지형을 확인한 뒤,</a:t>
            </a:r>
          </a:p>
          <a:p>
            <a:pPr algn="l"/>
            <a:r>
              <a:rPr sz="2000" b="0">
                <a:solidFill>
                  <a:srgbClr val="E2E8F0"/>
                </a:solidFill>
                <a:latin typeface="맑은 고딕"/>
              </a:rPr>
              <a:t>수조·조명 통합 제어 도입 계획과 견적을 제시해 드립니다.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UTTEC  ·  국내 최초 LoRa 무선 조명 상용화(2018)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맑은 고딕"/>
              </a:rPr>
              <a:t>문의  ·  ihong9059@gmail.com  ·  010-2401-9059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