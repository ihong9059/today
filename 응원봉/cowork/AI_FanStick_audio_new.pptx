
<file path=[Content_Types].xml><?xml version="1.0" encoding="utf-8"?>
<Types xmlns="http://schemas.openxmlformats.org/package/2006/content-types">
  <Default Extension="mp3" ContentType="audio/m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67525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3.png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.xml"/><Relationship Id="rId9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8.png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notesSlide" Target="../notesSlides/notesSlide2.xml"/><Relationship Id="rId9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12.png"/><Relationship Id="rId2" Type="http://schemas.openxmlformats.org/officeDocument/2006/relationships/audio" Target="../media/media3.mp3"/><Relationship Id="rId1" Type="http://schemas.microsoft.com/office/2007/relationships/media" Target="../media/media3.mp3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4.mp3"/><Relationship Id="rId1" Type="http://schemas.microsoft.com/office/2007/relationships/media" Target="../media/media4.mp3"/><Relationship Id="rId6" Type="http://schemas.openxmlformats.org/officeDocument/2006/relationships/image" Target="../media/image5.png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15.png"/><Relationship Id="rId2" Type="http://schemas.openxmlformats.org/officeDocument/2006/relationships/audio" Target="../media/media5.mp3"/><Relationship Id="rId1" Type="http://schemas.microsoft.com/office/2007/relationships/media" Target="../media/media5.mp3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notesSlide" Target="../notesSlides/notesSlide5.xml"/><Relationship Id="rId9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19.png"/><Relationship Id="rId2" Type="http://schemas.openxmlformats.org/officeDocument/2006/relationships/audio" Target="../media/media6.mp3"/><Relationship Id="rId1" Type="http://schemas.microsoft.com/office/2007/relationships/media" Target="../media/media6.mp3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10" Type="http://schemas.openxmlformats.org/officeDocument/2006/relationships/image" Target="../media/image5.png"/><Relationship Id="rId4" Type="http://schemas.openxmlformats.org/officeDocument/2006/relationships/notesSlide" Target="../notesSlides/notesSlide6.xml"/><Relationship Id="rId9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23.png"/><Relationship Id="rId2" Type="http://schemas.openxmlformats.org/officeDocument/2006/relationships/audio" Target="../media/media7.mp3"/><Relationship Id="rId1" Type="http://schemas.microsoft.com/office/2007/relationships/media" Target="../media/media7.mp3"/><Relationship Id="rId6" Type="http://schemas.openxmlformats.org/officeDocument/2006/relationships/image" Target="../media/image20.png"/><Relationship Id="rId11" Type="http://schemas.openxmlformats.org/officeDocument/2006/relationships/image" Target="../media/image5.png"/><Relationship Id="rId5" Type="http://schemas.openxmlformats.org/officeDocument/2006/relationships/image" Target="../media/image22.png"/><Relationship Id="rId10" Type="http://schemas.openxmlformats.org/officeDocument/2006/relationships/image" Target="../media/image25.png"/><Relationship Id="rId4" Type="http://schemas.openxmlformats.org/officeDocument/2006/relationships/notesSlide" Target="../notesSlides/notesSlide7.xml"/><Relationship Id="rId9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7.png"/><Relationship Id="rId2" Type="http://schemas.openxmlformats.org/officeDocument/2006/relationships/audio" Target="../media/media8.mp3"/><Relationship Id="rId1" Type="http://schemas.microsoft.com/office/2007/relationships/media" Target="../media/media8.mp3"/><Relationship Id="rId6" Type="http://schemas.openxmlformats.org/officeDocument/2006/relationships/image" Target="../media/image1.png"/><Relationship Id="rId11" Type="http://schemas.openxmlformats.org/officeDocument/2006/relationships/image" Target="../media/image5.png"/><Relationship Id="rId5" Type="http://schemas.openxmlformats.org/officeDocument/2006/relationships/image" Target="../media/image26.png"/><Relationship Id="rId10" Type="http://schemas.openxmlformats.org/officeDocument/2006/relationships/image" Target="../media/image29.png"/><Relationship Id="rId4" Type="http://schemas.openxmlformats.org/officeDocument/2006/relationships/notesSlide" Target="../notesSlides/notesSlide8.xml"/><Relationship Id="rId9" Type="http://schemas.openxmlformats.org/officeDocument/2006/relationships/image" Target="../media/image2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9.mp3"/><Relationship Id="rId1" Type="http://schemas.microsoft.com/office/2007/relationships/media" Target="../media/media9.mp3"/><Relationship Id="rId6" Type="http://schemas.openxmlformats.org/officeDocument/2006/relationships/image" Target="../media/image5.png"/><Relationship Id="rId5" Type="http://schemas.openxmlformats.org/officeDocument/2006/relationships/image" Target="../media/image30.png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32.png"/><Relationship Id="rId2" Type="http://schemas.openxmlformats.org/officeDocument/2006/relationships/audio" Target="../media/media10.mp3"/><Relationship Id="rId1" Type="http://schemas.microsoft.com/office/2007/relationships/media" Target="../media/media10.mp3"/><Relationship Id="rId6" Type="http://schemas.openxmlformats.org/officeDocument/2006/relationships/image" Target="../media/image31.png"/><Relationship Id="rId5" Type="http://schemas.openxmlformats.org/officeDocument/2006/relationships/image" Target="../media/image13.png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7C3AED">
              <a:alpha val="1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6400800" y="2743200"/>
            <a:ext cx="4572000" cy="4572000"/>
          </a:xfrm>
          <a:prstGeom prst="ellipse">
            <a:avLst/>
          </a:prstGeom>
          <a:solidFill>
            <a:srgbClr val="06B6D4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2743200" y="-1828800"/>
            <a:ext cx="2743200" cy="2743200"/>
          </a:xfrm>
          <a:prstGeom prst="ellipse">
            <a:avLst/>
          </a:prstGeom>
          <a:solidFill>
            <a:srgbClr val="F472B6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FanStick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차세대 스마트 응원봉 플랫폼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31520" y="2926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내 손 안의 AI 팬 비서, 아티스트와 직접 소통하는 응원봉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7C3AED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731520" y="46177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UTTEC  |  제안 발표 자료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0" y="3566160"/>
            <a:ext cx="777240" cy="777240"/>
          </a:xfrm>
          <a:prstGeom prst="rect">
            <a:avLst/>
          </a:prstGeom>
          <a:solidFill>
            <a:srgbClr val="1E1E3F"/>
          </a:solidFill>
          <a:ln/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2080" y="3730752"/>
            <a:ext cx="411480" cy="41148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6035040" y="3566160"/>
            <a:ext cx="777240" cy="777240"/>
          </a:xfrm>
          <a:prstGeom prst="rect">
            <a:avLst/>
          </a:prstGeom>
          <a:solidFill>
            <a:srgbClr val="1E1E3F"/>
          </a:solidFill>
          <a:ln/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0" y="3730752"/>
            <a:ext cx="411480" cy="41148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7040880" y="3566160"/>
            <a:ext cx="777240" cy="777240"/>
          </a:xfrm>
          <a:prstGeom prst="rect">
            <a:avLst/>
          </a:prstGeom>
          <a:solidFill>
            <a:srgbClr val="1E1E3F"/>
          </a:solidFill>
          <a:ln/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23760" y="3730752"/>
            <a:ext cx="411480" cy="41148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8046720" y="3566160"/>
            <a:ext cx="777240" cy="777240"/>
          </a:xfrm>
          <a:prstGeom prst="rect">
            <a:avLst/>
          </a:prstGeom>
          <a:solidFill>
            <a:srgbClr val="1E1E3F"/>
          </a:solidFill>
          <a:ln/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29600" y="3730752"/>
            <a:ext cx="411480" cy="411480"/>
          </a:xfrm>
          <a:prstGeom prst="rect">
            <a:avLst/>
          </a:prstGeom>
        </p:spPr>
      </p:pic>
      <p:pic>
        <p:nvPicPr>
          <p:cNvPr id="18" name="slide1">
            <a:hlinkClick r:id="" action="ppaction://media"/>
            <a:extLst>
              <a:ext uri="{FF2B5EF4-FFF2-40B4-BE49-F238E27FC236}">
                <a16:creationId xmlns:a16="http://schemas.microsoft.com/office/drawing/2014/main" id="{89BBA262-D643-42DF-B57A-9F643CEEA0D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127000" y="6350000"/>
            <a:ext cx="304800" cy="304800"/>
          </a:xfrm>
          <a:prstGeom prst="rect">
            <a:avLst/>
          </a:prstGeom>
        </p:spPr>
      </p:pic>
      <p:pic>
        <p:nvPicPr>
          <p:cNvPr id="19" name="slide1">
            <a:hlinkClick r:id="" action="ppaction://media"/>
            <a:extLst>
              <a:ext uri="{FF2B5EF4-FFF2-40B4-BE49-F238E27FC236}">
                <a16:creationId xmlns:a16="http://schemas.microsoft.com/office/drawing/2014/main" id="{2930F1F4-8A71-E988-0DCB-FA261C544BC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127000" y="6350000"/>
            <a:ext cx="304800" cy="304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50076" fill="hold"/>
                                        <p:tgtEl>
                                          <p:spTgt spid="1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8"/>
                </p:tgtEl>
              </p:cMediaNode>
            </p:audio>
            <p:audio>
              <p:cMediaNode vol="80000" showWhenStopped="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9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5153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기존 응원봉, 무엇이 부족한가?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3931920" cy="1554480"/>
          </a:xfrm>
          <a:prstGeom prst="rect">
            <a:avLst/>
          </a:prstGeom>
          <a:solidFill>
            <a:srgbClr val="1E1E3F"/>
          </a:solidFill>
          <a:ln/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54864" cy="155448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160020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4630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일방향 통신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554480" y="192024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관객은 받기만 하고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내 감정을 전달할 수 없습니다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846320" y="1280160"/>
            <a:ext cx="3931920" cy="1554480"/>
          </a:xfrm>
          <a:prstGeom prst="rect">
            <a:avLst/>
          </a:prstGeom>
          <a:solidFill>
            <a:srgbClr val="1E1E3F"/>
          </a:solidFill>
          <a:ln/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4846320" y="1280160"/>
            <a:ext cx="54864" cy="155448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66360" y="160020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852160" y="14630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단순 시각 효과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5852160" y="192024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LED 색상만 바뀔 뿐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다른 감각적 경험이 없습니다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48640" y="3108960"/>
            <a:ext cx="3931920" cy="1554480"/>
          </a:xfrm>
          <a:prstGeom prst="rect">
            <a:avLst/>
          </a:prstGeom>
          <a:solidFill>
            <a:srgbClr val="1E1E3F"/>
          </a:solidFill>
          <a:ln/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1"/>
          <p:cNvSpPr/>
          <p:nvPr/>
        </p:nvSpPr>
        <p:spPr>
          <a:xfrm>
            <a:off x="548640" y="3108960"/>
            <a:ext cx="54864" cy="1554480"/>
          </a:xfrm>
          <a:prstGeom prst="rect">
            <a:avLst/>
          </a:prstGeom>
          <a:solidFill>
            <a:srgbClr val="F472B6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8680" y="342900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54480" y="32918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개별화 불가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1554480" y="374904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수만 개 응원봉이 모두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똑같은 동작만 합니다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4846320" y="3108960"/>
            <a:ext cx="3931920" cy="1554480"/>
          </a:xfrm>
          <a:prstGeom prst="rect">
            <a:avLst/>
          </a:prstGeom>
          <a:solidFill>
            <a:srgbClr val="1E1E3F"/>
          </a:solidFill>
          <a:ln/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5"/>
          <p:cNvSpPr/>
          <p:nvPr/>
        </p:nvSpPr>
        <p:spPr>
          <a:xfrm>
            <a:off x="4846320" y="3108960"/>
            <a:ext cx="54864" cy="155448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66360" y="3429000"/>
            <a:ext cx="457200" cy="4572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852160" y="32918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콘서트 밖 무용지물</a:t>
            </a:r>
            <a:endParaRPr lang="en-US" sz="1800" dirty="0"/>
          </a:p>
        </p:txBody>
      </p:sp>
      <p:sp>
        <p:nvSpPr>
          <p:cNvPr id="23" name="Text 17"/>
          <p:cNvSpPr/>
          <p:nvPr/>
        </p:nvSpPr>
        <p:spPr>
          <a:xfrm>
            <a:off x="5852160" y="374904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공연장 밖에서는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아무 기능도 하지 못합니다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548640" y="4663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결론: 기존 응원봉은 '보여주기'만 가능하고, '소통'은 불가능합니다</a:t>
            </a:r>
            <a:endParaRPr lang="en-US" sz="1400" dirty="0"/>
          </a:p>
        </p:txBody>
      </p:sp>
      <p:pic>
        <p:nvPicPr>
          <p:cNvPr id="25" name="slide2">
            <a:hlinkClick r:id="" action="ppaction://media"/>
            <a:extLst>
              <a:ext uri="{FF2B5EF4-FFF2-40B4-BE49-F238E27FC236}">
                <a16:creationId xmlns:a16="http://schemas.microsoft.com/office/drawing/2014/main" id="{CE2923CB-9DAF-CB6B-EDC2-0021DEB8B91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127000" y="6350000"/>
            <a:ext cx="304800" cy="304800"/>
          </a:xfrm>
          <a:prstGeom prst="rect">
            <a:avLst/>
          </a:prstGeom>
        </p:spPr>
      </p:pic>
      <p:pic>
        <p:nvPicPr>
          <p:cNvPr id="26" name="slide2">
            <a:hlinkClick r:id="" action="ppaction://media"/>
            <a:extLst>
              <a:ext uri="{FF2B5EF4-FFF2-40B4-BE49-F238E27FC236}">
                <a16:creationId xmlns:a16="http://schemas.microsoft.com/office/drawing/2014/main" id="{AAEABD97-D9A9-3F30-E97B-F798A7084E0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127000" y="6350000"/>
            <a:ext cx="304800" cy="304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95059" fill="hold"/>
                                        <p:tgtEl>
                                          <p:spTgt spid="2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5"/>
                </p:tgtEl>
              </p:cMediaNode>
            </p:audio>
            <p:audio>
              <p:cMediaNode vol="80000" showWhenStopped="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6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5153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FanStick이란?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14400" y="1280160"/>
            <a:ext cx="7315200" cy="1097280"/>
          </a:xfrm>
          <a:prstGeom prst="rect">
            <a:avLst/>
          </a:prstGeom>
          <a:solidFill>
            <a:srgbClr val="7C3AED">
              <a:alpha val="40000"/>
            </a:srgbClr>
          </a:solidFill>
          <a:ln/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1097280" y="137160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"내 손 안의 AI 팬 비서, 아티스트와 직접 소통하는 응원봉"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743200"/>
            <a:ext cx="2468880" cy="2103120"/>
          </a:xfrm>
          <a:prstGeom prst="rect">
            <a:avLst/>
          </a:prstGeom>
          <a:solidFill>
            <a:srgbClr val="1E1E3F"/>
          </a:solidFill>
          <a:ln/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1508760" y="2926080"/>
            <a:ext cx="914400" cy="914400"/>
          </a:xfrm>
          <a:prstGeom prst="ellipse">
            <a:avLst/>
          </a:prstGeom>
          <a:solidFill>
            <a:srgbClr val="06B6D4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37360" y="315468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1520" y="39319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음성 비서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42976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음성으로 질문하고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AI가 바로 답변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566160" y="2743200"/>
            <a:ext cx="2468880" cy="2103120"/>
          </a:xfrm>
          <a:prstGeom prst="rect">
            <a:avLst/>
          </a:prstGeom>
          <a:solidFill>
            <a:srgbClr val="1E1E3F"/>
          </a:solidFill>
          <a:ln/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4343400" y="2926080"/>
            <a:ext cx="914400" cy="914400"/>
          </a:xfrm>
          <a:prstGeom prst="ellipse">
            <a:avLst/>
          </a:prstGeom>
          <a:solidFill>
            <a:srgbClr val="F472B6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0" y="3154680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66160" y="39319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감정 소통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749040" y="42976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내 응원이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무대에 전달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400800" y="2743200"/>
            <a:ext cx="2468880" cy="2103120"/>
          </a:xfrm>
          <a:prstGeom prst="rect">
            <a:avLst/>
          </a:prstGeom>
          <a:solidFill>
            <a:srgbClr val="1E1E3F"/>
          </a:solidFill>
          <a:ln/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3"/>
          <p:cNvSpPr/>
          <p:nvPr/>
        </p:nvSpPr>
        <p:spPr>
          <a:xfrm>
            <a:off x="7178040" y="2926080"/>
            <a:ext cx="914400" cy="914400"/>
          </a:xfrm>
          <a:prstGeom prst="ellipse">
            <a:avLst/>
          </a:prstGeom>
          <a:solidFill>
            <a:srgbClr val="34D399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06640" y="3154680"/>
            <a:ext cx="457200" cy="4572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400800" y="39319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개인화 경험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6583680" y="42976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나만을 위한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맞춤형 응원봉</a:t>
            </a:r>
            <a:endParaRPr lang="en-US" sz="1200" dirty="0"/>
          </a:p>
        </p:txBody>
      </p:sp>
      <p:pic>
        <p:nvPicPr>
          <p:cNvPr id="21" name="slide3">
            <a:hlinkClick r:id="" action="ppaction://media"/>
            <a:extLst>
              <a:ext uri="{FF2B5EF4-FFF2-40B4-BE49-F238E27FC236}">
                <a16:creationId xmlns:a16="http://schemas.microsoft.com/office/drawing/2014/main" id="{010B926E-204F-962B-8C99-6953BF0AC7E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127000" y="6350000"/>
            <a:ext cx="304800" cy="304800"/>
          </a:xfrm>
          <a:prstGeom prst="rect">
            <a:avLst/>
          </a:prstGeom>
        </p:spPr>
      </p:pic>
      <p:pic>
        <p:nvPicPr>
          <p:cNvPr id="22" name="slide3">
            <a:hlinkClick r:id="" action="ppaction://media"/>
            <a:extLst>
              <a:ext uri="{FF2B5EF4-FFF2-40B4-BE49-F238E27FC236}">
                <a16:creationId xmlns:a16="http://schemas.microsoft.com/office/drawing/2014/main" id="{1F73C6AC-7BEA-EA00-D907-58BF692E68D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127000" y="6350000"/>
            <a:ext cx="304800" cy="304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75075" fill="hold"/>
                                        <p:tgtEl>
                                          <p:spTgt spid="2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1"/>
                </p:tgtEl>
              </p:cMediaNode>
            </p:audio>
            <p:audio>
              <p:cMediaNode vol="80000" showWhenStopped="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2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51530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2286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1828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핵심 기능 1: AI 음성 비서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1828800" cy="822960"/>
          </a:xfrm>
          <a:prstGeom prst="rect">
            <a:avLst/>
          </a:prstGeom>
          <a:solidFill>
            <a:srgbClr val="7C3AED">
              <a:alpha val="50000"/>
            </a:srgbClr>
          </a:solidFill>
          <a:ln/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457200" y="123444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응원봉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(마이크)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2926080" y="1188720"/>
            <a:ext cx="1828800" cy="822960"/>
          </a:xfrm>
          <a:prstGeom prst="rect">
            <a:avLst/>
          </a:prstGeom>
          <a:solidFill>
            <a:srgbClr val="06B6D4">
              <a:alpha val="50000"/>
            </a:srgbClr>
          </a:solidFill>
          <a:ln/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2926080" y="123444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스마트폰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(앱)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394960" y="1188720"/>
            <a:ext cx="1828800" cy="822960"/>
          </a:xfrm>
          <a:prstGeom prst="rect">
            <a:avLst/>
          </a:prstGeom>
          <a:solidFill>
            <a:srgbClr val="34D399">
              <a:alpha val="50000"/>
            </a:srgbClr>
          </a:solidFill>
          <a:ln/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5394960" y="123444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서버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(Gemini)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2286000" y="13716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</a:rPr>
              <a:t>BLE ▶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754880" y="13716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</a:rPr>
              <a:t>WiFi ▶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57200" y="2286000"/>
            <a:ext cx="3200400" cy="502920"/>
          </a:xfrm>
          <a:prstGeom prst="rect">
            <a:avLst/>
          </a:prstGeom>
          <a:solidFill>
            <a:srgbClr val="7C3AED">
              <a:alpha val="5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640080" y="23317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"다음 곡 뭐야?"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3931920" y="2286000"/>
            <a:ext cx="4754880" cy="502920"/>
          </a:xfrm>
          <a:prstGeom prst="rect">
            <a:avLst/>
          </a:prstGeom>
          <a:solidFill>
            <a:srgbClr val="1E1E3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/>
          <p:nvPr/>
        </p:nvSpPr>
        <p:spPr>
          <a:xfrm>
            <a:off x="4114800" y="233172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"다음은 '좋아'입니다. 파란색 준비하세요!"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57200" y="2971800"/>
            <a:ext cx="3200400" cy="502920"/>
          </a:xfrm>
          <a:prstGeom prst="rect">
            <a:avLst/>
          </a:prstGeom>
          <a:solidFill>
            <a:srgbClr val="7C3AED">
              <a:alpha val="5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5"/>
          <p:cNvSpPr/>
          <p:nvPr/>
        </p:nvSpPr>
        <p:spPr>
          <a:xfrm>
            <a:off x="640080" y="3017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"이 곡 가사 알려줘"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3931920" y="2971800"/>
            <a:ext cx="4754880" cy="502920"/>
          </a:xfrm>
          <a:prstGeom prst="rect">
            <a:avLst/>
          </a:prstGeom>
          <a:solidFill>
            <a:srgbClr val="1E1E3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7"/>
          <p:cNvSpPr/>
          <p:nvPr/>
        </p:nvSpPr>
        <p:spPr>
          <a:xfrm>
            <a:off x="4114800" y="301752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"지금 부르는 부분은..." (실시간 가사 표시)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57200" y="3657600"/>
            <a:ext cx="3200400" cy="502920"/>
          </a:xfrm>
          <a:prstGeom prst="rect">
            <a:avLst/>
          </a:prstGeom>
          <a:solidFill>
            <a:srgbClr val="7C3AED">
              <a:alpha val="5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9"/>
          <p:cNvSpPr/>
          <p:nvPr/>
        </p:nvSpPr>
        <p:spPr>
          <a:xfrm>
            <a:off x="640080" y="37033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"지금 떼창 구간이야?"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3931920" y="3657600"/>
            <a:ext cx="4754880" cy="502920"/>
          </a:xfrm>
          <a:prstGeom prst="rect">
            <a:avLst/>
          </a:prstGeom>
          <a:solidFill>
            <a:srgbClr val="1E1E3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1"/>
          <p:cNvSpPr/>
          <p:nvPr/>
        </p:nvSpPr>
        <p:spPr>
          <a:xfrm>
            <a:off x="4114800" y="370332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"네! 30초 후 떼창 시작합니다!"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4343400"/>
            <a:ext cx="3200400" cy="502920"/>
          </a:xfrm>
          <a:prstGeom prst="rect">
            <a:avLst/>
          </a:prstGeom>
          <a:solidFill>
            <a:srgbClr val="7C3AED">
              <a:alpha val="5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3"/>
          <p:cNvSpPr/>
          <p:nvPr/>
        </p:nvSpPr>
        <p:spPr>
          <a:xfrm>
            <a:off x="640080" y="43891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"내 팬레터 보내줘"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3931920" y="4343400"/>
            <a:ext cx="4754880" cy="502920"/>
          </a:xfrm>
          <a:prstGeom prst="rect">
            <a:avLst/>
          </a:prstGeom>
          <a:solidFill>
            <a:srgbClr val="1E1E3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5"/>
          <p:cNvSpPr/>
          <p:nvPr/>
        </p:nvSpPr>
        <p:spPr>
          <a:xfrm>
            <a:off x="4114800" y="438912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"메시지를 녹음하세요..." (음성 메시지 전송)</a:t>
            </a:r>
            <a:endParaRPr lang="en-US" sz="1100" dirty="0"/>
          </a:p>
        </p:txBody>
      </p:sp>
      <p:pic>
        <p:nvPicPr>
          <p:cNvPr id="29" name="slide4">
            <a:hlinkClick r:id="" action="ppaction://media"/>
            <a:extLst>
              <a:ext uri="{FF2B5EF4-FFF2-40B4-BE49-F238E27FC236}">
                <a16:creationId xmlns:a16="http://schemas.microsoft.com/office/drawing/2014/main" id="{FF699D62-4C8D-64AA-69BD-82E09165C66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27000" y="6350000"/>
            <a:ext cx="304800" cy="304800"/>
          </a:xfrm>
          <a:prstGeom prst="rect">
            <a:avLst/>
          </a:prstGeom>
        </p:spPr>
      </p:pic>
      <p:pic>
        <p:nvPicPr>
          <p:cNvPr id="30" name="slide4">
            <a:hlinkClick r:id="" action="ppaction://media"/>
            <a:extLst>
              <a:ext uri="{FF2B5EF4-FFF2-40B4-BE49-F238E27FC236}">
                <a16:creationId xmlns:a16="http://schemas.microsoft.com/office/drawing/2014/main" id="{2E214343-2A6B-0DB4-B8CB-F454C35F3CB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27000" y="6350000"/>
            <a:ext cx="304800" cy="304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95059" fill="hold"/>
                                        <p:tgtEl>
                                          <p:spTgt spid="3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9"/>
                </p:tgtEl>
              </p:cMediaNode>
            </p:audio>
            <p:audio>
              <p:cMediaNode vol="80000" showWhenStopped="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0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51530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2286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1828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핵심 기능 2: 실시간 감정 전달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2286000" cy="914400"/>
          </a:xfrm>
          <a:prstGeom prst="rect">
            <a:avLst/>
          </a:prstGeom>
          <a:solidFill>
            <a:srgbClr val="1E1E3F"/>
          </a:solidFill>
          <a:ln/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457200" y="12344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관객 응원봉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16459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흔들기, 음성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200400" y="1188720"/>
            <a:ext cx="2286000" cy="914400"/>
          </a:xfrm>
          <a:prstGeom prst="rect">
            <a:avLst/>
          </a:prstGeom>
          <a:solidFill>
            <a:srgbClr val="1E1E3F"/>
          </a:solidFill>
          <a:ln/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3200400" y="12344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감정 분석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3200400" y="16459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실시간 처리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943600" y="1188720"/>
            <a:ext cx="2286000" cy="914400"/>
          </a:xfrm>
          <a:prstGeom prst="rect">
            <a:avLst/>
          </a:prstGeom>
          <a:solidFill>
            <a:srgbClr val="1E1E3F"/>
          </a:solidFill>
          <a:ln/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5943600" y="12344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무대 스크린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5943600" y="16459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시각화 표시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2743200" y="14173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6B6D4"/>
                </a:solidFill>
              </a:rPr>
              <a:t>▶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5486400" y="14173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6B6D4"/>
                </a:solidFill>
              </a:rPr>
              <a:t>▶</a:t>
            </a:r>
            <a:endParaRPr lang="en-US" sz="20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2542032"/>
            <a:ext cx="365760" cy="36576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1097280" y="2468880"/>
            <a:ext cx="3200400" cy="502920"/>
          </a:xfrm>
          <a:prstGeom prst="rect">
            <a:avLst/>
          </a:prstGeom>
          <a:solidFill>
            <a:srgbClr val="F59E0B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4"/>
          <p:cNvSpPr/>
          <p:nvPr/>
        </p:nvSpPr>
        <p:spPr>
          <a:xfrm>
            <a:off x="1280160" y="251460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응원봉 세게 흔들기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4389120" y="246888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</a:rPr>
              <a:t>→</a:t>
            </a:r>
            <a:endParaRPr lang="en-US" sz="1800" dirty="0"/>
          </a:p>
        </p:txBody>
      </p:sp>
      <p:sp>
        <p:nvSpPr>
          <p:cNvPr id="20" name="Text 16"/>
          <p:cNvSpPr/>
          <p:nvPr/>
        </p:nvSpPr>
        <p:spPr>
          <a:xfrm>
            <a:off x="4846320" y="25146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무대에 "열정 게이지" 폭발 표시</a:t>
            </a:r>
            <a:endParaRPr lang="en-US" sz="1200" dirty="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182112"/>
            <a:ext cx="365760" cy="365760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1097280" y="3108960"/>
            <a:ext cx="3200400" cy="502920"/>
          </a:xfrm>
          <a:prstGeom prst="rect">
            <a:avLst/>
          </a:prstGeom>
          <a:solidFill>
            <a:srgbClr val="F472B6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18"/>
          <p:cNvSpPr/>
          <p:nvPr/>
        </p:nvSpPr>
        <p:spPr>
          <a:xfrm>
            <a:off x="1280160" y="31546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"사랑해!" 외치기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4389120" y="310896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</a:rPr>
              <a:t>→</a:t>
            </a:r>
            <a:endParaRPr lang="en-US" sz="1800" dirty="0"/>
          </a:p>
        </p:txBody>
      </p:sp>
      <p:sp>
        <p:nvSpPr>
          <p:cNvPr id="25" name="Text 20"/>
          <p:cNvSpPr/>
          <p:nvPr/>
        </p:nvSpPr>
        <p:spPr>
          <a:xfrm>
            <a:off x="4846320" y="31546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무대 스크린에 하트 이모지 폭발</a:t>
            </a:r>
            <a:endParaRPr lang="en-US" sz="1200" dirty="0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3822192"/>
            <a:ext cx="365760" cy="365760"/>
          </a:xfrm>
          <a:prstGeom prst="rect">
            <a:avLst/>
          </a:prstGeom>
        </p:spPr>
      </p:pic>
      <p:sp>
        <p:nvSpPr>
          <p:cNvPr id="27" name="Shape 21"/>
          <p:cNvSpPr/>
          <p:nvPr/>
        </p:nvSpPr>
        <p:spPr>
          <a:xfrm>
            <a:off x="1097280" y="3749040"/>
            <a:ext cx="3200400" cy="502920"/>
          </a:xfrm>
          <a:prstGeom prst="rect">
            <a:avLst/>
          </a:prstGeom>
          <a:solidFill>
            <a:srgbClr val="06B6D4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2"/>
          <p:cNvSpPr/>
          <p:nvPr/>
        </p:nvSpPr>
        <p:spPr>
          <a:xfrm>
            <a:off x="1280160" y="379476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앵콜 제스처</a:t>
            </a:r>
            <a:endParaRPr lang="en-US" sz="1300" dirty="0"/>
          </a:p>
        </p:txBody>
      </p:sp>
      <p:sp>
        <p:nvSpPr>
          <p:cNvPr id="29" name="Text 23"/>
          <p:cNvSpPr/>
          <p:nvPr/>
        </p:nvSpPr>
        <p:spPr>
          <a:xfrm>
            <a:off x="4389120" y="374904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</a:rPr>
              <a:t>→</a:t>
            </a:r>
            <a:endParaRPr lang="en-US" sz="1800" dirty="0"/>
          </a:p>
        </p:txBody>
      </p:sp>
      <p:sp>
        <p:nvSpPr>
          <p:cNvPr id="30" name="Text 24"/>
          <p:cNvSpPr/>
          <p:nvPr/>
        </p:nvSpPr>
        <p:spPr>
          <a:xfrm>
            <a:off x="4846320" y="379476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"앵콜" 요청 실시간 집계 표시</a:t>
            </a:r>
            <a:endParaRPr lang="en-US" sz="1200" dirty="0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8640" y="4462272"/>
            <a:ext cx="365760" cy="365760"/>
          </a:xfrm>
          <a:prstGeom prst="rect">
            <a:avLst/>
          </a:prstGeom>
        </p:spPr>
      </p:pic>
      <p:sp>
        <p:nvSpPr>
          <p:cNvPr id="32" name="Shape 25"/>
          <p:cNvSpPr/>
          <p:nvPr/>
        </p:nvSpPr>
        <p:spPr>
          <a:xfrm>
            <a:off x="1097280" y="4389120"/>
            <a:ext cx="3200400" cy="502920"/>
          </a:xfrm>
          <a:prstGeom prst="rect">
            <a:avLst/>
          </a:prstGeom>
          <a:solidFill>
            <a:srgbClr val="34D399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Text 26"/>
          <p:cNvSpPr/>
          <p:nvPr/>
        </p:nvSpPr>
        <p:spPr>
          <a:xfrm>
            <a:off x="1280160" y="443484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단체 박수</a:t>
            </a:r>
            <a:endParaRPr lang="en-US" sz="1300" dirty="0"/>
          </a:p>
        </p:txBody>
      </p:sp>
      <p:sp>
        <p:nvSpPr>
          <p:cNvPr id="34" name="Text 27"/>
          <p:cNvSpPr/>
          <p:nvPr/>
        </p:nvSpPr>
        <p:spPr>
          <a:xfrm>
            <a:off x="4389120" y="438912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</a:rPr>
              <a:t>→</a:t>
            </a:r>
            <a:endParaRPr lang="en-US" sz="1800" dirty="0"/>
          </a:p>
        </p:txBody>
      </p:sp>
      <p:sp>
        <p:nvSpPr>
          <p:cNvPr id="35" name="Text 28"/>
          <p:cNvSpPr/>
          <p:nvPr/>
        </p:nvSpPr>
        <p:spPr>
          <a:xfrm>
            <a:off x="4846320" y="44348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관객 열기 온도계 실시간 상승</a:t>
            </a:r>
            <a:endParaRPr lang="en-US" sz="1200" dirty="0"/>
          </a:p>
        </p:txBody>
      </p:sp>
      <p:pic>
        <p:nvPicPr>
          <p:cNvPr id="36" name="slide5">
            <a:hlinkClick r:id="" action="ppaction://media"/>
            <a:extLst>
              <a:ext uri="{FF2B5EF4-FFF2-40B4-BE49-F238E27FC236}">
                <a16:creationId xmlns:a16="http://schemas.microsoft.com/office/drawing/2014/main" id="{D0D97152-7B96-B416-48CA-C60D80AC76B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127000" y="6350000"/>
            <a:ext cx="304800" cy="304800"/>
          </a:xfrm>
          <a:prstGeom prst="rect">
            <a:avLst/>
          </a:prstGeom>
        </p:spPr>
      </p:pic>
      <p:pic>
        <p:nvPicPr>
          <p:cNvPr id="37" name="slide5">
            <a:hlinkClick r:id="" action="ppaction://media"/>
            <a:extLst>
              <a:ext uri="{FF2B5EF4-FFF2-40B4-BE49-F238E27FC236}">
                <a16:creationId xmlns:a16="http://schemas.microsoft.com/office/drawing/2014/main" id="{3B11802C-9B37-1F19-5AC7-F4706141E23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127000" y="6350000"/>
            <a:ext cx="304800" cy="304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90070" fill="hold"/>
                                        <p:tgtEl>
                                          <p:spTgt spid="3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6"/>
                </p:tgtEl>
              </p:cMediaNode>
            </p:audio>
            <p:audio>
              <p:cMediaNode vol="80000" showWhenStopped="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7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51530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2286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18288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핵심 기능 3: 아티스트 ↔ 팬 양방향 소통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3840480" cy="1097280"/>
          </a:xfrm>
          <a:prstGeom prst="rect">
            <a:avLst/>
          </a:prstGeom>
          <a:solidFill>
            <a:srgbClr val="EF4444">
              <a:alpha val="2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457200" y="12344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기존: 일방향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57200" y="16459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아티스트 → 관객 (받기만 가능)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846320" y="1188720"/>
            <a:ext cx="3840480" cy="1097280"/>
          </a:xfrm>
          <a:prstGeom prst="rect">
            <a:avLst/>
          </a:prstGeom>
          <a:solidFill>
            <a:srgbClr val="34D399">
              <a:alpha val="2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4846320" y="12344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FanStick: 양방향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846320" y="16459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아티스트 ↔ 관객 (서로 소통)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57200" y="2560320"/>
            <a:ext cx="3931920" cy="1005840"/>
          </a:xfrm>
          <a:prstGeom prst="rect">
            <a:avLst/>
          </a:prstGeom>
          <a:solidFill>
            <a:srgbClr val="1E1E3F"/>
          </a:solidFill>
          <a:ln/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278892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280160" y="26517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개인 메시지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1280160" y="30175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"3층 A구역 팬분, 응원 감사해요!"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해당 구역 응원봉만 특별 LED 점등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4754880" y="2560320"/>
            <a:ext cx="3931920" cy="1005840"/>
          </a:xfrm>
          <a:prstGeom prst="rect">
            <a:avLst/>
          </a:prstGeom>
          <a:solidFill>
            <a:srgbClr val="1E1E3F"/>
          </a:solidFill>
          <a:ln/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83480" y="2788920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577840" y="26517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팬 선택 이벤트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5577840" y="30175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무작위로 응원봉 선택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당첨자 응원봉이 반짝이며 알림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57200" y="3749040"/>
            <a:ext cx="3931920" cy="1005840"/>
          </a:xfrm>
          <a:prstGeom prst="rect">
            <a:avLst/>
          </a:prstGeom>
          <a:solidFill>
            <a:srgbClr val="1E1E3F"/>
          </a:solidFill>
          <a:ln/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" y="3977640"/>
            <a:ext cx="411480" cy="41148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280160" y="38404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실시간 투표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1280160" y="42062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"다음 곡 선택해주세요!"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응원봉 흔들기로 투표 참여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4754880" y="3749040"/>
            <a:ext cx="3931920" cy="1005840"/>
          </a:xfrm>
          <a:prstGeom prst="rect">
            <a:avLst/>
          </a:prstGeom>
          <a:solidFill>
            <a:srgbClr val="1E1E3F"/>
          </a:solidFill>
          <a:ln/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83480" y="3977640"/>
            <a:ext cx="411480" cy="41148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5577840" y="38404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그룹 미션</a:t>
            </a:r>
            <a:endParaRPr lang="en-US" sz="1500" dirty="0"/>
          </a:p>
        </p:txBody>
      </p:sp>
      <p:sp>
        <p:nvSpPr>
          <p:cNvPr id="26" name="Text 19"/>
          <p:cNvSpPr/>
          <p:nvPr/>
        </p:nvSpPr>
        <p:spPr>
          <a:xfrm>
            <a:off x="5577840" y="42062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"모두 파도타기!"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구역별 순차 점등으로 파도 효과</a:t>
            </a:r>
            <a:endParaRPr lang="en-US" sz="1100" dirty="0"/>
          </a:p>
        </p:txBody>
      </p:sp>
      <p:pic>
        <p:nvPicPr>
          <p:cNvPr id="27" name="slide6">
            <a:hlinkClick r:id="" action="ppaction://media"/>
            <a:extLst>
              <a:ext uri="{FF2B5EF4-FFF2-40B4-BE49-F238E27FC236}">
                <a16:creationId xmlns:a16="http://schemas.microsoft.com/office/drawing/2014/main" id="{D7F04E95-3CF4-6AC8-31E9-9E72B2264C6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127000" y="6350000"/>
            <a:ext cx="304800" cy="304800"/>
          </a:xfrm>
          <a:prstGeom prst="rect">
            <a:avLst/>
          </a:prstGeom>
        </p:spPr>
      </p:pic>
      <p:pic>
        <p:nvPicPr>
          <p:cNvPr id="28" name="slide6">
            <a:hlinkClick r:id="" action="ppaction://media"/>
            <a:extLst>
              <a:ext uri="{FF2B5EF4-FFF2-40B4-BE49-F238E27FC236}">
                <a16:creationId xmlns:a16="http://schemas.microsoft.com/office/drawing/2014/main" id="{F7C5C096-CD29-47E5-5136-6A8FE594A6E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127000" y="6350000"/>
            <a:ext cx="304800" cy="304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90070" fill="hold"/>
                                        <p:tgtEl>
                                          <p:spTgt spid="2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7"/>
                </p:tgtEl>
              </p:cMediaNode>
            </p:audio>
            <p:audio>
              <p:cMediaNode vol="80000" showWhenStopped="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8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51530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2286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18288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핵심 기능 4: AI 개인화 &amp; 일상 활용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457200" y="11430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콘서트에서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457200" y="1645920"/>
            <a:ext cx="3931920" cy="411480"/>
          </a:xfrm>
          <a:prstGeom prst="rect">
            <a:avLst/>
          </a:prstGeom>
          <a:solidFill>
            <a:srgbClr val="1E1E3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" y="1709928"/>
            <a:ext cx="274320" cy="274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05840" y="166420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최애 멤버 등장 시 자동 색상 변경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457200" y="2194560"/>
            <a:ext cx="3931920" cy="411480"/>
          </a:xfrm>
          <a:prstGeom prst="rect">
            <a:avLst/>
          </a:prstGeom>
          <a:solidFill>
            <a:srgbClr val="1E1E3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" y="2258568"/>
            <a:ext cx="274320" cy="2743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05840" y="221284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좋아하는 곡 시작 전 진동 알림</a:t>
            </a:r>
            <a:endParaRPr lang="en-US" sz="1300" dirty="0"/>
          </a:p>
        </p:txBody>
      </p:sp>
      <p:sp>
        <p:nvSpPr>
          <p:cNvPr id="12" name="Shape 7"/>
          <p:cNvSpPr/>
          <p:nvPr/>
        </p:nvSpPr>
        <p:spPr>
          <a:xfrm>
            <a:off x="457200" y="2743200"/>
            <a:ext cx="3931920" cy="411480"/>
          </a:xfrm>
          <a:prstGeom prst="rect">
            <a:avLst/>
          </a:prstGeom>
          <a:solidFill>
            <a:srgbClr val="1E1E3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" y="2807208"/>
            <a:ext cx="274320" cy="27432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05840" y="276148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콘서트 후 '오늘의 열정 리포트' 제공</a:t>
            </a:r>
            <a:endParaRPr lang="en-US" sz="1300" dirty="0"/>
          </a:p>
        </p:txBody>
      </p:sp>
      <p:sp>
        <p:nvSpPr>
          <p:cNvPr id="15" name="Text 9"/>
          <p:cNvSpPr/>
          <p:nvPr/>
        </p:nvSpPr>
        <p:spPr>
          <a:xfrm>
            <a:off x="4846320" y="11430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47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일상에서</a:t>
            </a:r>
            <a:endParaRPr lang="en-US" sz="1800" dirty="0"/>
          </a:p>
        </p:txBody>
      </p:sp>
      <p:sp>
        <p:nvSpPr>
          <p:cNvPr id="16" name="Shape 10"/>
          <p:cNvSpPr/>
          <p:nvPr/>
        </p:nvSpPr>
        <p:spPr>
          <a:xfrm>
            <a:off x="4846320" y="1645920"/>
            <a:ext cx="3931920" cy="411480"/>
          </a:xfrm>
          <a:prstGeom prst="rect">
            <a:avLst/>
          </a:prstGeom>
          <a:solidFill>
            <a:srgbClr val="1E1E3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83480" y="1709928"/>
            <a:ext cx="274320" cy="27432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5394960" y="166420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팬덤 비서 - 아티스트 일정 안내</a:t>
            </a:r>
            <a:endParaRPr lang="en-US" sz="1200" dirty="0"/>
          </a:p>
        </p:txBody>
      </p:sp>
      <p:sp>
        <p:nvSpPr>
          <p:cNvPr id="19" name="Shape 12"/>
          <p:cNvSpPr/>
          <p:nvPr/>
        </p:nvSpPr>
        <p:spPr>
          <a:xfrm>
            <a:off x="4846320" y="2194560"/>
            <a:ext cx="3931920" cy="411480"/>
          </a:xfrm>
          <a:prstGeom prst="rect">
            <a:avLst/>
          </a:prstGeom>
          <a:solidFill>
            <a:srgbClr val="1E1E3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83480" y="2258568"/>
            <a:ext cx="274320" cy="27432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5394960" y="221284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음악 연동 - 집에서도 LED 싱크</a:t>
            </a:r>
            <a:endParaRPr lang="en-US" sz="1200" dirty="0"/>
          </a:p>
        </p:txBody>
      </p:sp>
      <p:sp>
        <p:nvSpPr>
          <p:cNvPr id="22" name="Shape 14"/>
          <p:cNvSpPr/>
          <p:nvPr/>
        </p:nvSpPr>
        <p:spPr>
          <a:xfrm>
            <a:off x="4846320" y="2743200"/>
            <a:ext cx="3931920" cy="411480"/>
          </a:xfrm>
          <a:prstGeom prst="rect">
            <a:avLst/>
          </a:prstGeom>
          <a:solidFill>
            <a:srgbClr val="1E1E3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83480" y="2807208"/>
            <a:ext cx="274320" cy="274320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5394960" y="276148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팬 커뮤니티 - 근처 팬 찾기</a:t>
            </a:r>
            <a:endParaRPr lang="en-US" sz="1200" dirty="0"/>
          </a:p>
        </p:txBody>
      </p:sp>
      <p:sp>
        <p:nvSpPr>
          <p:cNvPr id="25" name="Shape 16"/>
          <p:cNvSpPr/>
          <p:nvPr/>
        </p:nvSpPr>
        <p:spPr>
          <a:xfrm>
            <a:off x="4846320" y="3291840"/>
            <a:ext cx="3931920" cy="411480"/>
          </a:xfrm>
          <a:prstGeom prst="rect">
            <a:avLst/>
          </a:prstGeom>
          <a:solidFill>
            <a:srgbClr val="1E1E3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83480" y="3355848"/>
            <a:ext cx="274320" cy="274320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5394960" y="331012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미니게임 - 흔들어서 포인트 획득</a:t>
            </a:r>
            <a:endParaRPr lang="en-US" sz="1200" dirty="0"/>
          </a:p>
        </p:txBody>
      </p:sp>
      <p:sp>
        <p:nvSpPr>
          <p:cNvPr id="28" name="Shape 18"/>
          <p:cNvSpPr/>
          <p:nvPr/>
        </p:nvSpPr>
        <p:spPr>
          <a:xfrm>
            <a:off x="457200" y="3931920"/>
            <a:ext cx="8229600" cy="914400"/>
          </a:xfrm>
          <a:prstGeom prst="rect">
            <a:avLst/>
          </a:prstGeom>
          <a:solidFill>
            <a:srgbClr val="7C3AED">
              <a:alpha val="35000"/>
            </a:srgbClr>
          </a:solidFill>
          <a:ln/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9" name="Text 19"/>
          <p:cNvSpPr/>
          <p:nvPr/>
        </p:nvSpPr>
        <p:spPr>
          <a:xfrm>
            <a:off x="731520" y="41148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공연장에서만 쓰던 응원봉이, 365일 팬의 일상 속 AI 비서가 됩니다</a:t>
            </a:r>
            <a:endParaRPr lang="en-US" sz="1600" dirty="0"/>
          </a:p>
        </p:txBody>
      </p:sp>
      <p:pic>
        <p:nvPicPr>
          <p:cNvPr id="30" name="slide7">
            <a:hlinkClick r:id="" action="ppaction://media"/>
            <a:extLst>
              <a:ext uri="{FF2B5EF4-FFF2-40B4-BE49-F238E27FC236}">
                <a16:creationId xmlns:a16="http://schemas.microsoft.com/office/drawing/2014/main" id="{6B0E5C8E-8C2B-6FF2-48AC-49EFC6B157C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127000" y="6350000"/>
            <a:ext cx="304800" cy="304800"/>
          </a:xfrm>
          <a:prstGeom prst="rect">
            <a:avLst/>
          </a:prstGeom>
        </p:spPr>
      </p:pic>
      <p:pic>
        <p:nvPicPr>
          <p:cNvPr id="31" name="slide7">
            <a:hlinkClick r:id="" action="ppaction://media"/>
            <a:extLst>
              <a:ext uri="{FF2B5EF4-FFF2-40B4-BE49-F238E27FC236}">
                <a16:creationId xmlns:a16="http://schemas.microsoft.com/office/drawing/2014/main" id="{6D738071-BD2F-E44A-0FB0-A90AF4B49D0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127000" y="6350000"/>
            <a:ext cx="304800" cy="304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85054" fill="hold"/>
                                        <p:tgtEl>
                                          <p:spTgt spid="3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0"/>
                </p:tgtEl>
              </p:cMediaNode>
            </p:audio>
            <p:audio>
              <p:cMediaNode vol="80000" showWhenStopped="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1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51530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2286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1828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FanStick 구성 요소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20040" y="1188720"/>
            <a:ext cx="1554480" cy="3566160"/>
          </a:xfrm>
          <a:prstGeom prst="rect">
            <a:avLst/>
          </a:prstGeom>
          <a:solidFill>
            <a:srgbClr val="1E1E3F"/>
          </a:solidFill>
          <a:ln/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320040" y="1188720"/>
            <a:ext cx="1554480" cy="54864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731520" y="1417320"/>
            <a:ext cx="731520" cy="731520"/>
          </a:xfrm>
          <a:prstGeom prst="ellipse">
            <a:avLst/>
          </a:prstGeom>
          <a:solidFill>
            <a:srgbClr val="06B6D4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1554480"/>
            <a:ext cx="457200" cy="457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20040" y="22860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마이크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429768" y="2743200"/>
            <a:ext cx="13350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음성 명령 입력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비서 호출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팬 메시지 녹음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감정 음성 분석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2057400" y="1188720"/>
            <a:ext cx="1554480" cy="3566160"/>
          </a:xfrm>
          <a:prstGeom prst="rect">
            <a:avLst/>
          </a:prstGeom>
          <a:solidFill>
            <a:srgbClr val="1E1E3F"/>
          </a:solidFill>
          <a:ln/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8"/>
          <p:cNvSpPr/>
          <p:nvPr/>
        </p:nvSpPr>
        <p:spPr>
          <a:xfrm>
            <a:off x="2057400" y="1188720"/>
            <a:ext cx="1554480" cy="5486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9"/>
          <p:cNvSpPr/>
          <p:nvPr/>
        </p:nvSpPr>
        <p:spPr>
          <a:xfrm>
            <a:off x="2468880" y="1417320"/>
            <a:ext cx="731520" cy="731520"/>
          </a:xfrm>
          <a:prstGeom prst="ellipse">
            <a:avLst/>
          </a:prstGeom>
          <a:solidFill>
            <a:srgbClr val="F59E0B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06040" y="1554480"/>
            <a:ext cx="457200" cy="4572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057400" y="22860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LED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2167128" y="2743200"/>
            <a:ext cx="13350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풀컬러 감정 표현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응답 시각화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곡별 자동 색상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개인 알림 표시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3794760" y="1188720"/>
            <a:ext cx="1554480" cy="3566160"/>
          </a:xfrm>
          <a:prstGeom prst="rect">
            <a:avLst/>
          </a:prstGeom>
          <a:solidFill>
            <a:srgbClr val="1E1E3F"/>
          </a:solidFill>
          <a:ln/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3"/>
          <p:cNvSpPr/>
          <p:nvPr/>
        </p:nvSpPr>
        <p:spPr>
          <a:xfrm>
            <a:off x="3794760" y="1188720"/>
            <a:ext cx="1554480" cy="54864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4"/>
          <p:cNvSpPr/>
          <p:nvPr/>
        </p:nvSpPr>
        <p:spPr>
          <a:xfrm>
            <a:off x="4206240" y="1417320"/>
            <a:ext cx="731520" cy="731520"/>
          </a:xfrm>
          <a:prstGeom prst="ellipse">
            <a:avLst/>
          </a:prstGeom>
          <a:solidFill>
            <a:srgbClr val="4F46E5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43400" y="1554480"/>
            <a:ext cx="457200" cy="4572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3794760" y="22860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BLE 통신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3904488" y="2743200"/>
            <a:ext cx="13350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스마트폰 연동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그룹 통신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저전력 동작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실시간 데이터 전송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5532120" y="1188720"/>
            <a:ext cx="1554480" cy="3566160"/>
          </a:xfrm>
          <a:prstGeom prst="rect">
            <a:avLst/>
          </a:prstGeom>
          <a:solidFill>
            <a:srgbClr val="1E1E3F"/>
          </a:solidFill>
          <a:ln/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18"/>
          <p:cNvSpPr/>
          <p:nvPr/>
        </p:nvSpPr>
        <p:spPr>
          <a:xfrm>
            <a:off x="5532120" y="1188720"/>
            <a:ext cx="1554480" cy="54864"/>
          </a:xfrm>
          <a:prstGeom prst="rect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19"/>
          <p:cNvSpPr/>
          <p:nvPr/>
        </p:nvSpPr>
        <p:spPr>
          <a:xfrm>
            <a:off x="5943600" y="1417320"/>
            <a:ext cx="731520" cy="731520"/>
          </a:xfrm>
          <a:prstGeom prst="ellipse">
            <a:avLst/>
          </a:prstGeom>
          <a:solidFill>
            <a:srgbClr val="34D399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80760" y="1554480"/>
            <a:ext cx="457200" cy="45720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532120" y="22860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가속도 센서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5641848" y="2743200"/>
            <a:ext cx="13350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제스처 인식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흔들기 강도 감지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응원 동작 분석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앵콜 요청 감지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7269480" y="1188720"/>
            <a:ext cx="1554480" cy="3566160"/>
          </a:xfrm>
          <a:prstGeom prst="rect">
            <a:avLst/>
          </a:prstGeom>
          <a:solidFill>
            <a:srgbClr val="1E1E3F"/>
          </a:solidFill>
          <a:ln/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3"/>
          <p:cNvSpPr/>
          <p:nvPr/>
        </p:nvSpPr>
        <p:spPr>
          <a:xfrm>
            <a:off x="7269480" y="1188720"/>
            <a:ext cx="1554480" cy="54864"/>
          </a:xfrm>
          <a:prstGeom prst="rect">
            <a:avLst/>
          </a:prstGeom>
          <a:solidFill>
            <a:srgbClr val="F472B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4"/>
          <p:cNvSpPr/>
          <p:nvPr/>
        </p:nvSpPr>
        <p:spPr>
          <a:xfrm>
            <a:off x="7680960" y="1417320"/>
            <a:ext cx="731520" cy="731520"/>
          </a:xfrm>
          <a:prstGeom prst="ellipse">
            <a:avLst/>
          </a:prstGeom>
          <a:solidFill>
            <a:srgbClr val="F472B6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18120" y="1554480"/>
            <a:ext cx="457200" cy="45720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7269480" y="22860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진동 모터</a:t>
            </a:r>
            <a:endParaRPr lang="en-US" sz="1400" dirty="0"/>
          </a:p>
        </p:txBody>
      </p:sp>
      <p:sp>
        <p:nvSpPr>
          <p:cNvPr id="34" name="Text 26"/>
          <p:cNvSpPr/>
          <p:nvPr/>
        </p:nvSpPr>
        <p:spPr>
          <a:xfrm>
            <a:off x="7379208" y="2743200"/>
            <a:ext cx="13350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햅틱 피드백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비트 동기화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아티스트 신호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알림 진동</a:t>
            </a:r>
            <a:endParaRPr lang="en-US" sz="1100" dirty="0"/>
          </a:p>
        </p:txBody>
      </p:sp>
      <p:pic>
        <p:nvPicPr>
          <p:cNvPr id="35" name="slide8">
            <a:hlinkClick r:id="" action="ppaction://media"/>
            <a:extLst>
              <a:ext uri="{FF2B5EF4-FFF2-40B4-BE49-F238E27FC236}">
                <a16:creationId xmlns:a16="http://schemas.microsoft.com/office/drawing/2014/main" id="{A382B076-5075-BF11-2B81-16C5F23151C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127000" y="6350000"/>
            <a:ext cx="304800" cy="304800"/>
          </a:xfrm>
          <a:prstGeom prst="rect">
            <a:avLst/>
          </a:prstGeom>
        </p:spPr>
      </p:pic>
      <p:pic>
        <p:nvPicPr>
          <p:cNvPr id="36" name="slide8">
            <a:hlinkClick r:id="" action="ppaction://media"/>
            <a:extLst>
              <a:ext uri="{FF2B5EF4-FFF2-40B4-BE49-F238E27FC236}">
                <a16:creationId xmlns:a16="http://schemas.microsoft.com/office/drawing/2014/main" id="{C1D304CD-4927-A0FA-0956-B3AD524AAF3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127000" y="6350000"/>
            <a:ext cx="304800" cy="304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100075" fill="hold"/>
                                        <p:tgtEl>
                                          <p:spTgt spid="3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5"/>
                </p:tgtEl>
              </p:cMediaNode>
            </p:audio>
            <p:audio>
              <p:cMediaNode vol="80000" showWhenStopped="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6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51530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2286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1828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개발 로드맵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731520" y="1645920"/>
            <a:ext cx="768096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1188720" y="1463040"/>
            <a:ext cx="365760" cy="36576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457200" y="2103120"/>
            <a:ext cx="1920240" cy="2743200"/>
          </a:xfrm>
          <a:prstGeom prst="rect">
            <a:avLst/>
          </a:prstGeom>
          <a:solidFill>
            <a:srgbClr val="1E1E3F"/>
          </a:solidFill>
          <a:ln/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457200" y="2103120"/>
            <a:ext cx="1920240" cy="54864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457200" y="22860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57200" y="25603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개발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457200" y="28803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3개월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731520" y="3200400"/>
            <a:ext cx="1371600" cy="0"/>
          </a:xfrm>
          <a:prstGeom prst="line">
            <a:avLst/>
          </a:prstGeom>
          <a:noFill/>
          <a:ln w="63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/>
          <p:nvPr/>
        </p:nvSpPr>
        <p:spPr>
          <a:xfrm>
            <a:off x="640080" y="3291840"/>
            <a:ext cx="1554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프로토타입 제작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음성 비서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모바일 앱 개발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LED 제어 구현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291840" y="1463040"/>
            <a:ext cx="365760" cy="36576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2"/>
          <p:cNvSpPr/>
          <p:nvPr/>
        </p:nvSpPr>
        <p:spPr>
          <a:xfrm>
            <a:off x="2560320" y="2103120"/>
            <a:ext cx="1920240" cy="2743200"/>
          </a:xfrm>
          <a:prstGeom prst="rect">
            <a:avLst/>
          </a:prstGeom>
          <a:solidFill>
            <a:srgbClr val="1E1E3F"/>
          </a:solidFill>
          <a:ln/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3"/>
          <p:cNvSpPr/>
          <p:nvPr/>
        </p:nvSpPr>
        <p:spPr>
          <a:xfrm>
            <a:off x="2560320" y="2103120"/>
            <a:ext cx="1920240" cy="54864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/>
          <p:nvPr/>
        </p:nvSpPr>
        <p:spPr>
          <a:xfrm>
            <a:off x="2560320" y="22860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2560320" y="25603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콘서트 연동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2560320" y="28803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3개월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2834640" y="3200400"/>
            <a:ext cx="1371600" cy="0"/>
          </a:xfrm>
          <a:prstGeom prst="line">
            <a:avLst/>
          </a:prstGeom>
          <a:noFill/>
          <a:ln w="63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8"/>
          <p:cNvSpPr/>
          <p:nvPr/>
        </p:nvSpPr>
        <p:spPr>
          <a:xfrm>
            <a:off x="2743200" y="3291840"/>
            <a:ext cx="1554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공연장 서버 연동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실시간 동기화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구역별 제어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감정 집계 시스템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5394960" y="1463040"/>
            <a:ext cx="365760" cy="365760"/>
          </a:xfrm>
          <a:prstGeom prst="ellipse">
            <a:avLst/>
          </a:prstGeom>
          <a:solidFill>
            <a:srgbClr val="F472B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0"/>
          <p:cNvSpPr/>
          <p:nvPr/>
        </p:nvSpPr>
        <p:spPr>
          <a:xfrm>
            <a:off x="4663440" y="2103120"/>
            <a:ext cx="1920240" cy="2743200"/>
          </a:xfrm>
          <a:prstGeom prst="rect">
            <a:avLst/>
          </a:prstGeom>
          <a:solidFill>
            <a:srgbClr val="1E1E3F"/>
          </a:solidFill>
          <a:ln/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1"/>
          <p:cNvSpPr/>
          <p:nvPr/>
        </p:nvSpPr>
        <p:spPr>
          <a:xfrm>
            <a:off x="4663440" y="2103120"/>
            <a:ext cx="1920240" cy="54864"/>
          </a:xfrm>
          <a:prstGeom prst="rect">
            <a:avLst/>
          </a:prstGeom>
          <a:solidFill>
            <a:srgbClr val="F472B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2"/>
          <p:cNvSpPr/>
          <p:nvPr/>
        </p:nvSpPr>
        <p:spPr>
          <a:xfrm>
            <a:off x="4663440" y="22860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47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4663440" y="25603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고급 기능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4663440" y="28803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3개월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4937760" y="3200400"/>
            <a:ext cx="1371600" cy="0"/>
          </a:xfrm>
          <a:prstGeom prst="line">
            <a:avLst/>
          </a:prstGeom>
          <a:noFill/>
          <a:ln w="63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6"/>
          <p:cNvSpPr/>
          <p:nvPr/>
        </p:nvSpPr>
        <p:spPr>
          <a:xfrm>
            <a:off x="4846320" y="3291840"/>
            <a:ext cx="1554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양방향 통신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개인화 학습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 기능 탑재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iOS 앱 개발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7498080" y="1463040"/>
            <a:ext cx="365760" cy="365760"/>
          </a:xfrm>
          <a:prstGeom prst="ellipse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8"/>
          <p:cNvSpPr/>
          <p:nvPr/>
        </p:nvSpPr>
        <p:spPr>
          <a:xfrm>
            <a:off x="6766560" y="2103120"/>
            <a:ext cx="1920240" cy="2743200"/>
          </a:xfrm>
          <a:prstGeom prst="rect">
            <a:avLst/>
          </a:prstGeom>
          <a:solidFill>
            <a:srgbClr val="1E1E3F"/>
          </a:solidFill>
          <a:ln/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29"/>
          <p:cNvSpPr/>
          <p:nvPr/>
        </p:nvSpPr>
        <p:spPr>
          <a:xfrm>
            <a:off x="6766560" y="2103120"/>
            <a:ext cx="1920240" cy="54864"/>
          </a:xfrm>
          <a:prstGeom prst="rect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0"/>
          <p:cNvSpPr/>
          <p:nvPr/>
        </p:nvSpPr>
        <p:spPr>
          <a:xfrm>
            <a:off x="6766560" y="22860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6766560" y="25603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상용화</a:t>
            </a:r>
            <a:endParaRPr lang="en-US" sz="1500" dirty="0"/>
          </a:p>
        </p:txBody>
      </p:sp>
      <p:sp>
        <p:nvSpPr>
          <p:cNvPr id="35" name="Text 32"/>
          <p:cNvSpPr/>
          <p:nvPr/>
        </p:nvSpPr>
        <p:spPr>
          <a:xfrm>
            <a:off x="6766560" y="28803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3개월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7040880" y="3200400"/>
            <a:ext cx="1371600" cy="0"/>
          </a:xfrm>
          <a:prstGeom prst="line">
            <a:avLst/>
          </a:prstGeom>
          <a:noFill/>
          <a:ln w="63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4"/>
          <p:cNvSpPr/>
          <p:nvPr/>
        </p:nvSpPr>
        <p:spPr>
          <a:xfrm>
            <a:off x="6949440" y="3291840"/>
            <a:ext cx="1554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대량 생산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기획사 파트너십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글로벌 출시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서비스 안정화</a:t>
            </a:r>
            <a:endParaRPr lang="en-US" sz="1100" dirty="0"/>
          </a:p>
        </p:txBody>
      </p:sp>
      <p:pic>
        <p:nvPicPr>
          <p:cNvPr id="38" name="slide9">
            <a:hlinkClick r:id="" action="ppaction://media"/>
            <a:extLst>
              <a:ext uri="{FF2B5EF4-FFF2-40B4-BE49-F238E27FC236}">
                <a16:creationId xmlns:a16="http://schemas.microsoft.com/office/drawing/2014/main" id="{3996A412-C783-BE93-514D-6238723CE7C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27000" y="6350000"/>
            <a:ext cx="304800" cy="304800"/>
          </a:xfrm>
          <a:prstGeom prst="rect">
            <a:avLst/>
          </a:prstGeom>
        </p:spPr>
      </p:pic>
      <p:pic>
        <p:nvPicPr>
          <p:cNvPr id="39" name="slide9">
            <a:hlinkClick r:id="" action="ppaction://media"/>
            <a:extLst>
              <a:ext uri="{FF2B5EF4-FFF2-40B4-BE49-F238E27FC236}">
                <a16:creationId xmlns:a16="http://schemas.microsoft.com/office/drawing/2014/main" id="{C3C7F5AF-1B02-554E-0A7A-7EBCA00D247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27000" y="6350000"/>
            <a:ext cx="304800" cy="304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90070" fill="hold"/>
                                        <p:tgtEl>
                                          <p:spTgt spid="3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8"/>
                </p:tgtEl>
              </p:cMediaNode>
            </p:audio>
            <p:audio>
              <p:cMediaNode vol="80000" showWhenStopped="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9"/>
                </p:tgtEl>
              </p:cMediaNode>
            </p:audi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914400"/>
            <a:ext cx="4572000" cy="4572000"/>
          </a:xfrm>
          <a:prstGeom prst="ellipse">
            <a:avLst/>
          </a:prstGeom>
          <a:solidFill>
            <a:srgbClr val="7C3AED">
              <a:alpha val="1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6400800" y="1828800"/>
            <a:ext cx="4572000" cy="4572000"/>
          </a:xfrm>
          <a:prstGeom prst="ellipse">
            <a:avLst/>
          </a:prstGeom>
          <a:solidFill>
            <a:srgbClr val="F472B6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731520" y="45720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FanStick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731520" y="12801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팬과 아티스트를 연결하는 차세대 플랫폼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103120"/>
            <a:ext cx="2468880" cy="1645920"/>
          </a:xfrm>
          <a:prstGeom prst="rect">
            <a:avLst/>
          </a:prstGeom>
          <a:solidFill>
            <a:srgbClr val="1E1E3F"/>
          </a:solidFill>
          <a:ln/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45920" y="2286000"/>
            <a:ext cx="548640" cy="548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29260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팬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14400" y="32461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아티스트와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더 가까운 경험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566160" y="2103120"/>
            <a:ext cx="2468880" cy="1645920"/>
          </a:xfrm>
          <a:prstGeom prst="rect">
            <a:avLst/>
          </a:prstGeom>
          <a:solidFill>
            <a:srgbClr val="1E1E3F"/>
          </a:solidFill>
          <a:ln/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80560" y="2286000"/>
            <a:ext cx="548640" cy="5486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66160" y="29260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아티스트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3749040" y="32461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실시간으로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팬 반응 확인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400800" y="2103120"/>
            <a:ext cx="2468880" cy="1645920"/>
          </a:xfrm>
          <a:prstGeom prst="rect">
            <a:avLst/>
          </a:prstGeom>
          <a:solidFill>
            <a:srgbClr val="1E1E3F"/>
          </a:solidFill>
          <a:ln/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0" y="2286000"/>
            <a:ext cx="548640" cy="5486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400800" y="29260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기획사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6583680" y="32461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새로운 수익원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글로벌 팬 데이터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1828800" y="4114800"/>
            <a:ext cx="5486400" cy="731520"/>
          </a:xfrm>
          <a:prstGeom prst="rect">
            <a:avLst/>
          </a:prstGeom>
          <a:solidFill>
            <a:srgbClr val="7C3AED"/>
          </a:solidFill>
          <a:ln/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4"/>
          <p:cNvSpPr/>
          <p:nvPr/>
        </p:nvSpPr>
        <p:spPr>
          <a:xfrm>
            <a:off x="1828800" y="416052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함께 만들어 갈 미래, AI FanStick</a:t>
            </a:r>
            <a:endParaRPr lang="en-US" sz="2000" dirty="0"/>
          </a:p>
        </p:txBody>
      </p:sp>
      <p:pic>
        <p:nvPicPr>
          <p:cNvPr id="20" name="slide10">
            <a:hlinkClick r:id="" action="ppaction://media"/>
            <a:extLst>
              <a:ext uri="{FF2B5EF4-FFF2-40B4-BE49-F238E27FC236}">
                <a16:creationId xmlns:a16="http://schemas.microsoft.com/office/drawing/2014/main" id="{D1C47F6A-1A95-515C-C7DA-872E0FDDC30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127000" y="6350000"/>
            <a:ext cx="304800" cy="304800"/>
          </a:xfrm>
          <a:prstGeom prst="rect">
            <a:avLst/>
          </a:prstGeom>
        </p:spPr>
      </p:pic>
      <p:pic>
        <p:nvPicPr>
          <p:cNvPr id="21" name="slide10">
            <a:hlinkClick r:id="" action="ppaction://media"/>
            <a:extLst>
              <a:ext uri="{FF2B5EF4-FFF2-40B4-BE49-F238E27FC236}">
                <a16:creationId xmlns:a16="http://schemas.microsoft.com/office/drawing/2014/main" id="{CCF2726A-6D9A-E090-B9D1-3CAB74B9D42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127000" y="6350000"/>
            <a:ext cx="304800" cy="304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95059" fill="hold"/>
                                        <p:tgtEl>
                                          <p:spTgt spid="2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0"/>
                </p:tgtEl>
              </p:cMediaNode>
            </p:audio>
            <p:audio>
              <p:cMediaNode vol="80000" showWhenStopped="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1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582</Words>
  <Application>Microsoft Office PowerPoint</Application>
  <PresentationFormat>화면 슬라이드 쇼(16:9)</PresentationFormat>
  <Paragraphs>172</Paragraphs>
  <Slides>10</Slides>
  <Notes>10</Notes>
  <HiddenSlides>0</HiddenSlides>
  <MMClips>20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3" baseType="lpstr">
      <vt:lpstr>Arial</vt:lpstr>
      <vt:lpstr>Arial Black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FanStick - 차세대 팬덤 플랫폼</dc:title>
  <dc:subject>PptxGenJS Presentation</dc:subject>
  <dc:creator>UTTEC</dc:creator>
  <cp:lastModifiedBy>광선 홍</cp:lastModifiedBy>
  <cp:revision>3</cp:revision>
  <dcterms:created xsi:type="dcterms:W3CDTF">2026-02-16T02:18:07Z</dcterms:created>
  <dcterms:modified xsi:type="dcterms:W3CDTF">2026-02-16T03:41:19Z</dcterms:modified>
</cp:coreProperties>
</file>