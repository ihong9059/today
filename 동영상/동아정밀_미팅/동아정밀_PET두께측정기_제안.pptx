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동아정밀공업 관계자 여러분. 본 영상은 서보 기반 비접촉식 PET 용기 두께 측정기 2호기 제어 시스템 구축 제안을 위해 유티텍이 준비한 발표 자료입니다. 함께해 주셔서 감사드립니다.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유티텍 대표 홍광선과 회로·공장자동화 협업자 임호균이 진행합니다. 두 사람의 합산 경력은 78년이며, 펌웨어 40년, 회로 25년, 공장자동화 38년의 깊이를 한 팀으로 묶어, 회로 설계부터 펌웨어, PLC 제어 로직, SCADA 운영, 데이터 로깅까지 단일 책임으로 수행하는 구조입니다. 양산 제품 6종이 현재 판매 중이며 KC, 일본 TELEC, 유럽 CE 3개국 인증을 보유하고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프로젝트의 본질은 1호기 PC 기반 제어의 한계를 산업 표준 PLC와 SCADA로 전환하여 2호기를 전면 재개발하는 사업입니다. 1호기는 OS와 드라이버 의존성, 단일 PC 장애, 유지보수 확장 어려움의 구조적 한계를 안고 있습니다. 2호기는 네 가지 가치로 전환합니다. 첫째, PLC의 결정론적 사이클과 전원 견고성으로 24시간 무인 운영 안정성을 확보합니다. 둘째, SCADA 터치 HMI로 비숙련 작업자도 레시피 선택과 알람 인지를 직관적으로 수행할 수 있습니다. 셋째, 제품 종류별 파라미터 셋을 통합 데이터베이스에 저장·호출하여 품종 변경을 1-Click으로 전환합니다. 넷째, SCADA 표준 히스토리언과 시계열 데이터베이스로 측정 데이터의 트레이스빌리티를 확보합니다.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프로젝트가 분업으로 진행되면 회로사·펌웨어사·PLC사·SCADA사 사이의 인터페이스 정의와 일정 동기, 책임 경계가 새로운 리스크로 등장합니다. 유티텍은 이 다섯 단계를 한 팀 두 사람이 단일 책임으로 수행합니다. 회로 설계와 전장 패널은 회로 25년 경력의 임호균이, 펌웨어와 PLC 로직, SCADA 운영, 데이터 인프라는 펌웨어 40년 경력의 홍광선이 맡습니다. 현장에서 회로 이슈나 모션 이슈가 발생해도 외부 협력사 호출 없이 즉시 자체 해결이 가능합니다. 이것이 분업 리스크 없는 진정한 턴키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저희가 양산 출하 중인 제품을 보여드립니다. STM32F756 기반 RS-485 Modbus RTU 컴프레서 밸브 컨트롤러로 KC 인증을 보유하고 있고, STM32F407 세탁기 컨트롤러, 라즈베리파이 CM4 EtherCAT MFC 컨트롤러, 라즈베리파이 3 V-Cut 컨트롤러로 중국 수출 실적, nRF52832 BLE 온도 컨트롤러, 그리고 일본 AMANO 자전거주차장 LED Dimmer 3,800대 BLE Mesh 양산까지 모두 현재 판매 중입니다. 산업 안정성을 입증하는 KC, 일본 TELEC, 유럽 CE 3개국 인증을 보유하고 있어, 본 프로젝트의 산업 EMI·EMC 환경 대응을 동일한 패턴으로 즉시 적용할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매니저께서 강조하신 첫 번째 핵심 기술, 5축 서보 위치 제어와 아날로그 변위센서 동기화 오차 최소화에 대한 저희의 자산을 말씀드립니다. 직전 양산인 대한전선 WINDER 컨트롤러는 권취기 정밀 장력과 위치 피드백을 RS-485 산업 통신으로 동기화한 사례이며, 5축 동기 제어의 핵심 패턴이 동일합니다. 라즈베리파이 CM4 EtherCAT MFC 컨트롤러는 산업 결정론적 사이클을 양산 환경에서 운영 중입니다. 비접촉 센서 분야에서는 PVDF 압전 기반 층간소음 디바이스와 액체 비접촉 측정 수위 센서로 신호 처리와 노이즈 보정 패턴을 검증했습니다. 변위센서 데이터를 서보 위치와 동기화하는 작업은 측정 사이클 안에서 PLC 인터럽트 우선순위와 EtherCAT 또는 고속 아날로그 입력 모듈의 트리거 동기를 설계하는 문제로, 저희가 양산에서 직접 다뤄온 영역입니다.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서보 모터 구동 시 발생하는 노이즈가 아날로그 변위센서 데이터에 영향을 주지 않도록 하는 설계는 산업 양산의 가장 중요한 디테일입니다. 저희는 KC 인증을 받은 STM32F756 컴프레서 밸브 컨트롤러에서 산업 EMI·EMC 환경 양산 검증을 거쳤습니다. 표준 대응 4종을 적용합니다. 첫째, 서보 동력 케이블과 센서 신호 케이블의 분리 포설과 쉴드 단일점 접지. 둘째, 아날로그 입력단의 차분 입력과 적정 차단 주파수의 저역 통과 필터. 셋째, PLC와 측정 모듈 사이 광 절연과 신호 그라운드 격리. 넷째, 서보 드라이버 입출력에 페라이트 코어와 노이즈 필터 적용. 일본 TELEC와 유럽 CE 인증을 통과한 3개국 양산 사례가 본 패턴의 신뢰성을 뒷받침합니다.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SCADA 운영 자산을 보여드립니다. 저희는 uttec-sensor.duckdns.org 도메인으로 스마트팩토리 센서 모니터링 시스템을 라이브 운영하고 있습니다. SCADA의 핵심 5요소인 Tag Server, HMI, Recipe, Historian, Alarm을 모두 자체 구현하여 운영 중입니다. Three.js 기반 3D 대시보드 25개 데모와 FastAPI 백엔드, PostgreSQL과 TimescaleDB 시계열 데이터베이스가 결합되어 분체·파쇄·혼합 산업 모니터링에 적용되었으며, 한국기계 공장자동화 협력 사례를 통해 검증되었습니다. 실시간 트렌드 그래프와 측정 완료 데이터의 엑셀 CSV 자동 출력 리포트는 표준 패턴으로 보유하고 있습니다. 클라이언트께서 선호하시는 Cimon, iX Developer, WinCC 같은 상용 SCADA 패키지로의 적응은 OPC UA, Modbus TCP, SQL Historian 같은 산업 표준 인터페이스 기반으로 1주일 내에 완료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매니저께서 가장 중요하게 강조하신 비용 분리와 현실적인 제어기기 역제안 부분입니다. 먼저 RFP에 명시된 대로 2,000만원은 순수 인건비와 개발비 기준으로 픽스합니다. 자재비 BOM과 SCADA 라이선스 비용은 별도로 산출하여 클라이언트께서 총소유비용 TCO를 명확히 인지하실 수 있도록 투명하게 안내드립니다. 제어기기 스택은 세 가지 안을 역제안합니다. Plan A는 클라이언트께서 선호하시는 미쓰비시 PLC와 GT Designer 조합으로 안정성과 호환성을 최우선으로 합니다. Plan B는 LS산전 XGT와 Cimon 조합으로 동등 기능을 15에서 25퍼센트 자재비 절감으로 구현하는 가성비 안입니다. Plan C는 자체 솔루션으로 상용 SCADA 라이선스를 절감하는 옵션으로, 미선정 시에도 부분 적용 가능한 자산입니다. 미팅에서 클라이언트의 우선순위를 확인한 후 최종 단가표를 확정 제출드리겠습니다.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90일 일정을 4단계로 제안드립니다. Phase 1은 1일에서 10일, 현장 1~2회 방문으로 1호기 분석과 측정 사양 파악, 플랫폼 선정, 배선도 1차안을 완성합니다. Phase 2는 11일에서 40일, 원격 개발 단계로 PLC 프로그램과 SCADA 화면, Recipe 구조를 개발하고 주 1회 화상 진행 공유와 현장 2~3회 시운전을 진행합니다. Phase 3은 41일에서 70일, 현장 집중 단계로 전장 배선과 통합 시운전, 서보 모션 캘리브레이션을 5~7회 출장으로 완수합니다. Phase 4는 71일에서 90일, 안정화와 Recipe 셋업, 데이터 로깅 검증, 인수인계와 운영자 교육 단계입니다. 당사 위치인 용인 기흥에서 부천 오정구 현장까지 1.5시간으로 출장 협의에 우호적입니다. 양산 6종 제품과 일본 3,800대 수출 실적, KC와 TELEC, CE 3개국 인증 자산으로 안정성, 신뢰성, 비용 투명성 세 가지를 약속드립니다. 미팅 자리에서 더 깊은 협의 기대하겠습니다.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5486400" cy="457200"/>
          </a:xfrm>
          <a:prstGeom prst="rect">
            <a:avLst/>
          </a:prstGeom>
          <a:noFill/>
        </p:spPr>
        <p:txBody>
          <a:bodyPr wrap="square" lIns="45720" rIns="45720" tIns="18288" bIns="18288" anchor="t">
            <a:spAutoFit/>
          </a:bodyPr>
          <a:lstStyle/>
          <a:p>
            <a:pPr algn="l"/>
            <a:r>
              <a:rPr sz="1400" b="1">
                <a:solidFill>
                  <a:srgbClr val="F17A21"/>
                </a:solidFill>
                <a:latin typeface="맑은 고딕"/>
              </a:rPr>
              <a:t>UTTEC  ·  유티텍</a:t>
            </a:r>
          </a:p>
        </p:txBody>
      </p:sp>
      <p:sp>
        <p:nvSpPr>
          <p:cNvPr id="5" name="TextBox 4"/>
          <p:cNvSpPr txBox="1"/>
          <p:nvPr/>
        </p:nvSpPr>
        <p:spPr>
          <a:xfrm>
            <a:off x="548640" y="1371600"/>
            <a:ext cx="10972800" cy="1005840"/>
          </a:xfrm>
          <a:prstGeom prst="rect">
            <a:avLst/>
          </a:prstGeom>
          <a:noFill/>
        </p:spPr>
        <p:txBody>
          <a:bodyPr wrap="square" lIns="45720" rIns="45720" tIns="18288" bIns="18288" anchor="t">
            <a:spAutoFit/>
          </a:bodyPr>
          <a:lstStyle/>
          <a:p>
            <a:pPr algn="l"/>
            <a:r>
              <a:rPr sz="2800" b="0">
                <a:solidFill>
                  <a:srgbClr val="FAF6EC"/>
                </a:solidFill>
                <a:latin typeface="맑은 고딕"/>
              </a:rPr>
              <a:t>동아정밀공업 귀하</a:t>
            </a:r>
          </a:p>
        </p:txBody>
      </p:sp>
      <p:sp>
        <p:nvSpPr>
          <p:cNvPr id="6" name="TextBox 5"/>
          <p:cNvSpPr txBox="1"/>
          <p:nvPr/>
        </p:nvSpPr>
        <p:spPr>
          <a:xfrm>
            <a:off x="548640" y="1874519"/>
            <a:ext cx="11338560" cy="777240"/>
          </a:xfrm>
          <a:prstGeom prst="rect">
            <a:avLst/>
          </a:prstGeom>
          <a:noFill/>
        </p:spPr>
        <p:txBody>
          <a:bodyPr wrap="square" lIns="45720" rIns="45720" tIns="18288" bIns="18288" anchor="t">
            <a:spAutoFit/>
          </a:bodyPr>
          <a:lstStyle/>
          <a:p>
            <a:pPr algn="l"/>
            <a:r>
              <a:rPr sz="3800" b="1">
                <a:solidFill>
                  <a:srgbClr val="FFFFFF"/>
                </a:solidFill>
                <a:latin typeface="맑은 고딕"/>
              </a:rPr>
              <a:t>서보 기반 비접촉식 PET 용기</a:t>
            </a:r>
          </a:p>
        </p:txBody>
      </p:sp>
      <p:sp>
        <p:nvSpPr>
          <p:cNvPr id="7" name="TextBox 6"/>
          <p:cNvSpPr txBox="1"/>
          <p:nvPr/>
        </p:nvSpPr>
        <p:spPr>
          <a:xfrm>
            <a:off x="548640" y="2514600"/>
            <a:ext cx="11338560" cy="777240"/>
          </a:xfrm>
          <a:prstGeom prst="rect">
            <a:avLst/>
          </a:prstGeom>
          <a:noFill/>
        </p:spPr>
        <p:txBody>
          <a:bodyPr wrap="square" lIns="45720" rIns="45720" tIns="18288" bIns="18288" anchor="t">
            <a:spAutoFit/>
          </a:bodyPr>
          <a:lstStyle/>
          <a:p>
            <a:pPr algn="l"/>
            <a:r>
              <a:rPr sz="3800" b="1">
                <a:solidFill>
                  <a:srgbClr val="FFFFFF"/>
                </a:solidFill>
                <a:latin typeface="맑은 고딕"/>
              </a:rPr>
              <a:t>두께 측정기 (2호기)</a:t>
            </a:r>
          </a:p>
        </p:txBody>
      </p:sp>
      <p:sp>
        <p:nvSpPr>
          <p:cNvPr id="8" name="TextBox 7"/>
          <p:cNvSpPr txBox="1"/>
          <p:nvPr/>
        </p:nvSpPr>
        <p:spPr>
          <a:xfrm>
            <a:off x="548640" y="3246120"/>
            <a:ext cx="10972800" cy="502920"/>
          </a:xfrm>
          <a:prstGeom prst="rect">
            <a:avLst/>
          </a:prstGeom>
          <a:noFill/>
        </p:spPr>
        <p:txBody>
          <a:bodyPr wrap="square" lIns="45720" rIns="45720" tIns="18288" bIns="18288" anchor="t">
            <a:spAutoFit/>
          </a:bodyPr>
          <a:lstStyle/>
          <a:p>
            <a:pPr algn="l"/>
            <a:r>
              <a:rPr sz="2200" b="0">
                <a:solidFill>
                  <a:srgbClr val="FAF6EC"/>
                </a:solidFill>
                <a:latin typeface="맑은 고딕"/>
              </a:rPr>
              <a:t>PLC + SCADA 제어 시스템 구축 제안</a:t>
            </a:r>
          </a:p>
        </p:txBody>
      </p:sp>
      <p:sp>
        <p:nvSpPr>
          <p:cNvPr id="9" name="TextBox 8"/>
          <p:cNvSpPr txBox="1"/>
          <p:nvPr/>
        </p:nvSpPr>
        <p:spPr>
          <a:xfrm>
            <a:off x="548640" y="4297680"/>
            <a:ext cx="10972800" cy="457200"/>
          </a:xfrm>
          <a:prstGeom prst="rect">
            <a:avLst/>
          </a:prstGeom>
          <a:noFill/>
        </p:spPr>
        <p:txBody>
          <a:bodyPr wrap="square" lIns="45720" rIns="45720" tIns="18288" bIns="18288" anchor="t">
            <a:spAutoFit/>
          </a:bodyPr>
          <a:lstStyle/>
          <a:p>
            <a:pPr algn="l"/>
            <a:r>
              <a:rPr sz="1600" b="0">
                <a:solidFill>
                  <a:srgbClr val="FFFFFF"/>
                </a:solidFill>
                <a:latin typeface="맑은 고딕"/>
              </a:rPr>
              <a:t>발표 :  홍광선 (유티텍 대표, 펌웨어 40년)  ·  임호균 (공장자동화 38년)</a:t>
            </a:r>
          </a:p>
        </p:txBody>
      </p:sp>
      <p:sp>
        <p:nvSpPr>
          <p:cNvPr id="10" name="TextBox 9"/>
          <p:cNvSpPr txBox="1"/>
          <p:nvPr/>
        </p:nvSpPr>
        <p:spPr>
          <a:xfrm>
            <a:off x="548640" y="4754880"/>
            <a:ext cx="10972800" cy="365760"/>
          </a:xfrm>
          <a:prstGeom prst="rect">
            <a:avLst/>
          </a:prstGeom>
          <a:noFill/>
        </p:spPr>
        <p:txBody>
          <a:bodyPr wrap="square" lIns="45720" rIns="45720" tIns="18288" bIns="18288" anchor="t">
            <a:spAutoFit/>
          </a:bodyPr>
          <a:lstStyle/>
          <a:p>
            <a:pPr algn="l"/>
            <a:r>
              <a:rPr sz="1400" b="0">
                <a:solidFill>
                  <a:srgbClr val="E0E0E0"/>
                </a:solidFill>
                <a:latin typeface="맑은 고딕"/>
              </a:rPr>
              <a:t>프로젝트 :  위시캣 #155220   ·   기간 90일   ·   인건비 20,000,000원 (자재 별도)</a:t>
            </a:r>
          </a:p>
        </p:txBody>
      </p:sp>
      <p:sp>
        <p:nvSpPr>
          <p:cNvPr id="11" name="TextBox 10"/>
          <p:cNvSpPr txBox="1"/>
          <p:nvPr/>
        </p:nvSpPr>
        <p:spPr>
          <a:xfrm>
            <a:off x="548640" y="6035040"/>
            <a:ext cx="10972800" cy="365760"/>
          </a:xfrm>
          <a:prstGeom prst="rect">
            <a:avLst/>
          </a:prstGeom>
          <a:noFill/>
        </p:spPr>
        <p:txBody>
          <a:bodyPr wrap="square" lIns="45720" rIns="45720" tIns="18288" bIns="18288" anchor="t">
            <a:spAutoFit/>
          </a:bodyPr>
          <a:lstStyle/>
          <a:p>
            <a:pPr algn="l"/>
            <a:r>
              <a:rPr sz="1200" b="0">
                <a:solidFill>
                  <a:srgbClr val="E0E0E0"/>
                </a:solidFill>
                <a:latin typeface="맑은 고딕"/>
              </a:rPr>
              <a:t>2026-06-03</a:t>
            </a:r>
          </a:p>
        </p:txBody>
      </p:sp>
      <p:sp>
        <p:nvSpPr>
          <p:cNvPr id="12" name="TextBox 11"/>
          <p:cNvSpPr txBox="1"/>
          <p:nvPr/>
        </p:nvSpPr>
        <p:spPr>
          <a:xfrm>
            <a:off x="548640" y="6355080"/>
            <a:ext cx="10972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ihong9059@gmail.com   ·   경기 용인시 기흥구 흥덕유타워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02 / 10  ·  팀 소개</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한 팀, 단일 책임</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펌웨어 40년 + 회로/공장자동화 38년 = 합산 78년</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103120"/>
            <a:ext cx="5303520" cy="329184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03120"/>
            <a:ext cx="5303520" cy="4572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76272"/>
            <a:ext cx="5303520" cy="365760"/>
          </a:xfrm>
          <a:prstGeom prst="rect">
            <a:avLst/>
          </a:prstGeom>
          <a:noFill/>
        </p:spPr>
        <p:txBody>
          <a:bodyPr wrap="square" lIns="45720" rIns="45720" tIns="18288" bIns="18288" anchor="t">
            <a:spAutoFit/>
          </a:bodyPr>
          <a:lstStyle/>
          <a:p>
            <a:pPr algn="l"/>
            <a:r>
              <a:rPr sz="1800" b="1">
                <a:solidFill>
                  <a:srgbClr val="FFFFFF"/>
                </a:solidFill>
                <a:latin typeface="맑은 고딕"/>
              </a:rPr>
              <a:t>홍광선  ·  유티텍 대표</a:t>
            </a:r>
          </a:p>
        </p:txBody>
      </p:sp>
      <p:sp>
        <p:nvSpPr>
          <p:cNvPr id="15" name="TextBox 14"/>
          <p:cNvSpPr txBox="1"/>
          <p:nvPr/>
        </p:nvSpPr>
        <p:spPr>
          <a:xfrm>
            <a:off x="731520" y="2743200"/>
            <a:ext cx="4937760" cy="411480"/>
          </a:xfrm>
          <a:prstGeom prst="rect">
            <a:avLst/>
          </a:prstGeom>
          <a:noFill/>
        </p:spPr>
        <p:txBody>
          <a:bodyPr wrap="square" lIns="45720" rIns="45720" tIns="18288" bIns="18288" anchor="t">
            <a:spAutoFit/>
          </a:bodyPr>
          <a:lstStyle/>
          <a:p>
            <a:pPr algn="l"/>
            <a:r>
              <a:rPr sz="1500" b="1">
                <a:solidFill>
                  <a:srgbClr val="F17A21"/>
                </a:solidFill>
                <a:latin typeface="맑은 고딕"/>
              </a:rPr>
              <a:t>펌웨어 · PLC · SCADA · 데이터 인프라</a:t>
            </a:r>
          </a:p>
        </p:txBody>
      </p:sp>
      <p:sp>
        <p:nvSpPr>
          <p:cNvPr id="16" name="TextBox 15"/>
          <p:cNvSpPr txBox="1"/>
          <p:nvPr/>
        </p:nvSpPr>
        <p:spPr>
          <a:xfrm>
            <a:off x="777240" y="3246120"/>
            <a:ext cx="4846320" cy="2103120"/>
          </a:xfrm>
          <a:prstGeom prst="rect">
            <a:avLst/>
          </a:prstGeom>
          <a:noFill/>
        </p:spPr>
        <p:txBody>
          <a:bodyPr wrap="square" lIns="45720" rIns="45720" tIns="18288" bIns="18288" anchor="t">
            <a:spAutoFit/>
          </a:bodyPr>
          <a:lstStyle/>
          <a:p>
            <a:pPr algn="l"/>
            <a:r>
              <a:rPr sz="1200" b="0">
                <a:solidFill>
                  <a:srgbClr val="333333"/>
                </a:solidFill>
                <a:latin typeface="맑은 고딕"/>
              </a:rPr>
              <a:t>• 40년 펌웨어 경력 (삼성전자 AV·STB, 파나소닉 LCD/Printer)</a:t>
            </a:r>
          </a:p>
          <a:p>
            <a:pPr algn="l"/>
            <a:r>
              <a:rPr sz="1200" b="0">
                <a:solidFill>
                  <a:srgbClr val="333333"/>
                </a:solidFill>
                <a:latin typeface="맑은 고딕"/>
              </a:rPr>
              <a:t>• STM32 양산 다수 (F756/F407) + KC 인증</a:t>
            </a:r>
          </a:p>
          <a:p>
            <a:pPr algn="l"/>
            <a:r>
              <a:rPr sz="1200" b="0">
                <a:solidFill>
                  <a:srgbClr val="333333"/>
                </a:solidFill>
                <a:latin typeface="맑은 고딕"/>
              </a:rPr>
              <a:t>• RPi CM4 EtherCAT MFC 산업 양산</a:t>
            </a:r>
          </a:p>
          <a:p>
            <a:pPr algn="l"/>
            <a:r>
              <a:rPr sz="1200" b="0">
                <a:solidFill>
                  <a:srgbClr val="333333"/>
                </a:solidFill>
                <a:latin typeface="맑은 고딕"/>
              </a:rPr>
              <a:t>• FastAPI + PostgreSQL + TimescaleDB 백엔드</a:t>
            </a:r>
          </a:p>
          <a:p>
            <a:pPr algn="l"/>
            <a:r>
              <a:rPr sz="1200" b="0">
                <a:solidFill>
                  <a:srgbClr val="333333"/>
                </a:solidFill>
                <a:latin typeface="맑은 고딕"/>
              </a:rPr>
              <a:t>• SCADA 5요소 자체 구현 라이브 운영</a:t>
            </a:r>
          </a:p>
        </p:txBody>
      </p:sp>
      <p:sp>
        <p:nvSpPr>
          <p:cNvPr id="17" name="Rounded Rectangle 16"/>
          <p:cNvSpPr/>
          <p:nvPr/>
        </p:nvSpPr>
        <p:spPr>
          <a:xfrm>
            <a:off x="6309360" y="2103120"/>
            <a:ext cx="5303520" cy="329184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2103120"/>
            <a:ext cx="5303520" cy="4572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176272"/>
            <a:ext cx="5303520" cy="365760"/>
          </a:xfrm>
          <a:prstGeom prst="rect">
            <a:avLst/>
          </a:prstGeom>
          <a:noFill/>
        </p:spPr>
        <p:txBody>
          <a:bodyPr wrap="square" lIns="45720" rIns="45720" tIns="18288" bIns="18288" anchor="t">
            <a:spAutoFit/>
          </a:bodyPr>
          <a:lstStyle/>
          <a:p>
            <a:pPr algn="l"/>
            <a:r>
              <a:rPr sz="1800" b="1">
                <a:solidFill>
                  <a:srgbClr val="FFFFFF"/>
                </a:solidFill>
                <a:latin typeface="맑은 고딕"/>
              </a:rPr>
              <a:t>임호균  ·  공장자동화 협업자</a:t>
            </a:r>
          </a:p>
        </p:txBody>
      </p:sp>
      <p:sp>
        <p:nvSpPr>
          <p:cNvPr id="20" name="TextBox 19"/>
          <p:cNvSpPr txBox="1"/>
          <p:nvPr/>
        </p:nvSpPr>
        <p:spPr>
          <a:xfrm>
            <a:off x="6492240" y="2743200"/>
            <a:ext cx="4937760" cy="411480"/>
          </a:xfrm>
          <a:prstGeom prst="rect">
            <a:avLst/>
          </a:prstGeom>
          <a:noFill/>
        </p:spPr>
        <p:txBody>
          <a:bodyPr wrap="square" lIns="45720" rIns="45720" tIns="18288" bIns="18288" anchor="t">
            <a:spAutoFit/>
          </a:bodyPr>
          <a:lstStyle/>
          <a:p>
            <a:pPr algn="l"/>
            <a:r>
              <a:rPr sz="1500" b="1">
                <a:solidFill>
                  <a:srgbClr val="F17A21"/>
                </a:solidFill>
                <a:latin typeface="맑은 고딕"/>
              </a:rPr>
              <a:t>회로 · 전장 배선 · 모션 · 패널 설계</a:t>
            </a:r>
          </a:p>
        </p:txBody>
      </p:sp>
      <p:sp>
        <p:nvSpPr>
          <p:cNvPr id="21" name="TextBox 20"/>
          <p:cNvSpPr txBox="1"/>
          <p:nvPr/>
        </p:nvSpPr>
        <p:spPr>
          <a:xfrm>
            <a:off x="6537960" y="3246120"/>
            <a:ext cx="4846320" cy="2103120"/>
          </a:xfrm>
          <a:prstGeom prst="rect">
            <a:avLst/>
          </a:prstGeom>
          <a:noFill/>
        </p:spPr>
        <p:txBody>
          <a:bodyPr wrap="square" lIns="45720" rIns="45720" tIns="18288" bIns="18288" anchor="t">
            <a:spAutoFit/>
          </a:bodyPr>
          <a:lstStyle/>
          <a:p>
            <a:pPr algn="l"/>
            <a:r>
              <a:rPr sz="1200" b="0">
                <a:solidFill>
                  <a:srgbClr val="333333"/>
                </a:solidFill>
                <a:latin typeface="맑은 고딕"/>
              </a:rPr>
              <a:t>• 38년 공장자동화 + 모터 제어 경력</a:t>
            </a:r>
          </a:p>
          <a:p>
            <a:pPr algn="l"/>
            <a:r>
              <a:rPr sz="1200" b="0">
                <a:solidFill>
                  <a:srgbClr val="333333"/>
                </a:solidFill>
                <a:latin typeface="맑은 고딕"/>
              </a:rPr>
              <a:t>• 삼성전자 Video / Motor Controller Board 설계</a:t>
            </a:r>
          </a:p>
          <a:p>
            <a:pPr algn="l"/>
            <a:r>
              <a:rPr sz="1200" b="0">
                <a:solidFill>
                  <a:srgbClr val="333333"/>
                </a:solidFill>
                <a:latin typeface="맑은 고딕"/>
              </a:rPr>
              <a:t>• AuthenTec(美) ARM CPU + ASIC 설계</a:t>
            </a:r>
          </a:p>
          <a:p>
            <a:pPr algn="l"/>
            <a:r>
              <a:rPr sz="1200" b="0">
                <a:solidFill>
                  <a:srgbClr val="333333"/>
                </a:solidFill>
                <a:latin typeface="맑은 고딕"/>
              </a:rPr>
              <a:t>• QuickLogic(美) FPGA 설계</a:t>
            </a:r>
          </a:p>
          <a:p>
            <a:pPr algn="l"/>
            <a:r>
              <a:rPr sz="1200" b="0">
                <a:solidFill>
                  <a:srgbClr val="333333"/>
                </a:solidFill>
                <a:latin typeface="맑은 고딕"/>
              </a:rPr>
              <a:t>• 대한전선 WINDER 권취기 (CAN/RS485 + 모션 양산)</a:t>
            </a:r>
          </a:p>
        </p:txBody>
      </p:sp>
      <p:sp>
        <p:nvSpPr>
          <p:cNvPr id="22" name="Rounded Rectangle 21"/>
          <p:cNvSpPr/>
          <p:nvPr/>
        </p:nvSpPr>
        <p:spPr>
          <a:xfrm>
            <a:off x="548640" y="5760720"/>
            <a:ext cx="1920240" cy="411480"/>
          </a:xfrm>
          <a:prstGeom prst="roundRect">
            <a:avLst/>
          </a:prstGeom>
          <a:solidFill>
            <a:srgbClr val="102A4C"/>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맑은 고딕"/>
              </a:rPr>
              <a:t>양산 제품 6종 판매 중</a:t>
            </a:r>
          </a:p>
        </p:txBody>
      </p:sp>
      <p:sp>
        <p:nvSpPr>
          <p:cNvPr id="23" name="Rounded Rectangle 22"/>
          <p:cNvSpPr/>
          <p:nvPr/>
        </p:nvSpPr>
        <p:spPr>
          <a:xfrm>
            <a:off x="2606040" y="5760720"/>
            <a:ext cx="1645920" cy="41148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맑은 고딕"/>
              </a:rPr>
              <a:t>KC 인증 (한국)</a:t>
            </a:r>
          </a:p>
        </p:txBody>
      </p:sp>
      <p:sp>
        <p:nvSpPr>
          <p:cNvPr id="24" name="Rounded Rectangle 23"/>
          <p:cNvSpPr/>
          <p:nvPr/>
        </p:nvSpPr>
        <p:spPr>
          <a:xfrm>
            <a:off x="4389120" y="5760720"/>
            <a:ext cx="1737360" cy="41148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맑은 고딕"/>
              </a:rPr>
              <a:t>TELEC 인증 (일본)</a:t>
            </a:r>
          </a:p>
        </p:txBody>
      </p:sp>
      <p:sp>
        <p:nvSpPr>
          <p:cNvPr id="25" name="Rounded Rectangle 24"/>
          <p:cNvSpPr/>
          <p:nvPr/>
        </p:nvSpPr>
        <p:spPr>
          <a:xfrm>
            <a:off x="6263640" y="5760720"/>
            <a:ext cx="1645920" cy="41148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맑은 고딕"/>
              </a:rPr>
              <a:t>CE 인증 (유럽)</a:t>
            </a:r>
          </a:p>
        </p:txBody>
      </p:sp>
      <p:sp>
        <p:nvSpPr>
          <p:cNvPr id="26" name="Rounded Rectangle 25"/>
          <p:cNvSpPr/>
          <p:nvPr/>
        </p:nvSpPr>
        <p:spPr>
          <a:xfrm>
            <a:off x="8046720" y="5760720"/>
            <a:ext cx="3383280" cy="411480"/>
          </a:xfrm>
          <a:prstGeom prst="round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200" b="1">
                <a:solidFill>
                  <a:srgbClr val="FFFFFF"/>
                </a:solidFill>
                <a:latin typeface="맑은 고딕"/>
              </a:rPr>
              <a:t>일본 BLE Mesh 3,800대 수출 양산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03 / 10  ·  본 프로젝트 이해</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1호기 PC → 2호기 PLC + SCADA</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산업 표준 전환으로 얻는 4가지 핵심 가치</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103120"/>
            <a:ext cx="5120640" cy="4206240"/>
          </a:xfrm>
          <a:prstGeom prst="roundRect">
            <a:avLst/>
          </a:prstGeom>
          <a:solidFill>
            <a:srgbClr val="FAECEC"/>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03120"/>
            <a:ext cx="512064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76272"/>
            <a:ext cx="5120640" cy="365760"/>
          </a:xfrm>
          <a:prstGeom prst="rect">
            <a:avLst/>
          </a:prstGeom>
          <a:noFill/>
        </p:spPr>
        <p:txBody>
          <a:bodyPr wrap="square" lIns="45720" rIns="45720" tIns="18288" bIns="18288" anchor="t">
            <a:spAutoFit/>
          </a:bodyPr>
          <a:lstStyle/>
          <a:p>
            <a:pPr algn="l"/>
            <a:r>
              <a:rPr sz="1600" b="1">
                <a:solidFill>
                  <a:srgbClr val="FFFFFF"/>
                </a:solidFill>
                <a:latin typeface="맑은 고딕"/>
              </a:rPr>
              <a:t>1호기  ·  PC (C#) 기반 — 구조적 한계</a:t>
            </a:r>
          </a:p>
        </p:txBody>
      </p:sp>
      <p:sp>
        <p:nvSpPr>
          <p:cNvPr id="15" name="TextBox 14"/>
          <p:cNvSpPr txBox="1"/>
          <p:nvPr/>
        </p:nvSpPr>
        <p:spPr>
          <a:xfrm>
            <a:off x="822960" y="2880360"/>
            <a:ext cx="4754880" cy="3200400"/>
          </a:xfrm>
          <a:prstGeom prst="rect">
            <a:avLst/>
          </a:prstGeom>
          <a:noFill/>
        </p:spPr>
        <p:txBody>
          <a:bodyPr wrap="square" lIns="45720" rIns="45720" tIns="18288" bIns="18288" anchor="t">
            <a:spAutoFit/>
          </a:bodyPr>
          <a:lstStyle/>
          <a:p>
            <a:pPr algn="l"/>
            <a:r>
              <a:rPr sz="1400" b="0">
                <a:solidFill>
                  <a:srgbClr val="333333"/>
                </a:solidFill>
                <a:latin typeface="맑은 고딕"/>
              </a:rPr>
              <a:t>✗  OS / 드라이버 의존성 — Windows 업데이트 영향</a:t>
            </a:r>
          </a:p>
          <a:p>
            <a:pPr algn="l"/>
            <a:r>
              <a:rPr sz="1400" b="0">
                <a:solidFill>
                  <a:srgbClr val="333333"/>
                </a:solidFill>
                <a:latin typeface="맑은 고딕"/>
              </a:rPr>
              <a:t>✗  단일 PC 장애 위험 — 라인 정지</a:t>
            </a:r>
          </a:p>
          <a:p>
            <a:pPr algn="l"/>
            <a:r>
              <a:rPr sz="1400" b="0">
                <a:solidFill>
                  <a:srgbClr val="333333"/>
                </a:solidFill>
                <a:latin typeface="맑은 고딕"/>
              </a:rPr>
              <a:t>✗  유지보수 / 기능 확장 어려움</a:t>
            </a:r>
          </a:p>
          <a:p>
            <a:pPr algn="l"/>
            <a:r>
              <a:rPr sz="1400" b="0">
                <a:solidFill>
                  <a:srgbClr val="333333"/>
                </a:solidFill>
                <a:latin typeface="맑은 고딕"/>
              </a:rPr>
              <a:t>✗  산업 EMI 환경 미보장 — 신뢰성 격차</a:t>
            </a:r>
          </a:p>
          <a:p>
            <a:pPr algn="l"/>
            <a:r>
              <a:rPr sz="1400" b="0">
                <a:solidFill>
                  <a:srgbClr val="333333"/>
                </a:solidFill>
                <a:latin typeface="맑은 고딕"/>
              </a:rPr>
              <a:t>✗  표준 Historian / Alarm / Recipe 부재</a:t>
            </a:r>
          </a:p>
        </p:txBody>
      </p:sp>
      <p:sp>
        <p:nvSpPr>
          <p:cNvPr id="16" name="Rounded Rectangle 15"/>
          <p:cNvSpPr/>
          <p:nvPr/>
        </p:nvSpPr>
        <p:spPr>
          <a:xfrm>
            <a:off x="6492240" y="2103120"/>
            <a:ext cx="5120640" cy="4206240"/>
          </a:xfrm>
          <a:prstGeom prst="roundRect">
            <a:avLst/>
          </a:prstGeom>
          <a:solidFill>
            <a:srgbClr val="ECF3EA"/>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92240" y="2103120"/>
            <a:ext cx="5120640" cy="4572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176272"/>
            <a:ext cx="5120640" cy="365760"/>
          </a:xfrm>
          <a:prstGeom prst="rect">
            <a:avLst/>
          </a:prstGeom>
          <a:noFill/>
        </p:spPr>
        <p:txBody>
          <a:bodyPr wrap="square" lIns="45720" rIns="45720" tIns="18288" bIns="18288" anchor="t">
            <a:spAutoFit/>
          </a:bodyPr>
          <a:lstStyle/>
          <a:p>
            <a:pPr algn="l"/>
            <a:r>
              <a:rPr sz="1600" b="1">
                <a:solidFill>
                  <a:srgbClr val="FFFFFF"/>
                </a:solidFill>
                <a:latin typeface="맑은 고딕"/>
              </a:rPr>
              <a:t>2호기  ·  PLC + SCADA — 4가지 핵심 가치</a:t>
            </a:r>
          </a:p>
        </p:txBody>
      </p:sp>
      <p:sp>
        <p:nvSpPr>
          <p:cNvPr id="19" name="TextBox 18"/>
          <p:cNvSpPr txBox="1"/>
          <p:nvPr/>
        </p:nvSpPr>
        <p:spPr>
          <a:xfrm>
            <a:off x="6766560" y="2880360"/>
            <a:ext cx="4754880" cy="3200400"/>
          </a:xfrm>
          <a:prstGeom prst="rect">
            <a:avLst/>
          </a:prstGeom>
          <a:noFill/>
        </p:spPr>
        <p:txBody>
          <a:bodyPr wrap="square" lIns="45720" rIns="45720" tIns="18288" bIns="18288" anchor="t">
            <a:spAutoFit/>
          </a:bodyPr>
          <a:lstStyle/>
          <a:p>
            <a:pPr algn="l"/>
            <a:r>
              <a:rPr sz="1400" b="0">
                <a:solidFill>
                  <a:srgbClr val="333333"/>
                </a:solidFill>
                <a:latin typeface="맑은 고딕"/>
              </a:rPr>
              <a:t>① 산업 안정성  —  결정론적 사이클 / 24/7 무인 운영</a:t>
            </a:r>
          </a:p>
          <a:p>
            <a:pPr algn="l"/>
            <a:r>
              <a:rPr sz="1400" b="0">
                <a:solidFill>
                  <a:srgbClr val="333333"/>
                </a:solidFill>
                <a:latin typeface="맑은 고딕"/>
              </a:rPr>
              <a:t>② 운영자 편의성  —  터치 HMI / Recipe 1-Click 전환</a:t>
            </a:r>
          </a:p>
          <a:p>
            <a:pPr algn="l"/>
            <a:r>
              <a:rPr sz="1400" b="0">
                <a:solidFill>
                  <a:srgbClr val="333333"/>
                </a:solidFill>
                <a:latin typeface="맑은 고딕"/>
              </a:rPr>
              <a:t>③ Recipe 관리  —  품종별 파라미터 셋 통합 DB</a:t>
            </a:r>
          </a:p>
          <a:p>
            <a:pPr algn="l"/>
            <a:r>
              <a:rPr sz="1400" b="0">
                <a:solidFill>
                  <a:srgbClr val="333333"/>
                </a:solidFill>
                <a:latin typeface="맑은 고딕"/>
              </a:rPr>
              <a:t>④ 데이터 로깅 신뢰성  —  Historian + 시계열 DB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04 / 10  ·  턴키 역량</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전장 배선 → PLC → SCADA — 한 팀 책임</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분업 리스크 없는 단일 책임 구조 (매니저 요구 1순위)</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2743200"/>
            <a:ext cx="2103120" cy="10972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43200"/>
            <a:ext cx="2103120" cy="4114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798064"/>
            <a:ext cx="2103120" cy="320040"/>
          </a:xfrm>
          <a:prstGeom prst="rect">
            <a:avLst/>
          </a:prstGeom>
          <a:noFill/>
        </p:spPr>
        <p:txBody>
          <a:bodyPr wrap="square" lIns="45720" rIns="45720" tIns="18288" bIns="18288" anchor="t">
            <a:spAutoFit/>
          </a:bodyPr>
          <a:lstStyle/>
          <a:p>
            <a:pPr algn="ctr"/>
            <a:r>
              <a:rPr sz="1400" b="1">
                <a:solidFill>
                  <a:srgbClr val="FFFFFF"/>
                </a:solidFill>
                <a:latin typeface="맑은 고딕"/>
              </a:rPr>
              <a:t>①  회로 / 패널</a:t>
            </a:r>
          </a:p>
        </p:txBody>
      </p:sp>
      <p:sp>
        <p:nvSpPr>
          <p:cNvPr id="15" name="TextBox 14"/>
          <p:cNvSpPr txBox="1"/>
          <p:nvPr/>
        </p:nvSpPr>
        <p:spPr>
          <a:xfrm>
            <a:off x="411480" y="3246120"/>
            <a:ext cx="2103120" cy="365760"/>
          </a:xfrm>
          <a:prstGeom prst="rect">
            <a:avLst/>
          </a:prstGeom>
          <a:noFill/>
        </p:spPr>
        <p:txBody>
          <a:bodyPr wrap="square" lIns="45720" rIns="45720" tIns="18288" bIns="18288" anchor="t">
            <a:spAutoFit/>
          </a:bodyPr>
          <a:lstStyle/>
          <a:p>
            <a:pPr algn="ctr"/>
            <a:r>
              <a:rPr sz="1500" b="1">
                <a:solidFill>
                  <a:srgbClr val="102A4C"/>
                </a:solidFill>
                <a:latin typeface="맑은 고딕"/>
              </a:rPr>
              <a:t>임호균</a:t>
            </a:r>
          </a:p>
        </p:txBody>
      </p:sp>
      <p:sp>
        <p:nvSpPr>
          <p:cNvPr id="16" name="TextBox 15"/>
          <p:cNvSpPr txBox="1"/>
          <p:nvPr/>
        </p:nvSpPr>
        <p:spPr>
          <a:xfrm>
            <a:off x="411480" y="3547872"/>
            <a:ext cx="2103120" cy="274320"/>
          </a:xfrm>
          <a:prstGeom prst="rect">
            <a:avLst/>
          </a:prstGeom>
          <a:noFill/>
        </p:spPr>
        <p:txBody>
          <a:bodyPr wrap="square" lIns="45720" rIns="45720" tIns="18288" bIns="18288" anchor="t">
            <a:spAutoFit/>
          </a:bodyPr>
          <a:lstStyle/>
          <a:p>
            <a:pPr algn="ctr"/>
            <a:r>
              <a:rPr sz="1000" b="0">
                <a:solidFill>
                  <a:srgbClr val="888888"/>
                </a:solidFill>
                <a:latin typeface="맑은 고딕"/>
              </a:rPr>
              <a:t>단일 책임</a:t>
            </a:r>
          </a:p>
        </p:txBody>
      </p:sp>
      <p:sp>
        <p:nvSpPr>
          <p:cNvPr id="17" name="Right Arrow 16"/>
          <p:cNvSpPr/>
          <p:nvPr/>
        </p:nvSpPr>
        <p:spPr>
          <a:xfrm>
            <a:off x="2523744" y="3154680"/>
            <a:ext cx="146304" cy="274320"/>
          </a:xfrm>
          <a:prstGeom prst="rightArrow">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679192" y="2743200"/>
            <a:ext cx="2103120" cy="10972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79192" y="2743200"/>
            <a:ext cx="2103120" cy="4114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70632" y="2798064"/>
            <a:ext cx="2103120" cy="320040"/>
          </a:xfrm>
          <a:prstGeom prst="rect">
            <a:avLst/>
          </a:prstGeom>
          <a:noFill/>
        </p:spPr>
        <p:txBody>
          <a:bodyPr wrap="square" lIns="45720" rIns="45720" tIns="18288" bIns="18288" anchor="t">
            <a:spAutoFit/>
          </a:bodyPr>
          <a:lstStyle/>
          <a:p>
            <a:pPr algn="ctr"/>
            <a:r>
              <a:rPr sz="1400" b="1">
                <a:solidFill>
                  <a:srgbClr val="FFFFFF"/>
                </a:solidFill>
                <a:latin typeface="맑은 고딕"/>
              </a:rPr>
              <a:t>②  펌웨어</a:t>
            </a:r>
          </a:p>
        </p:txBody>
      </p:sp>
      <p:sp>
        <p:nvSpPr>
          <p:cNvPr id="21" name="TextBox 20"/>
          <p:cNvSpPr txBox="1"/>
          <p:nvPr/>
        </p:nvSpPr>
        <p:spPr>
          <a:xfrm>
            <a:off x="2679192" y="3246120"/>
            <a:ext cx="2103120" cy="365760"/>
          </a:xfrm>
          <a:prstGeom prst="rect">
            <a:avLst/>
          </a:prstGeom>
          <a:noFill/>
        </p:spPr>
        <p:txBody>
          <a:bodyPr wrap="square" lIns="45720" rIns="45720" tIns="18288" bIns="18288" anchor="t">
            <a:spAutoFit/>
          </a:bodyPr>
          <a:lstStyle/>
          <a:p>
            <a:pPr algn="ctr"/>
            <a:r>
              <a:rPr sz="1500" b="1">
                <a:solidFill>
                  <a:srgbClr val="102A4C"/>
                </a:solidFill>
                <a:latin typeface="맑은 고딕"/>
              </a:rPr>
              <a:t>홍광선</a:t>
            </a:r>
          </a:p>
        </p:txBody>
      </p:sp>
      <p:sp>
        <p:nvSpPr>
          <p:cNvPr id="22" name="TextBox 21"/>
          <p:cNvSpPr txBox="1"/>
          <p:nvPr/>
        </p:nvSpPr>
        <p:spPr>
          <a:xfrm>
            <a:off x="2679192" y="3547872"/>
            <a:ext cx="2103120" cy="274320"/>
          </a:xfrm>
          <a:prstGeom prst="rect">
            <a:avLst/>
          </a:prstGeom>
          <a:noFill/>
        </p:spPr>
        <p:txBody>
          <a:bodyPr wrap="square" lIns="45720" rIns="45720" tIns="18288" bIns="18288" anchor="t">
            <a:spAutoFit/>
          </a:bodyPr>
          <a:lstStyle/>
          <a:p>
            <a:pPr algn="ctr"/>
            <a:r>
              <a:rPr sz="1000" b="0">
                <a:solidFill>
                  <a:srgbClr val="888888"/>
                </a:solidFill>
                <a:latin typeface="맑은 고딕"/>
              </a:rPr>
              <a:t>단일 책임</a:t>
            </a:r>
          </a:p>
        </p:txBody>
      </p:sp>
      <p:sp>
        <p:nvSpPr>
          <p:cNvPr id="23" name="Right Arrow 22"/>
          <p:cNvSpPr/>
          <p:nvPr/>
        </p:nvSpPr>
        <p:spPr>
          <a:xfrm>
            <a:off x="4791456" y="3154680"/>
            <a:ext cx="146304" cy="274320"/>
          </a:xfrm>
          <a:prstGeom prst="rightArrow">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946904" y="2743200"/>
            <a:ext cx="2103120" cy="10972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46904" y="2743200"/>
            <a:ext cx="2103120" cy="4114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8344" y="2798064"/>
            <a:ext cx="2103120" cy="320040"/>
          </a:xfrm>
          <a:prstGeom prst="rect">
            <a:avLst/>
          </a:prstGeom>
          <a:noFill/>
        </p:spPr>
        <p:txBody>
          <a:bodyPr wrap="square" lIns="45720" rIns="45720" tIns="18288" bIns="18288" anchor="t">
            <a:spAutoFit/>
          </a:bodyPr>
          <a:lstStyle/>
          <a:p>
            <a:pPr algn="ctr"/>
            <a:r>
              <a:rPr sz="1400" b="1">
                <a:solidFill>
                  <a:srgbClr val="FFFFFF"/>
                </a:solidFill>
                <a:latin typeface="맑은 고딕"/>
              </a:rPr>
              <a:t>③  PLC 로직</a:t>
            </a:r>
          </a:p>
        </p:txBody>
      </p:sp>
      <p:sp>
        <p:nvSpPr>
          <p:cNvPr id="27" name="TextBox 26"/>
          <p:cNvSpPr txBox="1"/>
          <p:nvPr/>
        </p:nvSpPr>
        <p:spPr>
          <a:xfrm>
            <a:off x="4946904" y="3246120"/>
            <a:ext cx="2103120" cy="365760"/>
          </a:xfrm>
          <a:prstGeom prst="rect">
            <a:avLst/>
          </a:prstGeom>
          <a:noFill/>
        </p:spPr>
        <p:txBody>
          <a:bodyPr wrap="square" lIns="45720" rIns="45720" tIns="18288" bIns="18288" anchor="t">
            <a:spAutoFit/>
          </a:bodyPr>
          <a:lstStyle/>
          <a:p>
            <a:pPr algn="ctr"/>
            <a:r>
              <a:rPr sz="1500" b="1">
                <a:solidFill>
                  <a:srgbClr val="102A4C"/>
                </a:solidFill>
                <a:latin typeface="맑은 고딕"/>
              </a:rPr>
              <a:t>홍광선</a:t>
            </a:r>
          </a:p>
        </p:txBody>
      </p:sp>
      <p:sp>
        <p:nvSpPr>
          <p:cNvPr id="28" name="TextBox 27"/>
          <p:cNvSpPr txBox="1"/>
          <p:nvPr/>
        </p:nvSpPr>
        <p:spPr>
          <a:xfrm>
            <a:off x="4946904" y="3547872"/>
            <a:ext cx="2103120" cy="274320"/>
          </a:xfrm>
          <a:prstGeom prst="rect">
            <a:avLst/>
          </a:prstGeom>
          <a:noFill/>
        </p:spPr>
        <p:txBody>
          <a:bodyPr wrap="square" lIns="45720" rIns="45720" tIns="18288" bIns="18288" anchor="t">
            <a:spAutoFit/>
          </a:bodyPr>
          <a:lstStyle/>
          <a:p>
            <a:pPr algn="ctr"/>
            <a:r>
              <a:rPr sz="1000" b="0">
                <a:solidFill>
                  <a:srgbClr val="888888"/>
                </a:solidFill>
                <a:latin typeface="맑은 고딕"/>
              </a:rPr>
              <a:t>단일 책임</a:t>
            </a:r>
          </a:p>
        </p:txBody>
      </p:sp>
      <p:sp>
        <p:nvSpPr>
          <p:cNvPr id="29" name="Right Arrow 28"/>
          <p:cNvSpPr/>
          <p:nvPr/>
        </p:nvSpPr>
        <p:spPr>
          <a:xfrm>
            <a:off x="7059168" y="3154680"/>
            <a:ext cx="146304" cy="274320"/>
          </a:xfrm>
          <a:prstGeom prst="rightArrow">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214616" y="2743200"/>
            <a:ext cx="2103120" cy="10972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14616" y="2743200"/>
            <a:ext cx="2103120" cy="4114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06056" y="2798064"/>
            <a:ext cx="2103120" cy="320040"/>
          </a:xfrm>
          <a:prstGeom prst="rect">
            <a:avLst/>
          </a:prstGeom>
          <a:noFill/>
        </p:spPr>
        <p:txBody>
          <a:bodyPr wrap="square" lIns="45720" rIns="45720" tIns="18288" bIns="18288" anchor="t">
            <a:spAutoFit/>
          </a:bodyPr>
          <a:lstStyle/>
          <a:p>
            <a:pPr algn="ctr"/>
            <a:r>
              <a:rPr sz="1400" b="1">
                <a:solidFill>
                  <a:srgbClr val="FFFFFF"/>
                </a:solidFill>
                <a:latin typeface="맑은 고딕"/>
              </a:rPr>
              <a:t>④  SCADA 운영</a:t>
            </a:r>
          </a:p>
        </p:txBody>
      </p:sp>
      <p:sp>
        <p:nvSpPr>
          <p:cNvPr id="33" name="TextBox 32"/>
          <p:cNvSpPr txBox="1"/>
          <p:nvPr/>
        </p:nvSpPr>
        <p:spPr>
          <a:xfrm>
            <a:off x="7214616" y="3246120"/>
            <a:ext cx="2103120" cy="365760"/>
          </a:xfrm>
          <a:prstGeom prst="rect">
            <a:avLst/>
          </a:prstGeom>
          <a:noFill/>
        </p:spPr>
        <p:txBody>
          <a:bodyPr wrap="square" lIns="45720" rIns="45720" tIns="18288" bIns="18288" anchor="t">
            <a:spAutoFit/>
          </a:bodyPr>
          <a:lstStyle/>
          <a:p>
            <a:pPr algn="ctr"/>
            <a:r>
              <a:rPr sz="1500" b="1">
                <a:solidFill>
                  <a:srgbClr val="102A4C"/>
                </a:solidFill>
                <a:latin typeface="맑은 고딕"/>
              </a:rPr>
              <a:t>홍광선</a:t>
            </a:r>
          </a:p>
        </p:txBody>
      </p:sp>
      <p:sp>
        <p:nvSpPr>
          <p:cNvPr id="34" name="TextBox 33"/>
          <p:cNvSpPr txBox="1"/>
          <p:nvPr/>
        </p:nvSpPr>
        <p:spPr>
          <a:xfrm>
            <a:off x="7214616" y="3547872"/>
            <a:ext cx="2103120" cy="274320"/>
          </a:xfrm>
          <a:prstGeom prst="rect">
            <a:avLst/>
          </a:prstGeom>
          <a:noFill/>
        </p:spPr>
        <p:txBody>
          <a:bodyPr wrap="square" lIns="45720" rIns="45720" tIns="18288" bIns="18288" anchor="t">
            <a:spAutoFit/>
          </a:bodyPr>
          <a:lstStyle/>
          <a:p>
            <a:pPr algn="ctr"/>
            <a:r>
              <a:rPr sz="1000" b="0">
                <a:solidFill>
                  <a:srgbClr val="888888"/>
                </a:solidFill>
                <a:latin typeface="맑은 고딕"/>
              </a:rPr>
              <a:t>단일 책임</a:t>
            </a:r>
          </a:p>
        </p:txBody>
      </p:sp>
      <p:sp>
        <p:nvSpPr>
          <p:cNvPr id="35" name="Right Arrow 34"/>
          <p:cNvSpPr/>
          <p:nvPr/>
        </p:nvSpPr>
        <p:spPr>
          <a:xfrm>
            <a:off x="9326880" y="3154680"/>
            <a:ext cx="146304" cy="274320"/>
          </a:xfrm>
          <a:prstGeom prst="rightArrow">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482328" y="2743200"/>
            <a:ext cx="2103120" cy="10972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82328" y="2743200"/>
            <a:ext cx="2103120" cy="4114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73768" y="2798064"/>
            <a:ext cx="2103120" cy="320040"/>
          </a:xfrm>
          <a:prstGeom prst="rect">
            <a:avLst/>
          </a:prstGeom>
          <a:noFill/>
        </p:spPr>
        <p:txBody>
          <a:bodyPr wrap="square" lIns="45720" rIns="45720" tIns="18288" bIns="18288" anchor="t">
            <a:spAutoFit/>
          </a:bodyPr>
          <a:lstStyle/>
          <a:p>
            <a:pPr algn="ctr"/>
            <a:r>
              <a:rPr sz="1400" b="1">
                <a:solidFill>
                  <a:srgbClr val="FFFFFF"/>
                </a:solidFill>
                <a:latin typeface="맑은 고딕"/>
              </a:rPr>
              <a:t>⑤  데이터 로깅</a:t>
            </a:r>
          </a:p>
        </p:txBody>
      </p:sp>
      <p:sp>
        <p:nvSpPr>
          <p:cNvPr id="39" name="TextBox 38"/>
          <p:cNvSpPr txBox="1"/>
          <p:nvPr/>
        </p:nvSpPr>
        <p:spPr>
          <a:xfrm>
            <a:off x="9482328" y="3246120"/>
            <a:ext cx="2103120" cy="365760"/>
          </a:xfrm>
          <a:prstGeom prst="rect">
            <a:avLst/>
          </a:prstGeom>
          <a:noFill/>
        </p:spPr>
        <p:txBody>
          <a:bodyPr wrap="square" lIns="45720" rIns="45720" tIns="18288" bIns="18288" anchor="t">
            <a:spAutoFit/>
          </a:bodyPr>
          <a:lstStyle/>
          <a:p>
            <a:pPr algn="ctr"/>
            <a:r>
              <a:rPr sz="1500" b="1">
                <a:solidFill>
                  <a:srgbClr val="102A4C"/>
                </a:solidFill>
                <a:latin typeface="맑은 고딕"/>
              </a:rPr>
              <a:t>홍광선</a:t>
            </a:r>
          </a:p>
        </p:txBody>
      </p:sp>
      <p:sp>
        <p:nvSpPr>
          <p:cNvPr id="40" name="TextBox 39"/>
          <p:cNvSpPr txBox="1"/>
          <p:nvPr/>
        </p:nvSpPr>
        <p:spPr>
          <a:xfrm>
            <a:off x="9482328" y="3547872"/>
            <a:ext cx="2103120" cy="274320"/>
          </a:xfrm>
          <a:prstGeom prst="rect">
            <a:avLst/>
          </a:prstGeom>
          <a:noFill/>
        </p:spPr>
        <p:txBody>
          <a:bodyPr wrap="square" lIns="45720" rIns="45720" tIns="18288" bIns="18288" anchor="t">
            <a:spAutoFit/>
          </a:bodyPr>
          <a:lstStyle/>
          <a:p>
            <a:pPr algn="ctr"/>
            <a:r>
              <a:rPr sz="1000" b="0">
                <a:solidFill>
                  <a:srgbClr val="888888"/>
                </a:solidFill>
                <a:latin typeface="맑은 고딕"/>
              </a:rPr>
              <a:t>단일 책임</a:t>
            </a:r>
          </a:p>
        </p:txBody>
      </p:sp>
      <p:sp>
        <p:nvSpPr>
          <p:cNvPr id="41" name="TextBox 40"/>
          <p:cNvSpPr txBox="1"/>
          <p:nvPr/>
        </p:nvSpPr>
        <p:spPr>
          <a:xfrm>
            <a:off x="548640" y="4572000"/>
            <a:ext cx="10972800" cy="457200"/>
          </a:xfrm>
          <a:prstGeom prst="rect">
            <a:avLst/>
          </a:prstGeom>
          <a:noFill/>
        </p:spPr>
        <p:txBody>
          <a:bodyPr wrap="square" lIns="45720" rIns="45720" tIns="18288" bIns="18288" anchor="t">
            <a:spAutoFit/>
          </a:bodyPr>
          <a:lstStyle/>
          <a:p>
            <a:pPr algn="ctr"/>
            <a:r>
              <a:rPr sz="1800" b="1">
                <a:solidFill>
                  <a:srgbClr val="102A4C"/>
                </a:solidFill>
                <a:latin typeface="맑은 고딕"/>
              </a:rPr>
              <a:t>외부 협력사 호출 없음  ·  인터페이스 갈등 없음  ·  일정 동기 갈등 없음</a:t>
            </a:r>
          </a:p>
        </p:txBody>
      </p:sp>
      <p:sp>
        <p:nvSpPr>
          <p:cNvPr id="42" name="TextBox 41"/>
          <p:cNvSpPr txBox="1"/>
          <p:nvPr/>
        </p:nvSpPr>
        <p:spPr>
          <a:xfrm>
            <a:off x="548640" y="5120640"/>
            <a:ext cx="10972800" cy="411480"/>
          </a:xfrm>
          <a:prstGeom prst="rect">
            <a:avLst/>
          </a:prstGeom>
          <a:noFill/>
        </p:spPr>
        <p:txBody>
          <a:bodyPr wrap="square" lIns="45720" rIns="45720" tIns="18288" bIns="18288" anchor="t">
            <a:spAutoFit/>
          </a:bodyPr>
          <a:lstStyle/>
          <a:p>
            <a:pPr algn="ctr"/>
            <a:r>
              <a:rPr sz="1400" b="0">
                <a:solidFill>
                  <a:srgbClr val="333333"/>
                </a:solidFill>
                <a:latin typeface="맑은 고딕"/>
              </a:rPr>
              <a:t>현장 회로 / 모션 이슈 발생 시 외주 호출 없이 즉시 자체 해결</a:t>
            </a:r>
          </a:p>
        </p:txBody>
      </p:sp>
      <p:sp>
        <p:nvSpPr>
          <p:cNvPr id="43" name="Rounded Rectangle 42"/>
          <p:cNvSpPr/>
          <p:nvPr/>
        </p:nvSpPr>
        <p:spPr>
          <a:xfrm>
            <a:off x="2286000" y="5852160"/>
            <a:ext cx="3474720" cy="4572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300" b="1">
                <a:solidFill>
                  <a:srgbClr val="FFFFFF"/>
                </a:solidFill>
                <a:latin typeface="맑은 고딕"/>
              </a:rPr>
              <a:t>분업 — 인터페이스 리스크</a:t>
            </a:r>
          </a:p>
        </p:txBody>
      </p:sp>
      <p:sp>
        <p:nvSpPr>
          <p:cNvPr id="44" name="Rounded Rectangle 43"/>
          <p:cNvSpPr/>
          <p:nvPr/>
        </p:nvSpPr>
        <p:spPr>
          <a:xfrm>
            <a:off x="6400800" y="5852160"/>
            <a:ext cx="3474720" cy="457200"/>
          </a:xfrm>
          <a:prstGeom prst="round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300" b="1">
                <a:solidFill>
                  <a:srgbClr val="FFFFFF"/>
                </a:solidFill>
                <a:latin typeface="맑은 고딕"/>
              </a:rPr>
              <a:t>턴키 — 단일 책임 (UTTEC)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05 / 10  ·  양산 자산</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양산 제품 6종 + 3개국 인증</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현재 판매 중인 산업 양산 자산</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103120"/>
            <a:ext cx="3703320" cy="18288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03120"/>
            <a:ext cx="109728" cy="18288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12848"/>
            <a:ext cx="3337560" cy="365760"/>
          </a:xfrm>
          <a:prstGeom prst="rect">
            <a:avLst/>
          </a:prstGeom>
          <a:noFill/>
        </p:spPr>
        <p:txBody>
          <a:bodyPr wrap="square" lIns="45720" rIns="45720" tIns="18288" bIns="18288" anchor="t">
            <a:spAutoFit/>
          </a:bodyPr>
          <a:lstStyle/>
          <a:p>
            <a:pPr algn="l"/>
            <a:r>
              <a:rPr sz="1400" b="1">
                <a:solidFill>
                  <a:srgbClr val="F17A21"/>
                </a:solidFill>
                <a:latin typeface="맑은 고딕"/>
              </a:rPr>
              <a:t>STM32F756</a:t>
            </a:r>
          </a:p>
        </p:txBody>
      </p:sp>
      <p:sp>
        <p:nvSpPr>
          <p:cNvPr id="15" name="TextBox 14"/>
          <p:cNvSpPr txBox="1"/>
          <p:nvPr/>
        </p:nvSpPr>
        <p:spPr>
          <a:xfrm>
            <a:off x="777240" y="2560320"/>
            <a:ext cx="333756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컴프레서 밸브 컨트롤러</a:t>
            </a:r>
          </a:p>
        </p:txBody>
      </p:sp>
      <p:sp>
        <p:nvSpPr>
          <p:cNvPr id="16" name="TextBox 15"/>
          <p:cNvSpPr txBox="1"/>
          <p:nvPr/>
        </p:nvSpPr>
        <p:spPr>
          <a:xfrm>
            <a:off x="777240" y="2971800"/>
            <a:ext cx="3337560" cy="457200"/>
          </a:xfrm>
          <a:prstGeom prst="rect">
            <a:avLst/>
          </a:prstGeom>
          <a:noFill/>
        </p:spPr>
        <p:txBody>
          <a:bodyPr wrap="square" lIns="45720" rIns="45720" tIns="18288" bIns="18288" anchor="t">
            <a:spAutoFit/>
          </a:bodyPr>
          <a:lstStyle/>
          <a:p>
            <a:pPr algn="l"/>
            <a:r>
              <a:rPr sz="1100" b="0">
                <a:solidFill>
                  <a:srgbClr val="333333"/>
                </a:solidFill>
                <a:latin typeface="맑은 고딕"/>
              </a:rPr>
              <a:t>RS-485 Modbus RTU · FreeRTOS · PID</a:t>
            </a:r>
          </a:p>
        </p:txBody>
      </p:sp>
      <p:sp>
        <p:nvSpPr>
          <p:cNvPr id="17" name="Rounded Rectangle 16"/>
          <p:cNvSpPr/>
          <p:nvPr/>
        </p:nvSpPr>
        <p:spPr>
          <a:xfrm>
            <a:off x="777240" y="3520440"/>
            <a:ext cx="2286000" cy="320040"/>
          </a:xfrm>
          <a:prstGeom prst="round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000" b="1">
                <a:solidFill>
                  <a:srgbClr val="FFFFFF"/>
                </a:solidFill>
                <a:latin typeface="맑은 고딕"/>
              </a:rPr>
              <a:t>KC 인증</a:t>
            </a:r>
          </a:p>
        </p:txBody>
      </p:sp>
      <p:sp>
        <p:nvSpPr>
          <p:cNvPr id="18" name="Rounded Rectangle 17"/>
          <p:cNvSpPr/>
          <p:nvPr/>
        </p:nvSpPr>
        <p:spPr>
          <a:xfrm>
            <a:off x="4453128" y="2103120"/>
            <a:ext cx="3703320" cy="18288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53128" y="2103120"/>
            <a:ext cx="109728" cy="18288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1728" y="2212848"/>
            <a:ext cx="3337560" cy="365760"/>
          </a:xfrm>
          <a:prstGeom prst="rect">
            <a:avLst/>
          </a:prstGeom>
          <a:noFill/>
        </p:spPr>
        <p:txBody>
          <a:bodyPr wrap="square" lIns="45720" rIns="45720" tIns="18288" bIns="18288" anchor="t">
            <a:spAutoFit/>
          </a:bodyPr>
          <a:lstStyle/>
          <a:p>
            <a:pPr algn="l"/>
            <a:r>
              <a:rPr sz="1400" b="1">
                <a:solidFill>
                  <a:srgbClr val="F17A21"/>
                </a:solidFill>
                <a:latin typeface="맑은 고딕"/>
              </a:rPr>
              <a:t>STM32F407</a:t>
            </a:r>
          </a:p>
        </p:txBody>
      </p:sp>
      <p:sp>
        <p:nvSpPr>
          <p:cNvPr id="21" name="TextBox 20"/>
          <p:cNvSpPr txBox="1"/>
          <p:nvPr/>
        </p:nvSpPr>
        <p:spPr>
          <a:xfrm>
            <a:off x="4681728" y="2560320"/>
            <a:ext cx="333756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세탁기 컨트롤러</a:t>
            </a:r>
          </a:p>
        </p:txBody>
      </p:sp>
      <p:sp>
        <p:nvSpPr>
          <p:cNvPr id="22" name="TextBox 21"/>
          <p:cNvSpPr txBox="1"/>
          <p:nvPr/>
        </p:nvSpPr>
        <p:spPr>
          <a:xfrm>
            <a:off x="4681728" y="2971800"/>
            <a:ext cx="3337560" cy="457200"/>
          </a:xfrm>
          <a:prstGeom prst="rect">
            <a:avLst/>
          </a:prstGeom>
          <a:noFill/>
        </p:spPr>
        <p:txBody>
          <a:bodyPr wrap="square" lIns="45720" rIns="45720" tIns="18288" bIns="18288" anchor="t">
            <a:spAutoFit/>
          </a:bodyPr>
          <a:lstStyle/>
          <a:p>
            <a:pPr algn="l"/>
            <a:r>
              <a:rPr sz="1100" b="0">
                <a:solidFill>
                  <a:srgbClr val="333333"/>
                </a:solidFill>
                <a:latin typeface="맑은 고딕"/>
              </a:rPr>
              <a:t>FreeRTOS · 모터 시퀀스 양산</a:t>
            </a:r>
          </a:p>
        </p:txBody>
      </p:sp>
      <p:sp>
        <p:nvSpPr>
          <p:cNvPr id="23" name="Rounded Rectangle 22"/>
          <p:cNvSpPr/>
          <p:nvPr/>
        </p:nvSpPr>
        <p:spPr>
          <a:xfrm>
            <a:off x="4681728" y="3520440"/>
            <a:ext cx="2286000" cy="320040"/>
          </a:xfrm>
          <a:prstGeom prst="roundRect">
            <a:avLst/>
          </a:prstGeom>
          <a:solidFill>
            <a:srgbClr val="102A4C"/>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000" b="1">
                <a:solidFill>
                  <a:srgbClr val="FFFFFF"/>
                </a:solidFill>
                <a:latin typeface="맑은 고딕"/>
              </a:rPr>
              <a:t>양산 판매중</a:t>
            </a:r>
          </a:p>
        </p:txBody>
      </p:sp>
      <p:sp>
        <p:nvSpPr>
          <p:cNvPr id="24" name="Rounded Rectangle 23"/>
          <p:cNvSpPr/>
          <p:nvPr/>
        </p:nvSpPr>
        <p:spPr>
          <a:xfrm>
            <a:off x="8357616" y="2103120"/>
            <a:ext cx="3703320" cy="18288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57616" y="2103120"/>
            <a:ext cx="109728" cy="18288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86216" y="2212848"/>
            <a:ext cx="3337560" cy="365760"/>
          </a:xfrm>
          <a:prstGeom prst="rect">
            <a:avLst/>
          </a:prstGeom>
          <a:noFill/>
        </p:spPr>
        <p:txBody>
          <a:bodyPr wrap="square" lIns="45720" rIns="45720" tIns="18288" bIns="18288" anchor="t">
            <a:spAutoFit/>
          </a:bodyPr>
          <a:lstStyle/>
          <a:p>
            <a:pPr algn="l"/>
            <a:r>
              <a:rPr sz="1400" b="1">
                <a:solidFill>
                  <a:srgbClr val="F17A21"/>
                </a:solidFill>
                <a:latin typeface="맑은 고딕"/>
              </a:rPr>
              <a:t>RPi CM4</a:t>
            </a:r>
          </a:p>
        </p:txBody>
      </p:sp>
      <p:sp>
        <p:nvSpPr>
          <p:cNvPr id="27" name="TextBox 26"/>
          <p:cNvSpPr txBox="1"/>
          <p:nvPr/>
        </p:nvSpPr>
        <p:spPr>
          <a:xfrm>
            <a:off x="8586216" y="2560320"/>
            <a:ext cx="333756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EtherCAT MFC 컨트롤러</a:t>
            </a:r>
          </a:p>
        </p:txBody>
      </p:sp>
      <p:sp>
        <p:nvSpPr>
          <p:cNvPr id="28" name="TextBox 27"/>
          <p:cNvSpPr txBox="1"/>
          <p:nvPr/>
        </p:nvSpPr>
        <p:spPr>
          <a:xfrm>
            <a:off x="8586216" y="2971800"/>
            <a:ext cx="3337560" cy="457200"/>
          </a:xfrm>
          <a:prstGeom prst="rect">
            <a:avLst/>
          </a:prstGeom>
          <a:noFill/>
        </p:spPr>
        <p:txBody>
          <a:bodyPr wrap="square" lIns="45720" rIns="45720" tIns="18288" bIns="18288" anchor="t">
            <a:spAutoFit/>
          </a:bodyPr>
          <a:lstStyle/>
          <a:p>
            <a:pPr algn="l"/>
            <a:r>
              <a:rPr sz="1100" b="0">
                <a:solidFill>
                  <a:srgbClr val="333333"/>
                </a:solidFill>
                <a:latin typeface="맑은 고딕"/>
              </a:rPr>
              <a:t>산업 결정론 사이클 · 정밀 제어</a:t>
            </a:r>
          </a:p>
        </p:txBody>
      </p:sp>
      <p:sp>
        <p:nvSpPr>
          <p:cNvPr id="29" name="Rounded Rectangle 28"/>
          <p:cNvSpPr/>
          <p:nvPr/>
        </p:nvSpPr>
        <p:spPr>
          <a:xfrm>
            <a:off x="8586216" y="3520440"/>
            <a:ext cx="2286000" cy="320040"/>
          </a:xfrm>
          <a:prstGeom prst="roundRect">
            <a:avLst/>
          </a:prstGeom>
          <a:solidFill>
            <a:srgbClr val="102A4C"/>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000" b="1">
                <a:solidFill>
                  <a:srgbClr val="FFFFFF"/>
                </a:solidFill>
                <a:latin typeface="맑은 고딕"/>
              </a:rPr>
              <a:t>양산 판매중</a:t>
            </a:r>
          </a:p>
        </p:txBody>
      </p:sp>
      <p:sp>
        <p:nvSpPr>
          <p:cNvPr id="30" name="Rounded Rectangle 29"/>
          <p:cNvSpPr/>
          <p:nvPr/>
        </p:nvSpPr>
        <p:spPr>
          <a:xfrm>
            <a:off x="548640" y="4133088"/>
            <a:ext cx="3703320" cy="18288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133088"/>
            <a:ext cx="109728" cy="18288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242816"/>
            <a:ext cx="3337560" cy="365760"/>
          </a:xfrm>
          <a:prstGeom prst="rect">
            <a:avLst/>
          </a:prstGeom>
          <a:noFill/>
        </p:spPr>
        <p:txBody>
          <a:bodyPr wrap="square" lIns="45720" rIns="45720" tIns="18288" bIns="18288" anchor="t">
            <a:spAutoFit/>
          </a:bodyPr>
          <a:lstStyle/>
          <a:p>
            <a:pPr algn="l"/>
            <a:r>
              <a:rPr sz="1400" b="1">
                <a:solidFill>
                  <a:srgbClr val="F17A21"/>
                </a:solidFill>
                <a:latin typeface="맑은 고딕"/>
              </a:rPr>
              <a:t>RPi 3</a:t>
            </a:r>
          </a:p>
        </p:txBody>
      </p:sp>
      <p:sp>
        <p:nvSpPr>
          <p:cNvPr id="33" name="TextBox 32"/>
          <p:cNvSpPr txBox="1"/>
          <p:nvPr/>
        </p:nvSpPr>
        <p:spPr>
          <a:xfrm>
            <a:off x="777240" y="4590288"/>
            <a:ext cx="333756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V-Cut 컨트롤러</a:t>
            </a:r>
          </a:p>
        </p:txBody>
      </p:sp>
      <p:sp>
        <p:nvSpPr>
          <p:cNvPr id="34" name="TextBox 33"/>
          <p:cNvSpPr txBox="1"/>
          <p:nvPr/>
        </p:nvSpPr>
        <p:spPr>
          <a:xfrm>
            <a:off x="777240" y="5001768"/>
            <a:ext cx="3337560" cy="457200"/>
          </a:xfrm>
          <a:prstGeom prst="rect">
            <a:avLst/>
          </a:prstGeom>
          <a:noFill/>
        </p:spPr>
        <p:txBody>
          <a:bodyPr wrap="square" lIns="45720" rIns="45720" tIns="18288" bIns="18288" anchor="t">
            <a:spAutoFit/>
          </a:bodyPr>
          <a:lstStyle/>
          <a:p>
            <a:pPr algn="l"/>
            <a:r>
              <a:rPr sz="1100" b="0">
                <a:solidFill>
                  <a:srgbClr val="333333"/>
                </a:solidFill>
                <a:latin typeface="맑은 고딕"/>
              </a:rPr>
              <a:t>정밀 위치 이송</a:t>
            </a:r>
          </a:p>
        </p:txBody>
      </p:sp>
      <p:sp>
        <p:nvSpPr>
          <p:cNvPr id="35" name="Rounded Rectangle 34"/>
          <p:cNvSpPr/>
          <p:nvPr/>
        </p:nvSpPr>
        <p:spPr>
          <a:xfrm>
            <a:off x="777240" y="5550408"/>
            <a:ext cx="2286000" cy="320040"/>
          </a:xfrm>
          <a:prstGeom prst="roundRect">
            <a:avLst/>
          </a:prstGeom>
          <a:solidFill>
            <a:srgbClr val="C9A22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000" b="1">
                <a:solidFill>
                  <a:srgbClr val="FFFFFF"/>
                </a:solidFill>
                <a:latin typeface="맑은 고딕"/>
              </a:rPr>
              <a:t>중국 수출</a:t>
            </a:r>
          </a:p>
        </p:txBody>
      </p:sp>
      <p:sp>
        <p:nvSpPr>
          <p:cNvPr id="36" name="Rounded Rectangle 35"/>
          <p:cNvSpPr/>
          <p:nvPr/>
        </p:nvSpPr>
        <p:spPr>
          <a:xfrm>
            <a:off x="4453128" y="4133088"/>
            <a:ext cx="3703320" cy="18288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453128" y="4133088"/>
            <a:ext cx="109728" cy="18288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81728" y="4242816"/>
            <a:ext cx="3337560" cy="365760"/>
          </a:xfrm>
          <a:prstGeom prst="rect">
            <a:avLst/>
          </a:prstGeom>
          <a:noFill/>
        </p:spPr>
        <p:txBody>
          <a:bodyPr wrap="square" lIns="45720" rIns="45720" tIns="18288" bIns="18288" anchor="t">
            <a:spAutoFit/>
          </a:bodyPr>
          <a:lstStyle/>
          <a:p>
            <a:pPr algn="l"/>
            <a:r>
              <a:rPr sz="1400" b="1">
                <a:solidFill>
                  <a:srgbClr val="F17A21"/>
                </a:solidFill>
                <a:latin typeface="맑은 고딕"/>
              </a:rPr>
              <a:t>nRF52832</a:t>
            </a:r>
          </a:p>
        </p:txBody>
      </p:sp>
      <p:sp>
        <p:nvSpPr>
          <p:cNvPr id="39" name="TextBox 38"/>
          <p:cNvSpPr txBox="1"/>
          <p:nvPr/>
        </p:nvSpPr>
        <p:spPr>
          <a:xfrm>
            <a:off x="4681728" y="4590288"/>
            <a:ext cx="333756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BLE 온도 컨트롤러</a:t>
            </a:r>
          </a:p>
        </p:txBody>
      </p:sp>
      <p:sp>
        <p:nvSpPr>
          <p:cNvPr id="40" name="TextBox 39"/>
          <p:cNvSpPr txBox="1"/>
          <p:nvPr/>
        </p:nvSpPr>
        <p:spPr>
          <a:xfrm>
            <a:off x="4681728" y="5001768"/>
            <a:ext cx="3337560" cy="457200"/>
          </a:xfrm>
          <a:prstGeom prst="rect">
            <a:avLst/>
          </a:prstGeom>
          <a:noFill/>
        </p:spPr>
        <p:txBody>
          <a:bodyPr wrap="square" lIns="45720" rIns="45720" tIns="18288" bIns="18288" anchor="t">
            <a:spAutoFit/>
          </a:bodyPr>
          <a:lstStyle/>
          <a:p>
            <a:pPr algn="l"/>
            <a:r>
              <a:rPr sz="1100" b="0">
                <a:solidFill>
                  <a:srgbClr val="333333"/>
                </a:solidFill>
                <a:latin typeface="맑은 고딕"/>
              </a:rPr>
              <a:t>저전력 BLE · 양산</a:t>
            </a:r>
          </a:p>
        </p:txBody>
      </p:sp>
      <p:sp>
        <p:nvSpPr>
          <p:cNvPr id="41" name="Rounded Rectangle 40"/>
          <p:cNvSpPr/>
          <p:nvPr/>
        </p:nvSpPr>
        <p:spPr>
          <a:xfrm>
            <a:off x="4681728" y="5550408"/>
            <a:ext cx="2286000" cy="320040"/>
          </a:xfrm>
          <a:prstGeom prst="roundRect">
            <a:avLst/>
          </a:prstGeom>
          <a:solidFill>
            <a:srgbClr val="102A4C"/>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000" b="1">
                <a:solidFill>
                  <a:srgbClr val="FFFFFF"/>
                </a:solidFill>
                <a:latin typeface="맑은 고딕"/>
              </a:rPr>
              <a:t>양산 판매중</a:t>
            </a:r>
          </a:p>
        </p:txBody>
      </p:sp>
      <p:sp>
        <p:nvSpPr>
          <p:cNvPr id="42" name="Rounded Rectangle 41"/>
          <p:cNvSpPr/>
          <p:nvPr/>
        </p:nvSpPr>
        <p:spPr>
          <a:xfrm>
            <a:off x="8357616" y="4133088"/>
            <a:ext cx="3703320" cy="18288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57616" y="4133088"/>
            <a:ext cx="109728" cy="18288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86216" y="4242816"/>
            <a:ext cx="3337560" cy="365760"/>
          </a:xfrm>
          <a:prstGeom prst="rect">
            <a:avLst/>
          </a:prstGeom>
          <a:noFill/>
        </p:spPr>
        <p:txBody>
          <a:bodyPr wrap="square" lIns="45720" rIns="45720" tIns="18288" bIns="18288" anchor="t">
            <a:spAutoFit/>
          </a:bodyPr>
          <a:lstStyle/>
          <a:p>
            <a:pPr algn="l"/>
            <a:r>
              <a:rPr sz="1400" b="1">
                <a:solidFill>
                  <a:srgbClr val="F17A21"/>
                </a:solidFill>
                <a:latin typeface="맑은 고딕"/>
              </a:rPr>
              <a:t>AMANO BLE Mesh</a:t>
            </a:r>
          </a:p>
        </p:txBody>
      </p:sp>
      <p:sp>
        <p:nvSpPr>
          <p:cNvPr id="45" name="TextBox 44"/>
          <p:cNvSpPr txBox="1"/>
          <p:nvPr/>
        </p:nvSpPr>
        <p:spPr>
          <a:xfrm>
            <a:off x="8586216" y="4590288"/>
            <a:ext cx="333756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자전거주차장 LED Dimmer</a:t>
            </a:r>
          </a:p>
        </p:txBody>
      </p:sp>
      <p:sp>
        <p:nvSpPr>
          <p:cNvPr id="46" name="TextBox 45"/>
          <p:cNvSpPr txBox="1"/>
          <p:nvPr/>
        </p:nvSpPr>
        <p:spPr>
          <a:xfrm>
            <a:off x="8586216" y="5001768"/>
            <a:ext cx="3337560" cy="457200"/>
          </a:xfrm>
          <a:prstGeom prst="rect">
            <a:avLst/>
          </a:prstGeom>
          <a:noFill/>
        </p:spPr>
        <p:txBody>
          <a:bodyPr wrap="square" lIns="45720" rIns="45720" tIns="18288" bIns="18288" anchor="t">
            <a:spAutoFit/>
          </a:bodyPr>
          <a:lstStyle/>
          <a:p>
            <a:pPr algn="l"/>
            <a:r>
              <a:rPr sz="1100" b="0">
                <a:solidFill>
                  <a:srgbClr val="333333"/>
                </a:solidFill>
                <a:latin typeface="맑은 고딕"/>
              </a:rPr>
              <a:t>외부안테나 200m+ · BLE Mesh</a:t>
            </a:r>
          </a:p>
        </p:txBody>
      </p:sp>
      <p:sp>
        <p:nvSpPr>
          <p:cNvPr id="47" name="Rounded Rectangle 46"/>
          <p:cNvSpPr/>
          <p:nvPr/>
        </p:nvSpPr>
        <p:spPr>
          <a:xfrm>
            <a:off x="8586216" y="5550408"/>
            <a:ext cx="2286000" cy="320040"/>
          </a:xfrm>
          <a:prstGeom prst="round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000" b="1">
                <a:solidFill>
                  <a:srgbClr val="FFFFFF"/>
                </a:solidFill>
                <a:latin typeface="맑은 고딕"/>
              </a:rPr>
              <a:t>일본 3,800대 수출</a:t>
            </a:r>
          </a:p>
        </p:txBody>
      </p:sp>
      <p:sp>
        <p:nvSpPr>
          <p:cNvPr id="48" name="TextBox 47"/>
          <p:cNvSpPr txBox="1"/>
          <p:nvPr/>
        </p:nvSpPr>
        <p:spPr>
          <a:xfrm>
            <a:off x="548640" y="5989320"/>
            <a:ext cx="10972800" cy="365760"/>
          </a:xfrm>
          <a:prstGeom prst="rect">
            <a:avLst/>
          </a:prstGeom>
          <a:noFill/>
        </p:spPr>
        <p:txBody>
          <a:bodyPr wrap="square" lIns="45720" rIns="45720" tIns="18288" bIns="18288" anchor="t">
            <a:spAutoFit/>
          </a:bodyPr>
          <a:lstStyle/>
          <a:p>
            <a:pPr algn="ctr"/>
            <a:r>
              <a:rPr sz="1400" b="1">
                <a:solidFill>
                  <a:srgbClr val="102A4C"/>
                </a:solidFill>
                <a:latin typeface="맑은 고딕"/>
              </a:rPr>
              <a:t>3개국 산업 인증 보유  →  본 프로젝트 EMI/EMC 양산 패턴 즉시 적용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06 / 10  ·  핵심 기술 ①</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5축 서보  ⟷  비접촉 변위센서  동기화</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위치 ↔ 측정값 동기 오차 최소화 (매니저 요구 2순위 ①)</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194560"/>
            <a:ext cx="5486400" cy="4114800"/>
          </a:xfrm>
          <a:prstGeom prst="roundRect">
            <a:avLst/>
          </a:prstGeom>
          <a:solidFill>
            <a:srgbClr val="FAF6EC"/>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377440"/>
            <a:ext cx="5486400" cy="411480"/>
          </a:xfrm>
          <a:prstGeom prst="rect">
            <a:avLst/>
          </a:prstGeom>
          <a:noFill/>
        </p:spPr>
        <p:txBody>
          <a:bodyPr wrap="square" lIns="45720" rIns="45720" tIns="18288" bIns="18288" anchor="t">
            <a:spAutoFit/>
          </a:bodyPr>
          <a:lstStyle/>
          <a:p>
            <a:pPr algn="l"/>
            <a:r>
              <a:rPr sz="1600" b="1">
                <a:solidFill>
                  <a:srgbClr val="102A4C"/>
                </a:solidFill>
                <a:latin typeface="맑은 고딕"/>
              </a:rPr>
              <a:t>동기화 설계 패턴 — 3-Layer</a:t>
            </a:r>
          </a:p>
        </p:txBody>
      </p:sp>
      <p:sp>
        <p:nvSpPr>
          <p:cNvPr id="14" name="Rectangle 13"/>
          <p:cNvSpPr/>
          <p:nvPr/>
        </p:nvSpPr>
        <p:spPr>
          <a:xfrm>
            <a:off x="822960" y="2971800"/>
            <a:ext cx="4937760" cy="9144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063240"/>
            <a:ext cx="5029200" cy="365760"/>
          </a:xfrm>
          <a:prstGeom prst="rect">
            <a:avLst/>
          </a:prstGeom>
          <a:noFill/>
        </p:spPr>
        <p:txBody>
          <a:bodyPr wrap="square" lIns="45720" rIns="45720" tIns="18288" bIns="18288" anchor="t">
            <a:spAutoFit/>
          </a:bodyPr>
          <a:lstStyle/>
          <a:p>
            <a:pPr algn="l"/>
            <a:r>
              <a:rPr sz="1300" b="1">
                <a:solidFill>
                  <a:srgbClr val="FFFFFF"/>
                </a:solidFill>
                <a:latin typeface="맑은 고딕"/>
              </a:rPr>
              <a:t>Layer 1 — EtherCAT / 고속 아날로그 모듈</a:t>
            </a:r>
          </a:p>
        </p:txBody>
      </p:sp>
      <p:sp>
        <p:nvSpPr>
          <p:cNvPr id="16" name="TextBox 15"/>
          <p:cNvSpPr txBox="1"/>
          <p:nvPr/>
        </p:nvSpPr>
        <p:spPr>
          <a:xfrm>
            <a:off x="960120" y="3383280"/>
            <a:ext cx="5029200" cy="457200"/>
          </a:xfrm>
          <a:prstGeom prst="rect">
            <a:avLst/>
          </a:prstGeom>
          <a:noFill/>
        </p:spPr>
        <p:txBody>
          <a:bodyPr wrap="square" lIns="45720" rIns="45720" tIns="18288" bIns="18288" anchor="t">
            <a:spAutoFit/>
          </a:bodyPr>
          <a:lstStyle/>
          <a:p>
            <a:pPr algn="l"/>
            <a:r>
              <a:rPr sz="1100" b="0">
                <a:solidFill>
                  <a:srgbClr val="FAF6EC"/>
                </a:solidFill>
                <a:latin typeface="맑은 고딕"/>
              </a:rPr>
              <a:t>5축 서보 위치 = 측정 트리거 = 변위센서 샘플 ── 동일 사이클 캡처</a:t>
            </a:r>
          </a:p>
        </p:txBody>
      </p:sp>
      <p:sp>
        <p:nvSpPr>
          <p:cNvPr id="17" name="Rectangle 16"/>
          <p:cNvSpPr/>
          <p:nvPr/>
        </p:nvSpPr>
        <p:spPr>
          <a:xfrm>
            <a:off x="822960" y="4069079"/>
            <a:ext cx="4937760" cy="9144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160519"/>
            <a:ext cx="5029200" cy="365760"/>
          </a:xfrm>
          <a:prstGeom prst="rect">
            <a:avLst/>
          </a:prstGeom>
          <a:noFill/>
        </p:spPr>
        <p:txBody>
          <a:bodyPr wrap="square" lIns="45720" rIns="45720" tIns="18288" bIns="18288" anchor="t">
            <a:spAutoFit/>
          </a:bodyPr>
          <a:lstStyle/>
          <a:p>
            <a:pPr algn="l"/>
            <a:r>
              <a:rPr sz="1300" b="1">
                <a:solidFill>
                  <a:srgbClr val="FFFFFF"/>
                </a:solidFill>
                <a:latin typeface="맑은 고딕"/>
              </a:rPr>
              <a:t>Layer 2 — PLC 인터럽트 우선순위 / 결정론 사이클</a:t>
            </a:r>
          </a:p>
        </p:txBody>
      </p:sp>
      <p:sp>
        <p:nvSpPr>
          <p:cNvPr id="19" name="TextBox 18"/>
          <p:cNvSpPr txBox="1"/>
          <p:nvPr/>
        </p:nvSpPr>
        <p:spPr>
          <a:xfrm>
            <a:off x="960120" y="4480559"/>
            <a:ext cx="5029200" cy="457200"/>
          </a:xfrm>
          <a:prstGeom prst="rect">
            <a:avLst/>
          </a:prstGeom>
          <a:noFill/>
        </p:spPr>
        <p:txBody>
          <a:bodyPr wrap="square" lIns="45720" rIns="45720" tIns="18288" bIns="18288" anchor="t">
            <a:spAutoFit/>
          </a:bodyPr>
          <a:lstStyle/>
          <a:p>
            <a:pPr algn="l"/>
            <a:r>
              <a:rPr sz="1100" b="0">
                <a:solidFill>
                  <a:srgbClr val="FAF6EC"/>
                </a:solidFill>
                <a:latin typeface="맑은 고딕"/>
              </a:rPr>
              <a:t>측정 인터럽트 ＞ 모니터링 ＞ HMI 통신  ── 위치 ↔ 값 오프셋 최소화</a:t>
            </a:r>
          </a:p>
        </p:txBody>
      </p:sp>
      <p:sp>
        <p:nvSpPr>
          <p:cNvPr id="20" name="Rectangle 19"/>
          <p:cNvSpPr/>
          <p:nvPr/>
        </p:nvSpPr>
        <p:spPr>
          <a:xfrm>
            <a:off x="822960" y="5166360"/>
            <a:ext cx="4937760" cy="91440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257800"/>
            <a:ext cx="5029200" cy="365760"/>
          </a:xfrm>
          <a:prstGeom prst="rect">
            <a:avLst/>
          </a:prstGeom>
          <a:noFill/>
        </p:spPr>
        <p:txBody>
          <a:bodyPr wrap="square" lIns="45720" rIns="45720" tIns="18288" bIns="18288" anchor="t">
            <a:spAutoFit/>
          </a:bodyPr>
          <a:lstStyle/>
          <a:p>
            <a:pPr algn="l"/>
            <a:r>
              <a:rPr sz="1300" b="1">
                <a:solidFill>
                  <a:srgbClr val="FFFFFF"/>
                </a:solidFill>
                <a:latin typeface="맑은 고딕"/>
              </a:rPr>
              <a:t>Layer 3 — 신호 처리 / 노이즈 보정</a:t>
            </a:r>
          </a:p>
        </p:txBody>
      </p:sp>
      <p:sp>
        <p:nvSpPr>
          <p:cNvPr id="22" name="TextBox 21"/>
          <p:cNvSpPr txBox="1"/>
          <p:nvPr/>
        </p:nvSpPr>
        <p:spPr>
          <a:xfrm>
            <a:off x="960120" y="5577840"/>
            <a:ext cx="5029200" cy="457200"/>
          </a:xfrm>
          <a:prstGeom prst="rect">
            <a:avLst/>
          </a:prstGeom>
          <a:noFill/>
        </p:spPr>
        <p:txBody>
          <a:bodyPr wrap="square" lIns="45720" rIns="45720" tIns="18288" bIns="18288" anchor="t">
            <a:spAutoFit/>
          </a:bodyPr>
          <a:lstStyle/>
          <a:p>
            <a:pPr algn="l"/>
            <a:r>
              <a:rPr sz="1100" b="0">
                <a:solidFill>
                  <a:srgbClr val="FAF6EC"/>
                </a:solidFill>
                <a:latin typeface="맑은 고딕"/>
              </a:rPr>
              <a:t>이동 평균 + 칼만 필터 + 위치 보간  ── 측정 정밀도 보장</a:t>
            </a:r>
          </a:p>
        </p:txBody>
      </p:sp>
      <p:sp>
        <p:nvSpPr>
          <p:cNvPr id="23" name="Rounded Rectangle 22"/>
          <p:cNvSpPr/>
          <p:nvPr/>
        </p:nvSpPr>
        <p:spPr>
          <a:xfrm>
            <a:off x="6355080" y="2194560"/>
            <a:ext cx="5486400" cy="41148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55080" y="2194560"/>
            <a:ext cx="5486400" cy="4572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2267712"/>
            <a:ext cx="5486400" cy="365760"/>
          </a:xfrm>
          <a:prstGeom prst="rect">
            <a:avLst/>
          </a:prstGeom>
          <a:noFill/>
        </p:spPr>
        <p:txBody>
          <a:bodyPr wrap="square" lIns="45720" rIns="45720" tIns="18288" bIns="18288" anchor="t">
            <a:spAutoFit/>
          </a:bodyPr>
          <a:lstStyle/>
          <a:p>
            <a:pPr algn="l"/>
            <a:r>
              <a:rPr sz="1500" b="1">
                <a:solidFill>
                  <a:srgbClr val="FFFFFF"/>
                </a:solidFill>
                <a:latin typeface="맑은 고딕"/>
              </a:rPr>
              <a:t>직결 양산 자산</a:t>
            </a:r>
          </a:p>
        </p:txBody>
      </p:sp>
      <p:sp>
        <p:nvSpPr>
          <p:cNvPr id="26" name="TextBox 25"/>
          <p:cNvSpPr txBox="1"/>
          <p:nvPr/>
        </p:nvSpPr>
        <p:spPr>
          <a:xfrm>
            <a:off x="6629400" y="2834640"/>
            <a:ext cx="5120640" cy="3383280"/>
          </a:xfrm>
          <a:prstGeom prst="rect">
            <a:avLst/>
          </a:prstGeom>
          <a:noFill/>
        </p:spPr>
        <p:txBody>
          <a:bodyPr wrap="square" lIns="45720" rIns="45720" tIns="18288" bIns="18288" anchor="t">
            <a:spAutoFit/>
          </a:bodyPr>
          <a:lstStyle/>
          <a:p>
            <a:pPr algn="l"/>
            <a:r>
              <a:rPr sz="1200" b="0">
                <a:solidFill>
                  <a:srgbClr val="333333"/>
                </a:solidFill>
                <a:latin typeface="맑은 고딕"/>
              </a:rPr>
              <a:t>● 대한전선 WINDER CONTROLLER</a:t>
            </a:r>
          </a:p>
          <a:p>
            <a:pPr algn="l"/>
            <a:r>
              <a:rPr sz="1200" b="0">
                <a:solidFill>
                  <a:srgbClr val="333333"/>
                </a:solidFill>
                <a:latin typeface="맑은 고딕"/>
              </a:rPr>
              <a:t>   권취기 정밀 장력 + 위치 피드백 양산</a:t>
            </a:r>
          </a:p>
          <a:p>
            <a:pPr algn="l"/>
            <a:r>
              <a:rPr sz="1200" b="0">
                <a:solidFill>
                  <a:srgbClr val="333333"/>
                </a:solidFill>
                <a:latin typeface="맑은 고딕"/>
              </a:rPr>
              <a:t>   CAN / RS-485 동기 통신 — 5축 패턴 동일</a:t>
            </a:r>
          </a:p>
          <a:p>
            <a:pPr algn="l"/>
            <a:r>
              <a:rPr sz="1200" b="0">
                <a:solidFill>
                  <a:srgbClr val="333333"/>
                </a:solidFill>
                <a:latin typeface="맑은 고딕"/>
              </a:rPr>
              <a:t/>
            </a:r>
          </a:p>
          <a:p>
            <a:pPr algn="l"/>
            <a:r>
              <a:rPr sz="1200" b="0">
                <a:solidFill>
                  <a:srgbClr val="333333"/>
                </a:solidFill>
                <a:latin typeface="맑은 고딕"/>
              </a:rPr>
              <a:t>● RPi CM4 EtherCAT MFC 컨트롤러</a:t>
            </a:r>
          </a:p>
          <a:p>
            <a:pPr algn="l"/>
            <a:r>
              <a:rPr sz="1200" b="0">
                <a:solidFill>
                  <a:srgbClr val="333333"/>
                </a:solidFill>
                <a:latin typeface="맑은 고딕"/>
              </a:rPr>
              <a:t>   산업 결정론 사이클 (100μs급) 양산 운영</a:t>
            </a:r>
          </a:p>
          <a:p>
            <a:pPr algn="l"/>
            <a:r>
              <a:rPr sz="1200" b="0">
                <a:solidFill>
                  <a:srgbClr val="333333"/>
                </a:solidFill>
                <a:latin typeface="맑은 고딕"/>
              </a:rPr>
              <a:t/>
            </a:r>
          </a:p>
          <a:p>
            <a:pPr algn="l"/>
            <a:r>
              <a:rPr sz="1200" b="0">
                <a:solidFill>
                  <a:srgbClr val="333333"/>
                </a:solidFill>
                <a:latin typeface="맑은 고딕"/>
              </a:rPr>
              <a:t>● PVDF 압전 층간소음 (위시캣 #154780)</a:t>
            </a:r>
          </a:p>
          <a:p>
            <a:pPr algn="l"/>
            <a:r>
              <a:rPr sz="1200" b="0">
                <a:solidFill>
                  <a:srgbClr val="333333"/>
                </a:solidFill>
                <a:latin typeface="맑은 고딕"/>
              </a:rPr>
              <a:t>   비접촉 변위 신호 처리 + 노이즈 보정</a:t>
            </a:r>
          </a:p>
          <a:p>
            <a:pPr algn="l"/>
            <a:r>
              <a:rPr sz="1200" b="0">
                <a:solidFill>
                  <a:srgbClr val="333333"/>
                </a:solidFill>
                <a:latin typeface="맑은 고딕"/>
              </a:rPr>
              <a:t/>
            </a:r>
          </a:p>
          <a:p>
            <a:pPr algn="l"/>
            <a:r>
              <a:rPr sz="1200" b="0">
                <a:solidFill>
                  <a:srgbClr val="333333"/>
                </a:solidFill>
                <a:latin typeface="맑은 고딕"/>
              </a:rPr>
              <a:t>● 수위센서 QDY30A-B 비접촉 측정</a:t>
            </a:r>
          </a:p>
          <a:p>
            <a:pPr algn="l"/>
            <a:r>
              <a:rPr sz="1200" b="0">
                <a:solidFill>
                  <a:srgbClr val="333333"/>
                </a:solidFill>
                <a:latin typeface="맑은 고딕"/>
              </a:rPr>
              <a:t>   액체 거리 측정 인접 경험</a:t>
            </a:r>
          </a:p>
          <a:p>
            <a:pPr algn="l"/>
            <a:r>
              <a:rPr sz="1200" b="0">
                <a:solidFill>
                  <a:srgbClr val="333333"/>
                </a:solidFill>
                <a:latin typeface="맑은 고딕"/>
              </a:rPr>
              <a:t/>
            </a:r>
          </a:p>
          <a:p>
            <a:pPr algn="l"/>
            <a:r>
              <a:rPr sz="1200" b="0">
                <a:solidFill>
                  <a:srgbClr val="333333"/>
                </a:solidFill>
                <a:latin typeface="맑은 고딕"/>
              </a:rPr>
              <a:t>● STM32F756 컴프레서 밸브 양산</a:t>
            </a:r>
          </a:p>
          <a:p>
            <a:pPr algn="l"/>
            <a:r>
              <a:rPr sz="1200" b="0">
                <a:solidFill>
                  <a:srgbClr val="333333"/>
                </a:solidFill>
                <a:latin typeface="맑은 고딕"/>
              </a:rPr>
              <a:t>   FreeRTOS 우선순위 + 측정 인터럽트 설계 KC 인증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07 / 10  ·  핵심 기술 ②</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노이즈 차폐 + EMI / EMC 표준 대응 4종</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서보 노이즈 ✗→ 아날로그 변위센서  (매니저 요구 2순위 ②)</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103120"/>
            <a:ext cx="5532120" cy="1874519"/>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03120"/>
            <a:ext cx="137160" cy="1874519"/>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240280"/>
            <a:ext cx="516636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①  케이블 포설 분리 + 쉴드 단일점 접지</a:t>
            </a:r>
          </a:p>
        </p:txBody>
      </p:sp>
      <p:sp>
        <p:nvSpPr>
          <p:cNvPr id="15" name="TextBox 14"/>
          <p:cNvSpPr txBox="1"/>
          <p:nvPr/>
        </p:nvSpPr>
        <p:spPr>
          <a:xfrm>
            <a:off x="822960" y="2743200"/>
            <a:ext cx="5166360" cy="1097280"/>
          </a:xfrm>
          <a:prstGeom prst="rect">
            <a:avLst/>
          </a:prstGeom>
          <a:noFill/>
        </p:spPr>
        <p:txBody>
          <a:bodyPr wrap="square" lIns="45720" rIns="45720" tIns="18288" bIns="18288" anchor="t">
            <a:spAutoFit/>
          </a:bodyPr>
          <a:lstStyle/>
          <a:p>
            <a:pPr algn="l"/>
            <a:r>
              <a:rPr sz="1200" b="0">
                <a:solidFill>
                  <a:srgbClr val="333333"/>
                </a:solidFill>
                <a:latin typeface="맑은 고딕"/>
              </a:rPr>
              <a:t>동력선과 신호선 트레이 분리</a:t>
            </a:r>
          </a:p>
          <a:p>
            <a:pPr algn="l"/>
            <a:r>
              <a:rPr sz="1200" b="0">
                <a:solidFill>
                  <a:srgbClr val="333333"/>
                </a:solidFill>
                <a:latin typeface="맑은 고딕"/>
              </a:rPr>
              <a:t>쉴드선 단일점 접지 (1-point grounding)</a:t>
            </a:r>
          </a:p>
          <a:p>
            <a:pPr algn="l"/>
            <a:r>
              <a:rPr sz="1200" b="0">
                <a:solidFill>
                  <a:srgbClr val="333333"/>
                </a:solidFill>
                <a:latin typeface="맑은 고딕"/>
              </a:rPr>
              <a:t>RS-485 양산 다수에서 검증</a:t>
            </a:r>
          </a:p>
        </p:txBody>
      </p:sp>
      <p:sp>
        <p:nvSpPr>
          <p:cNvPr id="16" name="Rounded Rectangle 15"/>
          <p:cNvSpPr/>
          <p:nvPr/>
        </p:nvSpPr>
        <p:spPr>
          <a:xfrm>
            <a:off x="6245352" y="2103120"/>
            <a:ext cx="5532120" cy="1874519"/>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2103120"/>
            <a:ext cx="137160" cy="1874519"/>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240280"/>
            <a:ext cx="516636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②  차분 입력 + 저역 통과 필터</a:t>
            </a:r>
          </a:p>
        </p:txBody>
      </p:sp>
      <p:sp>
        <p:nvSpPr>
          <p:cNvPr id="19" name="TextBox 18"/>
          <p:cNvSpPr txBox="1"/>
          <p:nvPr/>
        </p:nvSpPr>
        <p:spPr>
          <a:xfrm>
            <a:off x="6519672" y="2743200"/>
            <a:ext cx="5166360" cy="1097280"/>
          </a:xfrm>
          <a:prstGeom prst="rect">
            <a:avLst/>
          </a:prstGeom>
          <a:noFill/>
        </p:spPr>
        <p:txBody>
          <a:bodyPr wrap="square" lIns="45720" rIns="45720" tIns="18288" bIns="18288" anchor="t">
            <a:spAutoFit/>
          </a:bodyPr>
          <a:lstStyle/>
          <a:p>
            <a:pPr algn="l"/>
            <a:r>
              <a:rPr sz="1200" b="0">
                <a:solidFill>
                  <a:srgbClr val="333333"/>
                </a:solidFill>
                <a:latin typeface="맑은 고딕"/>
              </a:rPr>
              <a:t>아날로그 입력단 차분 (differential) 구성</a:t>
            </a:r>
          </a:p>
          <a:p>
            <a:pPr algn="l"/>
            <a:r>
              <a:rPr sz="1200" b="0">
                <a:solidFill>
                  <a:srgbClr val="333333"/>
                </a:solidFill>
                <a:latin typeface="맑은 고딕"/>
              </a:rPr>
              <a:t>적정 차단 주파수 LPF (1~10kHz)</a:t>
            </a:r>
          </a:p>
          <a:p>
            <a:pPr algn="l"/>
            <a:r>
              <a:rPr sz="1200" b="0">
                <a:solidFill>
                  <a:srgbClr val="333333"/>
                </a:solidFill>
                <a:latin typeface="맑은 고딕"/>
              </a:rPr>
              <a:t>서보 PWM 고주파 노이즈 차단</a:t>
            </a:r>
          </a:p>
        </p:txBody>
      </p:sp>
      <p:sp>
        <p:nvSpPr>
          <p:cNvPr id="20" name="Rounded Rectangle 19"/>
          <p:cNvSpPr/>
          <p:nvPr/>
        </p:nvSpPr>
        <p:spPr>
          <a:xfrm>
            <a:off x="548640" y="4142231"/>
            <a:ext cx="5532120" cy="1874519"/>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142231"/>
            <a:ext cx="137160" cy="1874519"/>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279391"/>
            <a:ext cx="516636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③  광 절연 + 신호 그라운드 격리</a:t>
            </a:r>
          </a:p>
        </p:txBody>
      </p:sp>
      <p:sp>
        <p:nvSpPr>
          <p:cNvPr id="23" name="TextBox 22"/>
          <p:cNvSpPr txBox="1"/>
          <p:nvPr/>
        </p:nvSpPr>
        <p:spPr>
          <a:xfrm>
            <a:off x="822960" y="4782311"/>
            <a:ext cx="5166360" cy="1097280"/>
          </a:xfrm>
          <a:prstGeom prst="rect">
            <a:avLst/>
          </a:prstGeom>
          <a:noFill/>
        </p:spPr>
        <p:txBody>
          <a:bodyPr wrap="square" lIns="45720" rIns="45720" tIns="18288" bIns="18288" anchor="t">
            <a:spAutoFit/>
          </a:bodyPr>
          <a:lstStyle/>
          <a:p>
            <a:pPr algn="l"/>
            <a:r>
              <a:rPr sz="1200" b="0">
                <a:solidFill>
                  <a:srgbClr val="333333"/>
                </a:solidFill>
                <a:latin typeface="맑은 고딕"/>
              </a:rPr>
              <a:t>PLC ↔ 측정 모듈 광 커플러 절연</a:t>
            </a:r>
          </a:p>
          <a:p>
            <a:pPr algn="l"/>
            <a:r>
              <a:rPr sz="1200" b="0">
                <a:solidFill>
                  <a:srgbClr val="333333"/>
                </a:solidFill>
                <a:latin typeface="맑은 고딕"/>
              </a:rPr>
              <a:t>신호 그라운드 / 동력 그라운드 격리</a:t>
            </a:r>
          </a:p>
          <a:p>
            <a:pPr algn="l"/>
            <a:r>
              <a:rPr sz="1200" b="0">
                <a:solidFill>
                  <a:srgbClr val="333333"/>
                </a:solidFill>
                <a:latin typeface="맑은 고딕"/>
              </a:rPr>
              <a:t>그라운드 루프 차단</a:t>
            </a:r>
          </a:p>
        </p:txBody>
      </p:sp>
      <p:sp>
        <p:nvSpPr>
          <p:cNvPr id="24" name="Rounded Rectangle 23"/>
          <p:cNvSpPr/>
          <p:nvPr/>
        </p:nvSpPr>
        <p:spPr>
          <a:xfrm>
            <a:off x="6245352" y="4142231"/>
            <a:ext cx="5532120" cy="1874519"/>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45352" y="4142231"/>
            <a:ext cx="137160" cy="1874519"/>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9672" y="4279391"/>
            <a:ext cx="516636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④  페라이트 코어 + 노이즈 필터</a:t>
            </a:r>
          </a:p>
        </p:txBody>
      </p:sp>
      <p:sp>
        <p:nvSpPr>
          <p:cNvPr id="27" name="TextBox 26"/>
          <p:cNvSpPr txBox="1"/>
          <p:nvPr/>
        </p:nvSpPr>
        <p:spPr>
          <a:xfrm>
            <a:off x="6519672" y="4782311"/>
            <a:ext cx="5166360" cy="1097280"/>
          </a:xfrm>
          <a:prstGeom prst="rect">
            <a:avLst/>
          </a:prstGeom>
          <a:noFill/>
        </p:spPr>
        <p:txBody>
          <a:bodyPr wrap="square" lIns="45720" rIns="45720" tIns="18288" bIns="18288" anchor="t">
            <a:spAutoFit/>
          </a:bodyPr>
          <a:lstStyle/>
          <a:p>
            <a:pPr algn="l"/>
            <a:r>
              <a:rPr sz="1200" b="0">
                <a:solidFill>
                  <a:srgbClr val="333333"/>
                </a:solidFill>
                <a:latin typeface="맑은 고딕"/>
              </a:rPr>
              <a:t>서보 드라이버 입출력 페라이트</a:t>
            </a:r>
          </a:p>
          <a:p>
            <a:pPr algn="l"/>
            <a:r>
              <a:rPr sz="1200" b="0">
                <a:solidFill>
                  <a:srgbClr val="333333"/>
                </a:solidFill>
                <a:latin typeface="맑은 고딕"/>
              </a:rPr>
              <a:t>전원 라인 EMI 필터</a:t>
            </a:r>
          </a:p>
          <a:p>
            <a:pPr algn="l"/>
            <a:r>
              <a:rPr sz="1200" b="0">
                <a:solidFill>
                  <a:srgbClr val="333333"/>
                </a:solidFill>
                <a:latin typeface="맑은 고딕"/>
              </a:rPr>
              <a:t>KC 인증 양산 표준</a:t>
            </a:r>
          </a:p>
        </p:txBody>
      </p:sp>
      <p:sp>
        <p:nvSpPr>
          <p:cNvPr id="28" name="TextBox 27"/>
          <p:cNvSpPr txBox="1"/>
          <p:nvPr/>
        </p:nvSpPr>
        <p:spPr>
          <a:xfrm>
            <a:off x="548640" y="6126480"/>
            <a:ext cx="10972800" cy="365760"/>
          </a:xfrm>
          <a:prstGeom prst="rect">
            <a:avLst/>
          </a:prstGeom>
          <a:noFill/>
        </p:spPr>
        <p:txBody>
          <a:bodyPr wrap="square" lIns="45720" rIns="45720" tIns="18288" bIns="18288" anchor="t">
            <a:spAutoFit/>
          </a:bodyPr>
          <a:lstStyle/>
          <a:p>
            <a:pPr algn="ctr"/>
            <a:r>
              <a:rPr sz="1400" b="1">
                <a:solidFill>
                  <a:srgbClr val="102A4C"/>
                </a:solidFill>
                <a:latin typeface="맑은 고딕"/>
              </a:rPr>
              <a:t>KC · TELEC · CE 3개국 인증 양산  =  본 패턴 신뢰성 검증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08 / 10  ·  SCADA 운영 자산</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SCADA 5요소  ·  라이브 운영 중</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uttec-sensor.duckdns.org  ·  실시간 트렌드 + CSV 리포트</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194560"/>
            <a:ext cx="2221992" cy="146304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94560"/>
            <a:ext cx="2221992" cy="54864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67712"/>
            <a:ext cx="2221992" cy="457200"/>
          </a:xfrm>
          <a:prstGeom prst="rect">
            <a:avLst/>
          </a:prstGeom>
          <a:noFill/>
        </p:spPr>
        <p:txBody>
          <a:bodyPr wrap="square" lIns="45720" rIns="45720" tIns="18288" bIns="18288" anchor="t">
            <a:spAutoFit/>
          </a:bodyPr>
          <a:lstStyle/>
          <a:p>
            <a:pPr algn="ctr"/>
            <a:r>
              <a:rPr sz="1500" b="1">
                <a:solidFill>
                  <a:srgbClr val="FFFFFF"/>
                </a:solidFill>
                <a:latin typeface="맑은 고딕"/>
              </a:rPr>
              <a:t>Tag</a:t>
            </a:r>
          </a:p>
          <a:p>
            <a:pPr algn="ctr"/>
            <a:r>
              <a:rPr sz="1500" b="1">
                <a:solidFill>
                  <a:srgbClr val="FFFFFF"/>
                </a:solidFill>
                <a:latin typeface="맑은 고딕"/>
              </a:rPr>
              <a:t>Server</a:t>
            </a:r>
          </a:p>
        </p:txBody>
      </p:sp>
      <p:sp>
        <p:nvSpPr>
          <p:cNvPr id="15" name="TextBox 14"/>
          <p:cNvSpPr txBox="1"/>
          <p:nvPr/>
        </p:nvSpPr>
        <p:spPr>
          <a:xfrm>
            <a:off x="640080" y="2852928"/>
            <a:ext cx="2039112" cy="731520"/>
          </a:xfrm>
          <a:prstGeom prst="rect">
            <a:avLst/>
          </a:prstGeom>
          <a:noFill/>
        </p:spPr>
        <p:txBody>
          <a:bodyPr wrap="square" lIns="45720" rIns="45720" tIns="18288" bIns="18288" anchor="t">
            <a:spAutoFit/>
          </a:bodyPr>
          <a:lstStyle/>
          <a:p>
            <a:pPr algn="ctr"/>
            <a:r>
              <a:rPr sz="1200" b="0">
                <a:solidFill>
                  <a:srgbClr val="333333"/>
                </a:solidFill>
                <a:latin typeface="맑은 고딕"/>
              </a:rPr>
              <a:t>실시간 값 수집</a:t>
            </a:r>
          </a:p>
        </p:txBody>
      </p:sp>
      <p:sp>
        <p:nvSpPr>
          <p:cNvPr id="16" name="Rounded Rectangle 15"/>
          <p:cNvSpPr/>
          <p:nvPr/>
        </p:nvSpPr>
        <p:spPr>
          <a:xfrm>
            <a:off x="2889504" y="2194560"/>
            <a:ext cx="2221992" cy="146304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89504" y="2194560"/>
            <a:ext cx="2221992" cy="54864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9504" y="2267712"/>
            <a:ext cx="2221992" cy="457200"/>
          </a:xfrm>
          <a:prstGeom prst="rect">
            <a:avLst/>
          </a:prstGeom>
          <a:noFill/>
        </p:spPr>
        <p:txBody>
          <a:bodyPr wrap="square" lIns="45720" rIns="45720" tIns="18288" bIns="18288" anchor="t">
            <a:spAutoFit/>
          </a:bodyPr>
          <a:lstStyle/>
          <a:p>
            <a:pPr algn="ctr"/>
            <a:r>
              <a:rPr sz="1500" b="1">
                <a:solidFill>
                  <a:srgbClr val="FFFFFF"/>
                </a:solidFill>
                <a:latin typeface="맑은 고딕"/>
              </a:rPr>
              <a:t>HMI</a:t>
            </a:r>
          </a:p>
        </p:txBody>
      </p:sp>
      <p:sp>
        <p:nvSpPr>
          <p:cNvPr id="19" name="TextBox 18"/>
          <p:cNvSpPr txBox="1"/>
          <p:nvPr/>
        </p:nvSpPr>
        <p:spPr>
          <a:xfrm>
            <a:off x="2980944" y="2852928"/>
            <a:ext cx="2039112" cy="731520"/>
          </a:xfrm>
          <a:prstGeom prst="rect">
            <a:avLst/>
          </a:prstGeom>
          <a:noFill/>
        </p:spPr>
        <p:txBody>
          <a:bodyPr wrap="square" lIns="45720" rIns="45720" tIns="18288" bIns="18288" anchor="t">
            <a:spAutoFit/>
          </a:bodyPr>
          <a:lstStyle/>
          <a:p>
            <a:pPr algn="ctr"/>
            <a:r>
              <a:rPr sz="1200" b="0">
                <a:solidFill>
                  <a:srgbClr val="333333"/>
                </a:solidFill>
                <a:latin typeface="맑은 고딕"/>
              </a:rPr>
              <a:t>Three.js 3D</a:t>
            </a:r>
          </a:p>
          <a:p>
            <a:pPr algn="ctr"/>
            <a:r>
              <a:rPr sz="1200" b="0">
                <a:solidFill>
                  <a:srgbClr val="333333"/>
                </a:solidFill>
                <a:latin typeface="맑은 고딕"/>
              </a:rPr>
              <a:t>대시보드 25개</a:t>
            </a:r>
          </a:p>
        </p:txBody>
      </p:sp>
      <p:sp>
        <p:nvSpPr>
          <p:cNvPr id="20" name="Rounded Rectangle 19"/>
          <p:cNvSpPr/>
          <p:nvPr/>
        </p:nvSpPr>
        <p:spPr>
          <a:xfrm>
            <a:off x="5230368" y="2194560"/>
            <a:ext cx="2221992" cy="146304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30368" y="2194560"/>
            <a:ext cx="2221992" cy="54864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30368" y="2267712"/>
            <a:ext cx="2221992" cy="457200"/>
          </a:xfrm>
          <a:prstGeom prst="rect">
            <a:avLst/>
          </a:prstGeom>
          <a:noFill/>
        </p:spPr>
        <p:txBody>
          <a:bodyPr wrap="square" lIns="45720" rIns="45720" tIns="18288" bIns="18288" anchor="t">
            <a:spAutoFit/>
          </a:bodyPr>
          <a:lstStyle/>
          <a:p>
            <a:pPr algn="ctr"/>
            <a:r>
              <a:rPr sz="1500" b="1">
                <a:solidFill>
                  <a:srgbClr val="FFFFFF"/>
                </a:solidFill>
                <a:latin typeface="맑은 고딕"/>
              </a:rPr>
              <a:t>Recipe</a:t>
            </a:r>
          </a:p>
        </p:txBody>
      </p:sp>
      <p:sp>
        <p:nvSpPr>
          <p:cNvPr id="23" name="TextBox 22"/>
          <p:cNvSpPr txBox="1"/>
          <p:nvPr/>
        </p:nvSpPr>
        <p:spPr>
          <a:xfrm>
            <a:off x="5321808" y="2852928"/>
            <a:ext cx="2039112" cy="731520"/>
          </a:xfrm>
          <a:prstGeom prst="rect">
            <a:avLst/>
          </a:prstGeom>
          <a:noFill/>
        </p:spPr>
        <p:txBody>
          <a:bodyPr wrap="square" lIns="45720" rIns="45720" tIns="18288" bIns="18288" anchor="t">
            <a:spAutoFit/>
          </a:bodyPr>
          <a:lstStyle/>
          <a:p>
            <a:pPr algn="ctr"/>
            <a:r>
              <a:rPr sz="1200" b="0">
                <a:solidFill>
                  <a:srgbClr val="333333"/>
                </a:solidFill>
                <a:latin typeface="맑은 고딕"/>
              </a:rPr>
              <a:t>제품별 파라미터</a:t>
            </a:r>
          </a:p>
          <a:p>
            <a:pPr algn="ctr"/>
            <a:r>
              <a:rPr sz="1200" b="0">
                <a:solidFill>
                  <a:srgbClr val="333333"/>
                </a:solidFill>
                <a:latin typeface="맑은 고딕"/>
              </a:rPr>
              <a:t>셋 DB</a:t>
            </a:r>
          </a:p>
        </p:txBody>
      </p:sp>
      <p:sp>
        <p:nvSpPr>
          <p:cNvPr id="24" name="Rounded Rectangle 23"/>
          <p:cNvSpPr/>
          <p:nvPr/>
        </p:nvSpPr>
        <p:spPr>
          <a:xfrm>
            <a:off x="7571232" y="2194560"/>
            <a:ext cx="2221992" cy="146304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71232" y="2194560"/>
            <a:ext cx="2221992" cy="54864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2" y="2267712"/>
            <a:ext cx="2221992" cy="457200"/>
          </a:xfrm>
          <a:prstGeom prst="rect">
            <a:avLst/>
          </a:prstGeom>
          <a:noFill/>
        </p:spPr>
        <p:txBody>
          <a:bodyPr wrap="square" lIns="45720" rIns="45720" tIns="18288" bIns="18288" anchor="t">
            <a:spAutoFit/>
          </a:bodyPr>
          <a:lstStyle/>
          <a:p>
            <a:pPr algn="ctr"/>
            <a:r>
              <a:rPr sz="1500" b="1">
                <a:solidFill>
                  <a:srgbClr val="FFFFFF"/>
                </a:solidFill>
                <a:latin typeface="맑은 고딕"/>
              </a:rPr>
              <a:t>Historian</a:t>
            </a:r>
          </a:p>
        </p:txBody>
      </p:sp>
      <p:sp>
        <p:nvSpPr>
          <p:cNvPr id="27" name="TextBox 26"/>
          <p:cNvSpPr txBox="1"/>
          <p:nvPr/>
        </p:nvSpPr>
        <p:spPr>
          <a:xfrm>
            <a:off x="7662672" y="2852928"/>
            <a:ext cx="2039112" cy="731520"/>
          </a:xfrm>
          <a:prstGeom prst="rect">
            <a:avLst/>
          </a:prstGeom>
          <a:noFill/>
        </p:spPr>
        <p:txBody>
          <a:bodyPr wrap="square" lIns="45720" rIns="45720" tIns="18288" bIns="18288" anchor="t">
            <a:spAutoFit/>
          </a:bodyPr>
          <a:lstStyle/>
          <a:p>
            <a:pPr algn="ctr"/>
            <a:r>
              <a:rPr sz="1200" b="0">
                <a:solidFill>
                  <a:srgbClr val="333333"/>
                </a:solidFill>
                <a:latin typeface="맑은 고딕"/>
              </a:rPr>
              <a:t>PostgreSQL +</a:t>
            </a:r>
          </a:p>
          <a:p>
            <a:pPr algn="ctr"/>
            <a:r>
              <a:rPr sz="1200" b="0">
                <a:solidFill>
                  <a:srgbClr val="333333"/>
                </a:solidFill>
                <a:latin typeface="맑은 고딕"/>
              </a:rPr>
              <a:t>TimescaleDB</a:t>
            </a:r>
          </a:p>
        </p:txBody>
      </p:sp>
      <p:sp>
        <p:nvSpPr>
          <p:cNvPr id="28" name="Rounded Rectangle 27"/>
          <p:cNvSpPr/>
          <p:nvPr/>
        </p:nvSpPr>
        <p:spPr>
          <a:xfrm>
            <a:off x="9912096" y="2194560"/>
            <a:ext cx="2221992" cy="146304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912096" y="2194560"/>
            <a:ext cx="2221992" cy="54864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12096" y="2267712"/>
            <a:ext cx="2221992" cy="457200"/>
          </a:xfrm>
          <a:prstGeom prst="rect">
            <a:avLst/>
          </a:prstGeom>
          <a:noFill/>
        </p:spPr>
        <p:txBody>
          <a:bodyPr wrap="square" lIns="45720" rIns="45720" tIns="18288" bIns="18288" anchor="t">
            <a:spAutoFit/>
          </a:bodyPr>
          <a:lstStyle/>
          <a:p>
            <a:pPr algn="ctr"/>
            <a:r>
              <a:rPr sz="1500" b="1">
                <a:solidFill>
                  <a:srgbClr val="FFFFFF"/>
                </a:solidFill>
                <a:latin typeface="맑은 고딕"/>
              </a:rPr>
              <a:t>Alarm</a:t>
            </a:r>
          </a:p>
        </p:txBody>
      </p:sp>
      <p:sp>
        <p:nvSpPr>
          <p:cNvPr id="31" name="TextBox 30"/>
          <p:cNvSpPr txBox="1"/>
          <p:nvPr/>
        </p:nvSpPr>
        <p:spPr>
          <a:xfrm>
            <a:off x="10003536" y="2852928"/>
            <a:ext cx="2039112" cy="731520"/>
          </a:xfrm>
          <a:prstGeom prst="rect">
            <a:avLst/>
          </a:prstGeom>
          <a:noFill/>
        </p:spPr>
        <p:txBody>
          <a:bodyPr wrap="square" lIns="45720" rIns="45720" tIns="18288" bIns="18288" anchor="t">
            <a:spAutoFit/>
          </a:bodyPr>
          <a:lstStyle/>
          <a:p>
            <a:pPr algn="ctr"/>
            <a:r>
              <a:rPr sz="1200" b="0">
                <a:solidFill>
                  <a:srgbClr val="333333"/>
                </a:solidFill>
                <a:latin typeface="맑은 고딕"/>
              </a:rPr>
              <a:t>임계값 + n8n /</a:t>
            </a:r>
          </a:p>
          <a:p>
            <a:pPr algn="ctr"/>
            <a:r>
              <a:rPr sz="1200" b="0">
                <a:solidFill>
                  <a:srgbClr val="333333"/>
                </a:solidFill>
                <a:latin typeface="맑은 고딕"/>
              </a:rPr>
              <a:t>Gmail 통보</a:t>
            </a:r>
          </a:p>
        </p:txBody>
      </p:sp>
      <p:sp>
        <p:nvSpPr>
          <p:cNvPr id="32" name="Rounded Rectangle 31"/>
          <p:cNvSpPr/>
          <p:nvPr/>
        </p:nvSpPr>
        <p:spPr>
          <a:xfrm>
            <a:off x="548640" y="4023360"/>
            <a:ext cx="5532120" cy="2286000"/>
          </a:xfrm>
          <a:prstGeom prst="roundRect">
            <a:avLst/>
          </a:prstGeom>
          <a:solidFill>
            <a:srgbClr val="FAF6EC"/>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160520"/>
            <a:ext cx="553212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실시간 트렌드  +  CSV 리포트 자동화</a:t>
            </a:r>
          </a:p>
        </p:txBody>
      </p:sp>
      <p:sp>
        <p:nvSpPr>
          <p:cNvPr id="34" name="TextBox 33"/>
          <p:cNvSpPr txBox="1"/>
          <p:nvPr/>
        </p:nvSpPr>
        <p:spPr>
          <a:xfrm>
            <a:off x="777240" y="4617720"/>
            <a:ext cx="5166360" cy="1645920"/>
          </a:xfrm>
          <a:prstGeom prst="rect">
            <a:avLst/>
          </a:prstGeom>
          <a:noFill/>
        </p:spPr>
        <p:txBody>
          <a:bodyPr wrap="square" lIns="45720" rIns="45720" tIns="18288" bIns="18288" anchor="t">
            <a:spAutoFit/>
          </a:bodyPr>
          <a:lstStyle/>
          <a:p>
            <a:pPr algn="l"/>
            <a:r>
              <a:rPr sz="1200" b="0">
                <a:solidFill>
                  <a:srgbClr val="333333"/>
                </a:solidFill>
                <a:latin typeface="맑은 고딕"/>
              </a:rPr>
              <a:t>●  실시간 두께 데이터 트렌드 그래프 — 표준 컴포넌트</a:t>
            </a:r>
          </a:p>
          <a:p>
            <a:pPr algn="l"/>
            <a:r>
              <a:rPr sz="1200" b="0">
                <a:solidFill>
                  <a:srgbClr val="333333"/>
                </a:solidFill>
                <a:latin typeface="맑은 고딕"/>
              </a:rPr>
              <a:t>●  측정 완료 후 지정 양식 엑셀(CSV) 자동 출력</a:t>
            </a:r>
          </a:p>
          <a:p>
            <a:pPr algn="l"/>
            <a:r>
              <a:rPr sz="1200" b="0">
                <a:solidFill>
                  <a:srgbClr val="333333"/>
                </a:solidFill>
                <a:latin typeface="맑은 고딕"/>
              </a:rPr>
              <a:t>●  Historian 기반 품질 트레이스빌리티 보고서</a:t>
            </a:r>
          </a:p>
          <a:p>
            <a:pPr algn="l"/>
            <a:r>
              <a:rPr sz="1200" b="0">
                <a:solidFill>
                  <a:srgbClr val="333333"/>
                </a:solidFill>
                <a:latin typeface="맑은 고딕"/>
              </a:rPr>
              <a:t>●  한국기계 공장자동화 협력 적용 사례 검증</a:t>
            </a:r>
          </a:p>
          <a:p>
            <a:pPr algn="l"/>
            <a:r>
              <a:rPr sz="1200" b="0">
                <a:solidFill>
                  <a:srgbClr val="333333"/>
                </a:solidFill>
                <a:latin typeface="맑은 고딕"/>
              </a:rPr>
              <a:t>●  분체 / 파쇄 / 혼합 산업 모니터링 운영</a:t>
            </a:r>
          </a:p>
        </p:txBody>
      </p:sp>
      <p:sp>
        <p:nvSpPr>
          <p:cNvPr id="35" name="Rounded Rectangle 34"/>
          <p:cNvSpPr/>
          <p:nvPr/>
        </p:nvSpPr>
        <p:spPr>
          <a:xfrm>
            <a:off x="6355080" y="4023360"/>
            <a:ext cx="5532120" cy="22860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4160520"/>
            <a:ext cx="553212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상용 SCADA 1주 적응 가능</a:t>
            </a:r>
          </a:p>
        </p:txBody>
      </p:sp>
      <p:sp>
        <p:nvSpPr>
          <p:cNvPr id="37" name="TextBox 36"/>
          <p:cNvSpPr txBox="1"/>
          <p:nvPr/>
        </p:nvSpPr>
        <p:spPr>
          <a:xfrm>
            <a:off x="6583680" y="4617720"/>
            <a:ext cx="5166360" cy="1645920"/>
          </a:xfrm>
          <a:prstGeom prst="rect">
            <a:avLst/>
          </a:prstGeom>
          <a:noFill/>
        </p:spPr>
        <p:txBody>
          <a:bodyPr wrap="square" lIns="45720" rIns="45720" tIns="18288" bIns="18288" anchor="t">
            <a:spAutoFit/>
          </a:bodyPr>
          <a:lstStyle/>
          <a:p>
            <a:pPr algn="l"/>
            <a:r>
              <a:rPr sz="1200" b="0">
                <a:solidFill>
                  <a:srgbClr val="333333"/>
                </a:solidFill>
                <a:latin typeface="맑은 고딕"/>
              </a:rPr>
              <a:t>●  Cimon Ultimate Access / iX Developer / WinCC</a:t>
            </a:r>
          </a:p>
          <a:p>
            <a:pPr algn="l"/>
            <a:r>
              <a:rPr sz="1200" b="0">
                <a:solidFill>
                  <a:srgbClr val="333333"/>
                </a:solidFill>
                <a:latin typeface="맑은 고딕"/>
              </a:rPr>
              <a:t>●  표준 인터페이스 — OPC UA / Modbus TCP / SQL</a:t>
            </a:r>
          </a:p>
          <a:p>
            <a:pPr algn="l"/>
            <a:r>
              <a:rPr sz="1200" b="0">
                <a:solidFill>
                  <a:srgbClr val="333333"/>
                </a:solidFill>
                <a:latin typeface="맑은 고딕"/>
              </a:rPr>
              <a:t>●  5요소 자체 구현 자산 → 상용 매핑 1:1</a:t>
            </a:r>
          </a:p>
          <a:p>
            <a:pPr algn="l"/>
            <a:r>
              <a:rPr sz="1200" b="0">
                <a:solidFill>
                  <a:srgbClr val="333333"/>
                </a:solidFill>
                <a:latin typeface="맑은 고딕"/>
              </a:rPr>
              <a:t>●  XG5000 + Cimon (LS 스택) 즉시 대응</a:t>
            </a:r>
          </a:p>
          <a:p>
            <a:pPr algn="l"/>
            <a:r>
              <a:rPr sz="1200" b="0">
                <a:solidFill>
                  <a:srgbClr val="333333"/>
                </a:solidFill>
                <a:latin typeface="맑은 고딕"/>
              </a:rPr>
              <a:t>●  선호 플랫폼 확정 시 사전 학습 + 라이선스 산정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09 / 10  ·  비용 분리 + 3-Plan</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2,000만원 인건비 Fix  +  3-Plan 역제안</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자재비 TCO 투명 안내 + 현실적 제어기기 역제안 (매니저 요구 3순위)</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057400"/>
            <a:ext cx="11064240" cy="685800"/>
          </a:xfrm>
          <a:prstGeom prst="roundRect">
            <a:avLst/>
          </a:prstGeom>
          <a:solidFill>
            <a:srgbClr val="102A4C"/>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48840"/>
            <a:ext cx="10972800" cy="411480"/>
          </a:xfrm>
          <a:prstGeom prst="rect">
            <a:avLst/>
          </a:prstGeom>
          <a:noFill/>
        </p:spPr>
        <p:txBody>
          <a:bodyPr wrap="square" lIns="45720" rIns="45720" tIns="18288" bIns="18288" anchor="t">
            <a:spAutoFit/>
          </a:bodyPr>
          <a:lstStyle/>
          <a:p>
            <a:pPr algn="ctr"/>
            <a:r>
              <a:rPr sz="1500" b="1">
                <a:solidFill>
                  <a:srgbClr val="FFFFFF"/>
                </a:solidFill>
                <a:latin typeface="맑은 고딕"/>
              </a:rPr>
              <a:t>인건비 / 개발비  =  20,000,000원  (Fix)   ·   자재비 (BOM) + SCADA 라이선스  =  별도 (실비)</a:t>
            </a:r>
          </a:p>
        </p:txBody>
      </p:sp>
      <p:sp>
        <p:nvSpPr>
          <p:cNvPr id="14" name="TextBox 13"/>
          <p:cNvSpPr txBox="1"/>
          <p:nvPr/>
        </p:nvSpPr>
        <p:spPr>
          <a:xfrm>
            <a:off x="777240" y="2441448"/>
            <a:ext cx="10972800" cy="274320"/>
          </a:xfrm>
          <a:prstGeom prst="rect">
            <a:avLst/>
          </a:prstGeom>
          <a:noFill/>
        </p:spPr>
        <p:txBody>
          <a:bodyPr wrap="square" lIns="45720" rIns="45720" tIns="18288" bIns="18288" anchor="t">
            <a:spAutoFit/>
          </a:bodyPr>
          <a:lstStyle/>
          <a:p>
            <a:pPr algn="ctr"/>
            <a:r>
              <a:rPr sz="1100" b="0">
                <a:solidFill>
                  <a:srgbClr val="FAF6EC"/>
                </a:solidFill>
                <a:latin typeface="맑은 고딕"/>
              </a:rPr>
              <a:t>RFP 명시 조건과 동일 — 총소유비용(TCO) 명확화로 사후 분쟁 차단</a:t>
            </a:r>
          </a:p>
        </p:txBody>
      </p:sp>
      <p:sp>
        <p:nvSpPr>
          <p:cNvPr id="15" name="Rounded Rectangle 14"/>
          <p:cNvSpPr/>
          <p:nvPr/>
        </p:nvSpPr>
        <p:spPr>
          <a:xfrm>
            <a:off x="548640" y="2971800"/>
            <a:ext cx="3611880" cy="32004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971800"/>
            <a:ext cx="3611880" cy="50292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044952"/>
            <a:ext cx="3337560" cy="365760"/>
          </a:xfrm>
          <a:prstGeom prst="rect">
            <a:avLst/>
          </a:prstGeom>
          <a:noFill/>
        </p:spPr>
        <p:txBody>
          <a:bodyPr wrap="square" lIns="45720" rIns="45720" tIns="18288" bIns="18288" anchor="t">
            <a:spAutoFit/>
          </a:bodyPr>
          <a:lstStyle/>
          <a:p>
            <a:pPr algn="l"/>
            <a:r>
              <a:rPr sz="1300" b="1">
                <a:solidFill>
                  <a:srgbClr val="FFFFFF"/>
                </a:solidFill>
                <a:latin typeface="맑은 고딕"/>
              </a:rPr>
              <a:t>Plan A</a:t>
            </a:r>
          </a:p>
        </p:txBody>
      </p:sp>
      <p:sp>
        <p:nvSpPr>
          <p:cNvPr id="18" name="TextBox 17"/>
          <p:cNvSpPr txBox="1"/>
          <p:nvPr/>
        </p:nvSpPr>
        <p:spPr>
          <a:xfrm>
            <a:off x="685800" y="3611880"/>
            <a:ext cx="333756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미쓰비시 (선호 1순위)</a:t>
            </a:r>
          </a:p>
        </p:txBody>
      </p:sp>
      <p:sp>
        <p:nvSpPr>
          <p:cNvPr id="19" name="TextBox 18"/>
          <p:cNvSpPr txBox="1"/>
          <p:nvPr/>
        </p:nvSpPr>
        <p:spPr>
          <a:xfrm>
            <a:off x="685800" y="4069080"/>
            <a:ext cx="3337560" cy="640080"/>
          </a:xfrm>
          <a:prstGeom prst="rect">
            <a:avLst/>
          </a:prstGeom>
          <a:noFill/>
        </p:spPr>
        <p:txBody>
          <a:bodyPr wrap="square" lIns="45720" rIns="45720" tIns="18288" bIns="18288" anchor="t">
            <a:spAutoFit/>
          </a:bodyPr>
          <a:lstStyle/>
          <a:p>
            <a:pPr algn="l"/>
            <a:r>
              <a:rPr sz="1100" b="0">
                <a:solidFill>
                  <a:srgbClr val="333333"/>
                </a:solidFill>
                <a:latin typeface="맑은 고딕"/>
              </a:rPr>
              <a:t>PLC : Mitsubishi FX5 / Q</a:t>
            </a:r>
          </a:p>
          <a:p>
            <a:pPr algn="l"/>
            <a:r>
              <a:rPr sz="1100" b="0">
                <a:solidFill>
                  <a:srgbClr val="333333"/>
                </a:solidFill>
                <a:latin typeface="맑은 고딕"/>
              </a:rPr>
              <a:t>SCADA : GT Designer3</a:t>
            </a:r>
          </a:p>
        </p:txBody>
      </p:sp>
      <p:sp>
        <p:nvSpPr>
          <p:cNvPr id="20" name="TextBox 19"/>
          <p:cNvSpPr txBox="1"/>
          <p:nvPr/>
        </p:nvSpPr>
        <p:spPr>
          <a:xfrm>
            <a:off x="685800" y="4800600"/>
            <a:ext cx="3337560" cy="1005840"/>
          </a:xfrm>
          <a:prstGeom prst="rect">
            <a:avLst/>
          </a:prstGeom>
          <a:noFill/>
        </p:spPr>
        <p:txBody>
          <a:bodyPr wrap="square" lIns="45720" rIns="45720" tIns="18288" bIns="18288" anchor="t">
            <a:spAutoFit/>
          </a:bodyPr>
          <a:lstStyle/>
          <a:p>
            <a:pPr algn="l"/>
            <a:r>
              <a:rPr sz="1100" b="0">
                <a:solidFill>
                  <a:srgbClr val="333333"/>
                </a:solidFill>
                <a:latin typeface="맑은 고딕"/>
              </a:rPr>
              <a:t>● 클라이언트 선호 1순위</a:t>
            </a:r>
          </a:p>
          <a:p>
            <a:pPr algn="l"/>
            <a:r>
              <a:rPr sz="1100" b="0">
                <a:solidFill>
                  <a:srgbClr val="333333"/>
                </a:solidFill>
                <a:latin typeface="맑은 고딕"/>
              </a:rPr>
              <a:t>● 안정성 / 호환성 최우선</a:t>
            </a:r>
          </a:p>
          <a:p>
            <a:pPr algn="l"/>
            <a:r>
              <a:rPr sz="1100" b="0">
                <a:solidFill>
                  <a:srgbClr val="333333"/>
                </a:solidFill>
                <a:latin typeface="맑은 고딕"/>
              </a:rPr>
              <a:t>● 표준 미쓰비시 생태계</a:t>
            </a:r>
          </a:p>
        </p:txBody>
      </p:sp>
      <p:sp>
        <p:nvSpPr>
          <p:cNvPr id="21" name="Rounded Rectangle 20"/>
          <p:cNvSpPr/>
          <p:nvPr/>
        </p:nvSpPr>
        <p:spPr>
          <a:xfrm>
            <a:off x="685800" y="5623560"/>
            <a:ext cx="3337560" cy="365760"/>
          </a:xfrm>
          <a:prstGeom prst="round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100" b="1">
                <a:solidFill>
                  <a:srgbClr val="FFFFFF"/>
                </a:solidFill>
                <a:latin typeface="맑은 고딕"/>
              </a:rPr>
              <a:t>자재비 + 라이선스 별도 산출</a:t>
            </a:r>
          </a:p>
        </p:txBody>
      </p:sp>
      <p:sp>
        <p:nvSpPr>
          <p:cNvPr id="22" name="Rounded Rectangle 21"/>
          <p:cNvSpPr/>
          <p:nvPr/>
        </p:nvSpPr>
        <p:spPr>
          <a:xfrm>
            <a:off x="4343400" y="2971800"/>
            <a:ext cx="3611880" cy="32004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2971800"/>
            <a:ext cx="3611880" cy="5029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3044952"/>
            <a:ext cx="3337560" cy="365760"/>
          </a:xfrm>
          <a:prstGeom prst="rect">
            <a:avLst/>
          </a:prstGeom>
          <a:noFill/>
        </p:spPr>
        <p:txBody>
          <a:bodyPr wrap="square" lIns="45720" rIns="45720" tIns="18288" bIns="18288" anchor="t">
            <a:spAutoFit/>
          </a:bodyPr>
          <a:lstStyle/>
          <a:p>
            <a:pPr algn="l"/>
            <a:r>
              <a:rPr sz="1300" b="1">
                <a:solidFill>
                  <a:srgbClr val="FFFFFF"/>
                </a:solidFill>
                <a:latin typeface="맑은 고딕"/>
              </a:rPr>
              <a:t>Plan B</a:t>
            </a:r>
          </a:p>
        </p:txBody>
      </p:sp>
      <p:sp>
        <p:nvSpPr>
          <p:cNvPr id="25" name="TextBox 24"/>
          <p:cNvSpPr txBox="1"/>
          <p:nvPr/>
        </p:nvSpPr>
        <p:spPr>
          <a:xfrm>
            <a:off x="4480560" y="3611880"/>
            <a:ext cx="333756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LS XGT + Cimon (가성비)</a:t>
            </a:r>
          </a:p>
        </p:txBody>
      </p:sp>
      <p:sp>
        <p:nvSpPr>
          <p:cNvPr id="26" name="TextBox 25"/>
          <p:cNvSpPr txBox="1"/>
          <p:nvPr/>
        </p:nvSpPr>
        <p:spPr>
          <a:xfrm>
            <a:off x="4480560" y="4069080"/>
            <a:ext cx="3337560" cy="640080"/>
          </a:xfrm>
          <a:prstGeom prst="rect">
            <a:avLst/>
          </a:prstGeom>
          <a:noFill/>
        </p:spPr>
        <p:txBody>
          <a:bodyPr wrap="square" lIns="45720" rIns="45720" tIns="18288" bIns="18288" anchor="t">
            <a:spAutoFit/>
          </a:bodyPr>
          <a:lstStyle/>
          <a:p>
            <a:pPr algn="l"/>
            <a:r>
              <a:rPr sz="1100" b="0">
                <a:solidFill>
                  <a:srgbClr val="333333"/>
                </a:solidFill>
                <a:latin typeface="맑은 고딕"/>
              </a:rPr>
              <a:t>PLC : LS XGT (XGB / XGI)</a:t>
            </a:r>
          </a:p>
          <a:p>
            <a:pPr algn="l"/>
            <a:r>
              <a:rPr sz="1100" b="0">
                <a:solidFill>
                  <a:srgbClr val="333333"/>
                </a:solidFill>
                <a:latin typeface="맑은 고딕"/>
              </a:rPr>
              <a:t>SCADA : Cimon Ultimate</a:t>
            </a:r>
          </a:p>
        </p:txBody>
      </p:sp>
      <p:sp>
        <p:nvSpPr>
          <p:cNvPr id="27" name="TextBox 26"/>
          <p:cNvSpPr txBox="1"/>
          <p:nvPr/>
        </p:nvSpPr>
        <p:spPr>
          <a:xfrm>
            <a:off x="4480560" y="4800600"/>
            <a:ext cx="3337560" cy="1005840"/>
          </a:xfrm>
          <a:prstGeom prst="rect">
            <a:avLst/>
          </a:prstGeom>
          <a:noFill/>
        </p:spPr>
        <p:txBody>
          <a:bodyPr wrap="square" lIns="45720" rIns="45720" tIns="18288" bIns="18288" anchor="t">
            <a:spAutoFit/>
          </a:bodyPr>
          <a:lstStyle/>
          <a:p>
            <a:pPr algn="l"/>
            <a:r>
              <a:rPr sz="1100" b="0">
                <a:solidFill>
                  <a:srgbClr val="333333"/>
                </a:solidFill>
                <a:latin typeface="맑은 고딕"/>
              </a:rPr>
              <a:t>● 동등 기능 / 국산 스택</a:t>
            </a:r>
          </a:p>
          <a:p>
            <a:pPr algn="l"/>
            <a:r>
              <a:rPr sz="1100" b="0">
                <a:solidFill>
                  <a:srgbClr val="333333"/>
                </a:solidFill>
                <a:latin typeface="맑은 고딕"/>
              </a:rPr>
              <a:t>● 자재비 15~25% 절감</a:t>
            </a:r>
          </a:p>
          <a:p>
            <a:pPr algn="l"/>
            <a:r>
              <a:rPr sz="1100" b="0">
                <a:solidFill>
                  <a:srgbClr val="333333"/>
                </a:solidFill>
                <a:latin typeface="맑은 고딕"/>
              </a:rPr>
              <a:t>● 사후 유지보수 국내 우수</a:t>
            </a:r>
          </a:p>
        </p:txBody>
      </p:sp>
      <p:sp>
        <p:nvSpPr>
          <p:cNvPr id="28" name="Rounded Rectangle 27"/>
          <p:cNvSpPr/>
          <p:nvPr/>
        </p:nvSpPr>
        <p:spPr>
          <a:xfrm>
            <a:off x="4480560" y="5623560"/>
            <a:ext cx="3337560" cy="365760"/>
          </a:xfrm>
          <a:prstGeom prst="roundRect">
            <a:avLst/>
          </a:prstGeom>
          <a:solidFill>
            <a:srgbClr val="102A4C"/>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100" b="1">
                <a:solidFill>
                  <a:srgbClr val="FFFFFF"/>
                </a:solidFill>
                <a:latin typeface="맑은 고딕"/>
              </a:rPr>
              <a:t>Plan A 대비 ↓ 15~25%</a:t>
            </a:r>
          </a:p>
        </p:txBody>
      </p:sp>
      <p:sp>
        <p:nvSpPr>
          <p:cNvPr id="29" name="Rounded Rectangle 28"/>
          <p:cNvSpPr/>
          <p:nvPr/>
        </p:nvSpPr>
        <p:spPr>
          <a:xfrm>
            <a:off x="8138160" y="2971800"/>
            <a:ext cx="3611880" cy="320040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60" y="2971800"/>
            <a:ext cx="3611880" cy="5029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3044952"/>
            <a:ext cx="3337560" cy="365760"/>
          </a:xfrm>
          <a:prstGeom prst="rect">
            <a:avLst/>
          </a:prstGeom>
          <a:noFill/>
        </p:spPr>
        <p:txBody>
          <a:bodyPr wrap="square" lIns="45720" rIns="45720" tIns="18288" bIns="18288" anchor="t">
            <a:spAutoFit/>
          </a:bodyPr>
          <a:lstStyle/>
          <a:p>
            <a:pPr algn="l"/>
            <a:r>
              <a:rPr sz="1300" b="1">
                <a:solidFill>
                  <a:srgbClr val="FFFFFF"/>
                </a:solidFill>
                <a:latin typeface="맑은 고딕"/>
              </a:rPr>
              <a:t>Plan C</a:t>
            </a:r>
          </a:p>
        </p:txBody>
      </p:sp>
      <p:sp>
        <p:nvSpPr>
          <p:cNvPr id="32" name="TextBox 31"/>
          <p:cNvSpPr txBox="1"/>
          <p:nvPr/>
        </p:nvSpPr>
        <p:spPr>
          <a:xfrm>
            <a:off x="8275320" y="3611880"/>
            <a:ext cx="3337560" cy="457200"/>
          </a:xfrm>
          <a:prstGeom prst="rect">
            <a:avLst/>
          </a:prstGeom>
          <a:noFill/>
        </p:spPr>
        <p:txBody>
          <a:bodyPr wrap="square" lIns="45720" rIns="45720" tIns="18288" bIns="18288" anchor="t">
            <a:spAutoFit/>
          </a:bodyPr>
          <a:lstStyle/>
          <a:p>
            <a:pPr algn="l"/>
            <a:r>
              <a:rPr sz="1500" b="1">
                <a:solidFill>
                  <a:srgbClr val="102A4C"/>
                </a:solidFill>
                <a:latin typeface="맑은 고딕"/>
              </a:rPr>
              <a:t>자체 솔루션 (옵션)</a:t>
            </a:r>
          </a:p>
        </p:txBody>
      </p:sp>
      <p:sp>
        <p:nvSpPr>
          <p:cNvPr id="33" name="TextBox 32"/>
          <p:cNvSpPr txBox="1"/>
          <p:nvPr/>
        </p:nvSpPr>
        <p:spPr>
          <a:xfrm>
            <a:off x="8275320" y="4069080"/>
            <a:ext cx="3337560" cy="640080"/>
          </a:xfrm>
          <a:prstGeom prst="rect">
            <a:avLst/>
          </a:prstGeom>
          <a:noFill/>
        </p:spPr>
        <p:txBody>
          <a:bodyPr wrap="square" lIns="45720" rIns="45720" tIns="18288" bIns="18288" anchor="t">
            <a:spAutoFit/>
          </a:bodyPr>
          <a:lstStyle/>
          <a:p>
            <a:pPr algn="l"/>
            <a:r>
              <a:rPr sz="1100" b="0">
                <a:solidFill>
                  <a:srgbClr val="333333"/>
                </a:solidFill>
                <a:latin typeface="맑은 고딕"/>
              </a:rPr>
              <a:t>PLC : LS XGT / Mitsubishi</a:t>
            </a:r>
          </a:p>
          <a:p>
            <a:pPr algn="l"/>
            <a:r>
              <a:rPr sz="1100" b="0">
                <a:solidFill>
                  <a:srgbClr val="333333"/>
                </a:solidFill>
                <a:latin typeface="맑은 고딕"/>
              </a:rPr>
              <a:t>SCADA : UTTEC 자체 (Three.js + DB)</a:t>
            </a:r>
          </a:p>
        </p:txBody>
      </p:sp>
      <p:sp>
        <p:nvSpPr>
          <p:cNvPr id="34" name="TextBox 33"/>
          <p:cNvSpPr txBox="1"/>
          <p:nvPr/>
        </p:nvSpPr>
        <p:spPr>
          <a:xfrm>
            <a:off x="8275320" y="4800600"/>
            <a:ext cx="3337560" cy="1005840"/>
          </a:xfrm>
          <a:prstGeom prst="rect">
            <a:avLst/>
          </a:prstGeom>
          <a:noFill/>
        </p:spPr>
        <p:txBody>
          <a:bodyPr wrap="square" lIns="45720" rIns="45720" tIns="18288" bIns="18288" anchor="t">
            <a:spAutoFit/>
          </a:bodyPr>
          <a:lstStyle/>
          <a:p>
            <a:pPr algn="l"/>
            <a:r>
              <a:rPr sz="1100" b="0">
                <a:solidFill>
                  <a:srgbClr val="333333"/>
                </a:solidFill>
                <a:latin typeface="맑은 고딕"/>
              </a:rPr>
              <a:t>● 상용 SCADA 라이선스 절감</a:t>
            </a:r>
          </a:p>
          <a:p>
            <a:pPr algn="l"/>
            <a:r>
              <a:rPr sz="1100" b="0">
                <a:solidFill>
                  <a:srgbClr val="333333"/>
                </a:solidFill>
                <a:latin typeface="맑은 고딕"/>
              </a:rPr>
              <a:t>● 5요소 자체 구현 자산 활용</a:t>
            </a:r>
          </a:p>
          <a:p>
            <a:pPr algn="l"/>
            <a:r>
              <a:rPr sz="1100" b="0">
                <a:solidFill>
                  <a:srgbClr val="333333"/>
                </a:solidFill>
                <a:latin typeface="맑은 고딕"/>
              </a:rPr>
              <a:t>● 미선정 시 부분 옵션 가능</a:t>
            </a:r>
          </a:p>
        </p:txBody>
      </p:sp>
      <p:sp>
        <p:nvSpPr>
          <p:cNvPr id="35" name="Rounded Rectangle 34"/>
          <p:cNvSpPr/>
          <p:nvPr/>
        </p:nvSpPr>
        <p:spPr>
          <a:xfrm>
            <a:off x="8275320" y="5623560"/>
            <a:ext cx="3337560" cy="365760"/>
          </a:xfrm>
          <a:prstGeom prst="roundRect">
            <a:avLst/>
          </a:prstGeom>
          <a:solidFill>
            <a:srgbClr val="102A4C"/>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100" b="1">
                <a:solidFill>
                  <a:srgbClr val="FFFFFF"/>
                </a:solidFill>
                <a:latin typeface="맑은 고딕"/>
              </a:rPr>
              <a:t>Plan A 대비 ↓ 40~55%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45720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동아정밀공업 귀하 — PET 두께 측정기 2호기 제안</a:t>
            </a:r>
          </a:p>
        </p:txBody>
      </p:sp>
      <p:sp>
        <p:nvSpPr>
          <p:cNvPr id="5" name="TextBox 4"/>
          <p:cNvSpPr txBox="1"/>
          <p:nvPr/>
        </p:nvSpPr>
        <p:spPr>
          <a:xfrm>
            <a:off x="10789920" y="256032"/>
            <a:ext cx="1188720" cy="365760"/>
          </a:xfrm>
          <a:prstGeom prst="rect">
            <a:avLst/>
          </a:prstGeom>
          <a:noFill/>
        </p:spPr>
        <p:txBody>
          <a:bodyPr wrap="square" lIns="45720" rIns="45720" tIns="18288" bIns="18288" anchor="t">
            <a:spAutoFit/>
          </a:bodyPr>
          <a:lstStyle/>
          <a:p>
            <a:pPr algn="r"/>
            <a:r>
              <a:rPr sz="900" b="0">
                <a:solidFill>
                  <a:srgbClr val="888888"/>
                </a:solidFill>
                <a:latin typeface="맑은 고딕"/>
              </a:rPr>
              <a:t>10 / 10  ·  90일 일정 + 약속</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FFFFF"/>
                </a:solidFill>
                <a:latin typeface="맑은 고딕"/>
              </a:rPr>
              <a:t>2026-06-03</a:t>
            </a:r>
          </a:p>
        </p:txBody>
      </p:sp>
      <p:sp>
        <p:nvSpPr>
          <p:cNvPr id="9" name="TextBox 8"/>
          <p:cNvSpPr txBox="1"/>
          <p:nvPr/>
        </p:nvSpPr>
        <p:spPr>
          <a:xfrm>
            <a:off x="548640" y="868680"/>
            <a:ext cx="10972800" cy="640080"/>
          </a:xfrm>
          <a:prstGeom prst="rect">
            <a:avLst/>
          </a:prstGeom>
          <a:noFill/>
        </p:spPr>
        <p:txBody>
          <a:bodyPr wrap="square" lIns="45720" rIns="45720" tIns="18288" bIns="18288" anchor="t">
            <a:spAutoFit/>
          </a:bodyPr>
          <a:lstStyle/>
          <a:p>
            <a:pPr algn="l"/>
            <a:r>
              <a:rPr sz="3200" b="1">
                <a:solidFill>
                  <a:srgbClr val="102A4C"/>
                </a:solidFill>
                <a:latin typeface="맑은 고딕"/>
              </a:rPr>
              <a:t>90일 4-Phase 일정  +  세 가지 약속</a:t>
            </a:r>
          </a:p>
        </p:txBody>
      </p:sp>
      <p:sp>
        <p:nvSpPr>
          <p:cNvPr id="10" name="TextBox 9"/>
          <p:cNvSpPr txBox="1"/>
          <p:nvPr/>
        </p:nvSpPr>
        <p:spPr>
          <a:xfrm>
            <a:off x="548640" y="1481328"/>
            <a:ext cx="10972800" cy="365760"/>
          </a:xfrm>
          <a:prstGeom prst="rect">
            <a:avLst/>
          </a:prstGeom>
          <a:noFill/>
        </p:spPr>
        <p:txBody>
          <a:bodyPr wrap="square" lIns="45720" rIns="45720" tIns="18288" bIns="18288" anchor="t">
            <a:spAutoFit/>
          </a:bodyPr>
          <a:lstStyle/>
          <a:p>
            <a:pPr algn="l"/>
            <a:r>
              <a:rPr sz="1500" b="0">
                <a:solidFill>
                  <a:srgbClr val="888888"/>
                </a:solidFill>
                <a:latin typeface="맑은 고딕"/>
              </a:rPr>
              <a:t>현장 분석 → 개발 → 시운전 → 안정화 / 인수인계</a:t>
            </a:r>
          </a:p>
        </p:txBody>
      </p:sp>
      <p:sp>
        <p:nvSpPr>
          <p:cNvPr id="11" name="Rectangle 10"/>
          <p:cNvSpPr/>
          <p:nvPr/>
        </p:nvSpPr>
        <p:spPr>
          <a:xfrm>
            <a:off x="548640" y="1417320"/>
            <a:ext cx="731520" cy="45720"/>
          </a:xfrm>
          <a:prstGeom prst="rect">
            <a:avLst/>
          </a:prstGeom>
          <a:solidFill>
            <a:srgbClr val="F1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103120"/>
            <a:ext cx="2743200" cy="20116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103120"/>
            <a:ext cx="2743200" cy="4572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76272"/>
            <a:ext cx="2468880" cy="320040"/>
          </a:xfrm>
          <a:prstGeom prst="rect">
            <a:avLst/>
          </a:prstGeom>
          <a:noFill/>
        </p:spPr>
        <p:txBody>
          <a:bodyPr wrap="square" lIns="45720" rIns="45720" tIns="18288" bIns="18288" anchor="t">
            <a:spAutoFit/>
          </a:bodyPr>
          <a:lstStyle/>
          <a:p>
            <a:pPr algn="l"/>
            <a:r>
              <a:rPr sz="1200" b="1">
                <a:solidFill>
                  <a:srgbClr val="FFFFFF"/>
                </a:solidFill>
                <a:latin typeface="맑은 고딕"/>
              </a:rPr>
              <a:t>Phase 1  ·  1 ~ 10일</a:t>
            </a:r>
          </a:p>
        </p:txBody>
      </p:sp>
      <p:sp>
        <p:nvSpPr>
          <p:cNvPr id="15" name="TextBox 14"/>
          <p:cNvSpPr txBox="1"/>
          <p:nvPr/>
        </p:nvSpPr>
        <p:spPr>
          <a:xfrm>
            <a:off x="685800" y="2651760"/>
            <a:ext cx="2468880" cy="457200"/>
          </a:xfrm>
          <a:prstGeom prst="rect">
            <a:avLst/>
          </a:prstGeom>
          <a:noFill/>
        </p:spPr>
        <p:txBody>
          <a:bodyPr wrap="square" lIns="45720" rIns="45720" tIns="18288" bIns="18288" anchor="t">
            <a:spAutoFit/>
          </a:bodyPr>
          <a:lstStyle/>
          <a:p>
            <a:pPr algn="l"/>
            <a:r>
              <a:rPr sz="1400" b="1">
                <a:solidFill>
                  <a:srgbClr val="102A4C"/>
                </a:solidFill>
                <a:latin typeface="맑은 고딕"/>
              </a:rPr>
              <a:t>현장 분석 + 설계 1차</a:t>
            </a:r>
          </a:p>
        </p:txBody>
      </p:sp>
      <p:sp>
        <p:nvSpPr>
          <p:cNvPr id="16" name="TextBox 15"/>
          <p:cNvSpPr txBox="1"/>
          <p:nvPr/>
        </p:nvSpPr>
        <p:spPr>
          <a:xfrm>
            <a:off x="685800" y="3108960"/>
            <a:ext cx="2468880" cy="914400"/>
          </a:xfrm>
          <a:prstGeom prst="rect">
            <a:avLst/>
          </a:prstGeom>
          <a:noFill/>
        </p:spPr>
        <p:txBody>
          <a:bodyPr wrap="square" lIns="45720" rIns="45720" tIns="18288" bIns="18288" anchor="t">
            <a:spAutoFit/>
          </a:bodyPr>
          <a:lstStyle/>
          <a:p>
            <a:pPr algn="l"/>
            <a:r>
              <a:rPr sz="1100" b="0">
                <a:solidFill>
                  <a:srgbClr val="333333"/>
                </a:solidFill>
                <a:latin typeface="맑은 고딕"/>
              </a:rPr>
              <a:t>현장 1~2회</a:t>
            </a:r>
          </a:p>
          <a:p>
            <a:pPr algn="l"/>
            <a:r>
              <a:rPr sz="1100" b="0">
                <a:solidFill>
                  <a:srgbClr val="333333"/>
                </a:solidFill>
                <a:latin typeface="맑은 고딕"/>
              </a:rPr>
              <a:t>1호기 분석 / 측정 사양</a:t>
            </a:r>
          </a:p>
          <a:p>
            <a:pPr algn="l"/>
            <a:r>
              <a:rPr sz="1100" b="0">
                <a:solidFill>
                  <a:srgbClr val="333333"/>
                </a:solidFill>
                <a:latin typeface="맑은 고딕"/>
              </a:rPr>
              <a:t>플랫폼 선정 / 배선도 1차</a:t>
            </a:r>
          </a:p>
        </p:txBody>
      </p:sp>
      <p:sp>
        <p:nvSpPr>
          <p:cNvPr id="17" name="Rounded Rectangle 16"/>
          <p:cNvSpPr/>
          <p:nvPr/>
        </p:nvSpPr>
        <p:spPr>
          <a:xfrm>
            <a:off x="3410712" y="2103120"/>
            <a:ext cx="2743200" cy="20116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10712" y="2103120"/>
            <a:ext cx="2743200" cy="4572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47872" y="2176272"/>
            <a:ext cx="2468880" cy="320040"/>
          </a:xfrm>
          <a:prstGeom prst="rect">
            <a:avLst/>
          </a:prstGeom>
          <a:noFill/>
        </p:spPr>
        <p:txBody>
          <a:bodyPr wrap="square" lIns="45720" rIns="45720" tIns="18288" bIns="18288" anchor="t">
            <a:spAutoFit/>
          </a:bodyPr>
          <a:lstStyle/>
          <a:p>
            <a:pPr algn="l"/>
            <a:r>
              <a:rPr sz="1200" b="1">
                <a:solidFill>
                  <a:srgbClr val="FFFFFF"/>
                </a:solidFill>
                <a:latin typeface="맑은 고딕"/>
              </a:rPr>
              <a:t>Phase 2  ·  11 ~ 40일</a:t>
            </a:r>
          </a:p>
        </p:txBody>
      </p:sp>
      <p:sp>
        <p:nvSpPr>
          <p:cNvPr id="20" name="TextBox 19"/>
          <p:cNvSpPr txBox="1"/>
          <p:nvPr/>
        </p:nvSpPr>
        <p:spPr>
          <a:xfrm>
            <a:off x="3547872" y="2651760"/>
            <a:ext cx="2468880" cy="457200"/>
          </a:xfrm>
          <a:prstGeom prst="rect">
            <a:avLst/>
          </a:prstGeom>
          <a:noFill/>
        </p:spPr>
        <p:txBody>
          <a:bodyPr wrap="square" lIns="45720" rIns="45720" tIns="18288" bIns="18288" anchor="t">
            <a:spAutoFit/>
          </a:bodyPr>
          <a:lstStyle/>
          <a:p>
            <a:pPr algn="l"/>
            <a:r>
              <a:rPr sz="1400" b="1">
                <a:solidFill>
                  <a:srgbClr val="102A4C"/>
                </a:solidFill>
                <a:latin typeface="맑은 고딕"/>
              </a:rPr>
              <a:t>PLC + SCADA 1차 개발</a:t>
            </a:r>
          </a:p>
        </p:txBody>
      </p:sp>
      <p:sp>
        <p:nvSpPr>
          <p:cNvPr id="21" name="TextBox 20"/>
          <p:cNvSpPr txBox="1"/>
          <p:nvPr/>
        </p:nvSpPr>
        <p:spPr>
          <a:xfrm>
            <a:off x="3547872" y="3108960"/>
            <a:ext cx="2468880" cy="914400"/>
          </a:xfrm>
          <a:prstGeom prst="rect">
            <a:avLst/>
          </a:prstGeom>
          <a:noFill/>
        </p:spPr>
        <p:txBody>
          <a:bodyPr wrap="square" lIns="45720" rIns="45720" tIns="18288" bIns="18288" anchor="t">
            <a:spAutoFit/>
          </a:bodyPr>
          <a:lstStyle/>
          <a:p>
            <a:pPr algn="l"/>
            <a:r>
              <a:rPr sz="1100" b="0">
                <a:solidFill>
                  <a:srgbClr val="333333"/>
                </a:solidFill>
                <a:latin typeface="맑은 고딕"/>
              </a:rPr>
              <a:t>원격 개발</a:t>
            </a:r>
          </a:p>
          <a:p>
            <a:pPr algn="l"/>
            <a:r>
              <a:rPr sz="1100" b="0">
                <a:solidFill>
                  <a:srgbClr val="333333"/>
                </a:solidFill>
                <a:latin typeface="맑은 고딕"/>
              </a:rPr>
              <a:t>PLC + SCADA + Recipe</a:t>
            </a:r>
          </a:p>
          <a:p>
            <a:pPr algn="l"/>
            <a:r>
              <a:rPr sz="1100" b="0">
                <a:solidFill>
                  <a:srgbClr val="333333"/>
                </a:solidFill>
                <a:latin typeface="맑은 고딕"/>
              </a:rPr>
              <a:t>주 1회 화상 + 현장 2~3회</a:t>
            </a:r>
          </a:p>
        </p:txBody>
      </p:sp>
      <p:sp>
        <p:nvSpPr>
          <p:cNvPr id="22" name="Rounded Rectangle 21"/>
          <p:cNvSpPr/>
          <p:nvPr/>
        </p:nvSpPr>
        <p:spPr>
          <a:xfrm>
            <a:off x="6272784" y="2103120"/>
            <a:ext cx="2743200" cy="20116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72784" y="2103120"/>
            <a:ext cx="2743200" cy="45720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9944" y="2176272"/>
            <a:ext cx="2468880" cy="320040"/>
          </a:xfrm>
          <a:prstGeom prst="rect">
            <a:avLst/>
          </a:prstGeom>
          <a:noFill/>
        </p:spPr>
        <p:txBody>
          <a:bodyPr wrap="square" lIns="45720" rIns="45720" tIns="18288" bIns="18288" anchor="t">
            <a:spAutoFit/>
          </a:bodyPr>
          <a:lstStyle/>
          <a:p>
            <a:pPr algn="l"/>
            <a:r>
              <a:rPr sz="1200" b="1">
                <a:solidFill>
                  <a:srgbClr val="FFFFFF"/>
                </a:solidFill>
                <a:latin typeface="맑은 고딕"/>
              </a:rPr>
              <a:t>Phase 3  ·  41 ~ 70일</a:t>
            </a:r>
          </a:p>
        </p:txBody>
      </p:sp>
      <p:sp>
        <p:nvSpPr>
          <p:cNvPr id="25" name="TextBox 24"/>
          <p:cNvSpPr txBox="1"/>
          <p:nvPr/>
        </p:nvSpPr>
        <p:spPr>
          <a:xfrm>
            <a:off x="6409944" y="2651760"/>
            <a:ext cx="2468880" cy="457200"/>
          </a:xfrm>
          <a:prstGeom prst="rect">
            <a:avLst/>
          </a:prstGeom>
          <a:noFill/>
        </p:spPr>
        <p:txBody>
          <a:bodyPr wrap="square" lIns="45720" rIns="45720" tIns="18288" bIns="18288" anchor="t">
            <a:spAutoFit/>
          </a:bodyPr>
          <a:lstStyle/>
          <a:p>
            <a:pPr algn="l"/>
            <a:r>
              <a:rPr sz="1400" b="1">
                <a:solidFill>
                  <a:srgbClr val="102A4C"/>
                </a:solidFill>
                <a:latin typeface="맑은 고딕"/>
              </a:rPr>
              <a:t>전장 배선 + 시운전</a:t>
            </a:r>
          </a:p>
        </p:txBody>
      </p:sp>
      <p:sp>
        <p:nvSpPr>
          <p:cNvPr id="26" name="TextBox 25"/>
          <p:cNvSpPr txBox="1"/>
          <p:nvPr/>
        </p:nvSpPr>
        <p:spPr>
          <a:xfrm>
            <a:off x="6409944" y="3108960"/>
            <a:ext cx="2468880" cy="914400"/>
          </a:xfrm>
          <a:prstGeom prst="rect">
            <a:avLst/>
          </a:prstGeom>
          <a:noFill/>
        </p:spPr>
        <p:txBody>
          <a:bodyPr wrap="square" lIns="45720" rIns="45720" tIns="18288" bIns="18288" anchor="t">
            <a:spAutoFit/>
          </a:bodyPr>
          <a:lstStyle/>
          <a:p>
            <a:pPr algn="l"/>
            <a:r>
              <a:rPr sz="1100" b="0">
                <a:solidFill>
                  <a:srgbClr val="333333"/>
                </a:solidFill>
                <a:latin typeface="맑은 고딕"/>
              </a:rPr>
              <a:t>현장 집중 5~7회</a:t>
            </a:r>
          </a:p>
          <a:p>
            <a:pPr algn="l"/>
            <a:r>
              <a:rPr sz="1100" b="0">
                <a:solidFill>
                  <a:srgbClr val="333333"/>
                </a:solidFill>
                <a:latin typeface="맑은 고딕"/>
              </a:rPr>
              <a:t>패널 / 배선 / 캘리브레이션</a:t>
            </a:r>
          </a:p>
          <a:p>
            <a:pPr algn="l"/>
            <a:r>
              <a:rPr sz="1100" b="0">
                <a:solidFill>
                  <a:srgbClr val="333333"/>
                </a:solidFill>
                <a:latin typeface="맑은 고딕"/>
              </a:rPr>
              <a:t>1품종 → 다품종 확장</a:t>
            </a:r>
          </a:p>
        </p:txBody>
      </p:sp>
      <p:sp>
        <p:nvSpPr>
          <p:cNvPr id="27" name="Rounded Rectangle 26"/>
          <p:cNvSpPr/>
          <p:nvPr/>
        </p:nvSpPr>
        <p:spPr>
          <a:xfrm>
            <a:off x="9134856" y="2103120"/>
            <a:ext cx="2743200" cy="20116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34856" y="2103120"/>
            <a:ext cx="2743200" cy="4572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72016" y="2176272"/>
            <a:ext cx="2468880" cy="320040"/>
          </a:xfrm>
          <a:prstGeom prst="rect">
            <a:avLst/>
          </a:prstGeom>
          <a:noFill/>
        </p:spPr>
        <p:txBody>
          <a:bodyPr wrap="square" lIns="45720" rIns="45720" tIns="18288" bIns="18288" anchor="t">
            <a:spAutoFit/>
          </a:bodyPr>
          <a:lstStyle/>
          <a:p>
            <a:pPr algn="l"/>
            <a:r>
              <a:rPr sz="1200" b="1">
                <a:solidFill>
                  <a:srgbClr val="FFFFFF"/>
                </a:solidFill>
                <a:latin typeface="맑은 고딕"/>
              </a:rPr>
              <a:t>Phase 4  ·  71 ~ 90일</a:t>
            </a:r>
          </a:p>
        </p:txBody>
      </p:sp>
      <p:sp>
        <p:nvSpPr>
          <p:cNvPr id="30" name="TextBox 29"/>
          <p:cNvSpPr txBox="1"/>
          <p:nvPr/>
        </p:nvSpPr>
        <p:spPr>
          <a:xfrm>
            <a:off x="9272016" y="2651760"/>
            <a:ext cx="2468880" cy="457200"/>
          </a:xfrm>
          <a:prstGeom prst="rect">
            <a:avLst/>
          </a:prstGeom>
          <a:noFill/>
        </p:spPr>
        <p:txBody>
          <a:bodyPr wrap="square" lIns="45720" rIns="45720" tIns="18288" bIns="18288" anchor="t">
            <a:spAutoFit/>
          </a:bodyPr>
          <a:lstStyle/>
          <a:p>
            <a:pPr algn="l"/>
            <a:r>
              <a:rPr sz="1400" b="1">
                <a:solidFill>
                  <a:srgbClr val="102A4C"/>
                </a:solidFill>
                <a:latin typeface="맑은 고딕"/>
              </a:rPr>
              <a:t>안정화 + 인수인계</a:t>
            </a:r>
          </a:p>
        </p:txBody>
      </p:sp>
      <p:sp>
        <p:nvSpPr>
          <p:cNvPr id="31" name="TextBox 30"/>
          <p:cNvSpPr txBox="1"/>
          <p:nvPr/>
        </p:nvSpPr>
        <p:spPr>
          <a:xfrm>
            <a:off x="9272016" y="3108960"/>
            <a:ext cx="2468880" cy="914400"/>
          </a:xfrm>
          <a:prstGeom prst="rect">
            <a:avLst/>
          </a:prstGeom>
          <a:noFill/>
        </p:spPr>
        <p:txBody>
          <a:bodyPr wrap="square" lIns="45720" rIns="45720" tIns="18288" bIns="18288" anchor="t">
            <a:spAutoFit/>
          </a:bodyPr>
          <a:lstStyle/>
          <a:p>
            <a:pPr algn="l"/>
            <a:r>
              <a:rPr sz="1100" b="0">
                <a:solidFill>
                  <a:srgbClr val="333333"/>
                </a:solidFill>
                <a:latin typeface="맑은 고딕"/>
              </a:rPr>
              <a:t>Alarm 셋업 / 24/7 검증</a:t>
            </a:r>
          </a:p>
          <a:p>
            <a:pPr algn="l"/>
            <a:r>
              <a:rPr sz="1100" b="0">
                <a:solidFill>
                  <a:srgbClr val="333333"/>
                </a:solidFill>
                <a:latin typeface="맑은 고딕"/>
              </a:rPr>
              <a:t>운영자 매뉴얼 + 교육</a:t>
            </a:r>
          </a:p>
          <a:p>
            <a:pPr algn="l"/>
            <a:r>
              <a:rPr sz="1100" b="0">
                <a:solidFill>
                  <a:srgbClr val="333333"/>
                </a:solidFill>
                <a:latin typeface="맑은 고딕"/>
              </a:rPr>
              <a:t>KC/EMI 사전 점검</a:t>
            </a:r>
          </a:p>
        </p:txBody>
      </p:sp>
      <p:sp>
        <p:nvSpPr>
          <p:cNvPr id="32" name="Rounded Rectangle 31"/>
          <p:cNvSpPr/>
          <p:nvPr/>
        </p:nvSpPr>
        <p:spPr>
          <a:xfrm>
            <a:off x="548640" y="4434840"/>
            <a:ext cx="3611880" cy="8686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4434840"/>
            <a:ext cx="164592" cy="8686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4526280"/>
            <a:ext cx="3246120" cy="365760"/>
          </a:xfrm>
          <a:prstGeom prst="rect">
            <a:avLst/>
          </a:prstGeom>
          <a:noFill/>
        </p:spPr>
        <p:txBody>
          <a:bodyPr wrap="square" lIns="45720" rIns="45720" tIns="18288" bIns="18288" anchor="t">
            <a:spAutoFit/>
          </a:bodyPr>
          <a:lstStyle/>
          <a:p>
            <a:pPr algn="l"/>
            <a:r>
              <a:rPr sz="1500" b="1">
                <a:solidFill>
                  <a:srgbClr val="102A4C"/>
                </a:solidFill>
                <a:latin typeface="맑은 고딕"/>
              </a:rPr>
              <a:t>안정성</a:t>
            </a:r>
          </a:p>
        </p:txBody>
      </p:sp>
      <p:sp>
        <p:nvSpPr>
          <p:cNvPr id="35" name="TextBox 34"/>
          <p:cNvSpPr txBox="1"/>
          <p:nvPr/>
        </p:nvSpPr>
        <p:spPr>
          <a:xfrm>
            <a:off x="868680" y="4892040"/>
            <a:ext cx="3246120" cy="411480"/>
          </a:xfrm>
          <a:prstGeom prst="rect">
            <a:avLst/>
          </a:prstGeom>
          <a:noFill/>
        </p:spPr>
        <p:txBody>
          <a:bodyPr wrap="square" lIns="45720" rIns="45720" tIns="18288" bIns="18288" anchor="t">
            <a:spAutoFit/>
          </a:bodyPr>
          <a:lstStyle/>
          <a:p>
            <a:pPr algn="l"/>
            <a:r>
              <a:rPr sz="1100" b="0">
                <a:solidFill>
                  <a:srgbClr val="333333"/>
                </a:solidFill>
                <a:latin typeface="맑은 고딕"/>
              </a:rPr>
              <a:t>양산 6종 + 일본 3,800대 검증</a:t>
            </a:r>
          </a:p>
        </p:txBody>
      </p:sp>
      <p:sp>
        <p:nvSpPr>
          <p:cNvPr id="36" name="Rounded Rectangle 35"/>
          <p:cNvSpPr/>
          <p:nvPr/>
        </p:nvSpPr>
        <p:spPr>
          <a:xfrm>
            <a:off x="4343400" y="4434840"/>
            <a:ext cx="3611880" cy="8686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343400" y="4434840"/>
            <a:ext cx="164592" cy="86868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63440" y="4526280"/>
            <a:ext cx="3246120" cy="365760"/>
          </a:xfrm>
          <a:prstGeom prst="rect">
            <a:avLst/>
          </a:prstGeom>
          <a:noFill/>
        </p:spPr>
        <p:txBody>
          <a:bodyPr wrap="square" lIns="45720" rIns="45720" tIns="18288" bIns="18288" anchor="t">
            <a:spAutoFit/>
          </a:bodyPr>
          <a:lstStyle/>
          <a:p>
            <a:pPr algn="l"/>
            <a:r>
              <a:rPr sz="1500" b="1">
                <a:solidFill>
                  <a:srgbClr val="F17A21"/>
                </a:solidFill>
                <a:latin typeface="맑은 고딕"/>
              </a:rPr>
              <a:t>신뢰성</a:t>
            </a:r>
          </a:p>
        </p:txBody>
      </p:sp>
      <p:sp>
        <p:nvSpPr>
          <p:cNvPr id="39" name="TextBox 38"/>
          <p:cNvSpPr txBox="1"/>
          <p:nvPr/>
        </p:nvSpPr>
        <p:spPr>
          <a:xfrm>
            <a:off x="4663440" y="4892040"/>
            <a:ext cx="3246120" cy="411480"/>
          </a:xfrm>
          <a:prstGeom prst="rect">
            <a:avLst/>
          </a:prstGeom>
          <a:noFill/>
        </p:spPr>
        <p:txBody>
          <a:bodyPr wrap="square" lIns="45720" rIns="45720" tIns="18288" bIns="18288" anchor="t">
            <a:spAutoFit/>
          </a:bodyPr>
          <a:lstStyle/>
          <a:p>
            <a:pPr algn="l"/>
            <a:r>
              <a:rPr sz="1100" b="0">
                <a:solidFill>
                  <a:srgbClr val="333333"/>
                </a:solidFill>
                <a:latin typeface="맑은 고딕"/>
              </a:rPr>
              <a:t>KC + TELEC + CE 3개국 인증</a:t>
            </a:r>
          </a:p>
        </p:txBody>
      </p:sp>
      <p:sp>
        <p:nvSpPr>
          <p:cNvPr id="40" name="Rounded Rectangle 39"/>
          <p:cNvSpPr/>
          <p:nvPr/>
        </p:nvSpPr>
        <p:spPr>
          <a:xfrm>
            <a:off x="8138160" y="4434840"/>
            <a:ext cx="3611880" cy="868680"/>
          </a:xfrm>
          <a:prstGeom prst="roundRect">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38160" y="4434840"/>
            <a:ext cx="164592" cy="8686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58200" y="4526280"/>
            <a:ext cx="3246120" cy="365760"/>
          </a:xfrm>
          <a:prstGeom prst="rect">
            <a:avLst/>
          </a:prstGeom>
          <a:noFill/>
        </p:spPr>
        <p:txBody>
          <a:bodyPr wrap="square" lIns="45720" rIns="45720" tIns="18288" bIns="18288" anchor="t">
            <a:spAutoFit/>
          </a:bodyPr>
          <a:lstStyle/>
          <a:p>
            <a:pPr algn="l"/>
            <a:r>
              <a:rPr sz="1500" b="1">
                <a:solidFill>
                  <a:srgbClr val="2E8B57"/>
                </a:solidFill>
                <a:latin typeface="맑은 고딕"/>
              </a:rPr>
              <a:t>비용 투명성</a:t>
            </a:r>
          </a:p>
        </p:txBody>
      </p:sp>
      <p:sp>
        <p:nvSpPr>
          <p:cNvPr id="43" name="TextBox 42"/>
          <p:cNvSpPr txBox="1"/>
          <p:nvPr/>
        </p:nvSpPr>
        <p:spPr>
          <a:xfrm>
            <a:off x="8458200" y="4892040"/>
            <a:ext cx="3246120" cy="411480"/>
          </a:xfrm>
          <a:prstGeom prst="rect">
            <a:avLst/>
          </a:prstGeom>
          <a:noFill/>
        </p:spPr>
        <p:txBody>
          <a:bodyPr wrap="square" lIns="45720" rIns="45720" tIns="18288" bIns="18288" anchor="t">
            <a:spAutoFit/>
          </a:bodyPr>
          <a:lstStyle/>
          <a:p>
            <a:pPr algn="l"/>
            <a:r>
              <a:rPr sz="1100" b="0">
                <a:solidFill>
                  <a:srgbClr val="333333"/>
                </a:solidFill>
                <a:latin typeface="맑은 고딕"/>
              </a:rPr>
              <a:t>인건비 Fix + 자재비 별도 + 3-Plan</a:t>
            </a:r>
          </a:p>
        </p:txBody>
      </p:sp>
      <p:sp>
        <p:nvSpPr>
          <p:cNvPr id="44" name="Rounded Rectangle 43"/>
          <p:cNvSpPr/>
          <p:nvPr/>
        </p:nvSpPr>
        <p:spPr>
          <a:xfrm>
            <a:off x="548640" y="5532120"/>
            <a:ext cx="11064240" cy="914400"/>
          </a:xfrm>
          <a:prstGeom prst="roundRect">
            <a:avLst/>
          </a:prstGeom>
          <a:solidFill>
            <a:srgbClr val="102A4C"/>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 y="5641848"/>
            <a:ext cx="11064240" cy="365760"/>
          </a:xfrm>
          <a:prstGeom prst="rect">
            <a:avLst/>
          </a:prstGeom>
          <a:noFill/>
        </p:spPr>
        <p:txBody>
          <a:bodyPr wrap="square" lIns="45720" rIns="45720" tIns="18288" bIns="18288" anchor="t">
            <a:spAutoFit/>
          </a:bodyPr>
          <a:lstStyle/>
          <a:p>
            <a:pPr algn="ctr"/>
            <a:r>
              <a:rPr sz="1400" b="1">
                <a:solidFill>
                  <a:srgbClr val="FFFFFF"/>
                </a:solidFill>
                <a:latin typeface="맑은 고딕"/>
              </a:rPr>
              <a:t>용인 기흥 → 부천 오정구  1.5시간  ·  출장 협의 우호적</a:t>
            </a:r>
          </a:p>
        </p:txBody>
      </p:sp>
      <p:sp>
        <p:nvSpPr>
          <p:cNvPr id="46" name="TextBox 45"/>
          <p:cNvSpPr txBox="1"/>
          <p:nvPr/>
        </p:nvSpPr>
        <p:spPr>
          <a:xfrm>
            <a:off x="548640" y="6035040"/>
            <a:ext cx="11064240" cy="365760"/>
          </a:xfrm>
          <a:prstGeom prst="rect">
            <a:avLst/>
          </a:prstGeom>
          <a:noFill/>
        </p:spPr>
        <p:txBody>
          <a:bodyPr wrap="square" lIns="45720" rIns="45720" tIns="18288" bIns="18288" anchor="t">
            <a:spAutoFit/>
          </a:bodyPr>
          <a:lstStyle/>
          <a:p>
            <a:pPr algn="ctr"/>
            <a:r>
              <a:rPr sz="1600" b="1">
                <a:solidFill>
                  <a:srgbClr val="F17A21"/>
                </a:solidFill>
                <a:latin typeface="맑은 고딕"/>
              </a:rPr>
              <a:t>미팅 자리에서 더 깊은 협의 기대하겠습니다.  감사합니다.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